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9"/>
  </p:notesMasterIdLst>
  <p:sldIdLst>
    <p:sldId id="256" r:id="rId5"/>
    <p:sldId id="257" r:id="rId8"/>
    <p:sldId id="258" r:id="rId7"/>
    <p:sldId id="259" r:id="rId6"/>
    <p:sldId id="260" r:id="rId14"/>
    <p:sldId id="261" r:id="rId15"/>
    <p:sldId id="262" r:id="rId16"/>
    <p:sldId id="263" r:id="rId17"/>
    <p:sldId id="264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3B94"/>
    <a:srgbClr val="00B3B2"/>
    <a:srgbClr val="E8D490"/>
    <a:srgbClr val="5E6770"/>
    <a:srgbClr val="D60093"/>
    <a:srgbClr val="9E4798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0" autoAdjust="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14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996AB-B351-4157-A103-5D37C46B0366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F6724-1614-4E0F-920D-1DFB1C77D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909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Titular original: ChatGPT sabe hablar de farmacocinética, pero no hacer farmacocinética.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Titular original: Treinta años de estudios: predice parecido al bayesiano, pero apenas ha llegado al día a día.</a:t>
            </a:r>
          </a:p>
          <a:p/>
          <a:p>
            <a:r>
              <a:t>1995 · Red neuronal frente a NONMEM (gentamicina, 111 pacientes).</a:t>
            </a:r>
          </a:p>
          <a:p/>
          <a:p>
            <a:r>
              <a:t>2025 · 58 estudios: el aprendizaje automático rinde igual o mejor que los modelos poblacionales.</a:t>
            </a:r>
          </a:p>
          <a:p/>
          <a:p>
            <a:r>
              <a:t>Sin concentraciones del paciente: el modelo híbrido mejora un 17 % el error del bayesiano · vancomicina en sepsis, 4059 pacientes.</a:t>
            </a:r>
          </a:p>
          <a:p/>
          <a:p>
            <a:r>
              <a:t>Con concentraciones del paciente: gana el bayesiano (13 % de error frente a 34 %); gana el aprendizaje automático (ABC de tacrolimus en 6 series externas).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vuestro servicio:</a:t>
            </a:r>
          </a:p>
          <a:p/>
          <a:p>
            <a:r>
              <a:t>Contexto → historia clínica. Modelo → lee, llama a la herramienta y redacta el borrador. Herramientas → programa bayesiano. Arnés → procedimiento normalizado de trabajo. Farmacéutico → firma del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Titular original: La lección de TDM-AID: cada tarea, a la pieza que mejor la hace.</a:t>
            </a:r>
          </a:p>
          <a:p/>
          <a:p>
            <a:r>
              <a:t>Herramienta: motor de ecuaciones de primer orden.</a:t>
            </a:r>
          </a:p>
          <a:p/>
          <a:p>
            <a:r>
              <a:t>Lectura: los cálculos que falló el modelo son trabajo de la herramienta; la dosis máxima es trabajo del arnés.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Titular original: Leemos la ficha técnica de lo que dispensamos; leamos también la de la IA que usamos.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2">
            <a:extLst>
              <a:ext uri="{FF2B5EF4-FFF2-40B4-BE49-F238E27FC236}">
                <a16:creationId xmlns:a16="http://schemas.microsoft.com/office/drawing/2014/main" id="{516794C2-C094-DF2D-4F05-545C33DDF7F8}"/>
              </a:ext>
            </a:extLst>
          </p:cNvPr>
          <p:cNvSpPr txBox="1"/>
          <p:nvPr/>
        </p:nvSpPr>
        <p:spPr>
          <a:xfrm>
            <a:off x="635000" y="2286000"/>
            <a:ext cx="10922000" cy="355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ES" sz="2000" dirty="0" b="1">
                <a:ln w="0"/>
                <a:solidFill>
                  <a:srgbClr val="AD3B9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CURSO PRECONGRESO · INTELIGENCIA ARTIFICIAL APLICADA A LA FARMACOCINÉTICA CLÍNICA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C13E27A-34E3-F508-B62E-7AF8A7587993}"/>
              </a:ext>
            </a:extLst>
          </p:cNvPr>
          <p:cNvSpPr txBox="1"/>
          <p:nvPr/>
        </p:nvSpPr>
        <p:spPr>
          <a:xfrm>
            <a:off x="1270000" y="2794000"/>
            <a:ext cx="96520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95000"/>
              </a:lnSpc>
            </a:pPr>
            <a:r>
              <a:rPr lang="es-ES" sz="3600" dirty="0" b="1">
                <a:ln w="0"/>
                <a:solidFill>
                  <a:srgbClr val="00B3B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«Qué puede aportar realmente la IA</a:t>
            </a:r>
            <a:br/>
            <a:r>
              <a:rPr lang="es-ES" sz="3600" dirty="0" b="1">
                <a:ln w="0"/>
                <a:solidFill>
                  <a:srgbClr val="00B3B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la TDM y a la farmacocinética clínica»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C28D68A-92C6-7D7A-8CA3-921D13A1D51F}"/>
              </a:ext>
            </a:extLst>
          </p:cNvPr>
          <p:cNvSpPr txBox="1"/>
          <p:nvPr/>
        </p:nvSpPr>
        <p:spPr>
          <a:xfrm>
            <a:off x="1651000" y="4381500"/>
            <a:ext cx="8890000" cy="317500"/>
          </a:xfrm>
          <a:prstGeom prst="rect">
            <a:avLst/>
          </a:prstGeom>
          <a:noFill/>
        </p:spPr>
        <p:txBody>
          <a:bodyPr wrap="square" lIns="0" tIns="10800" rIns="0" bIns="10800" rtlCol="0"/>
          <a:lstStyle/>
          <a:p>
            <a:pPr algn="ctr"/>
            <a:r>
              <a:rPr lang="es-ES" dirty="0" sz="2400" b="1">
                <a:solidFill>
                  <a:srgbClr val="263445"/>
                </a:solidFill>
              </a:rPr>
              <a:t>ALFREDO MONTERO DELGADO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C49BE9B-1536-E450-23AE-8524F580145D}"/>
              </a:ext>
            </a:extLst>
          </p:cNvPr>
          <p:cNvSpPr txBox="1"/>
          <p:nvPr/>
        </p:nvSpPr>
        <p:spPr>
          <a:xfrm>
            <a:off x="1270000" y="4775200"/>
            <a:ext cx="9652000" cy="698500"/>
          </a:xfrm>
          <a:prstGeom prst="rect">
            <a:avLst/>
          </a:prstGeom>
          <a:noFill/>
        </p:spPr>
        <p:txBody>
          <a:bodyPr wrap="square" lIns="0" tIns="10800" rIns="0" bIns="10800" rtlCol="0"/>
          <a:lstStyle/>
          <a:p>
            <a:pPr algn="ctr"/>
            <a:r>
              <a:rPr lang="es-ES" sz="2000" i="1" dirty="0">
                <a:solidFill>
                  <a:srgbClr val="5E6B78"/>
                </a:solidFill>
              </a:rPr>
              <a:t>Farmacéutico especialista en Farmacia Hospitalaria ·</a:t>
            </a:r>
            <a:br/>
            <a:r>
              <a:rPr lang="es-ES" sz="2000" i="1" dirty="0">
                <a:solidFill>
                  <a:srgbClr val="5E6B78"/>
                </a:solidFill>
              </a:rPr>
              <a:t>Hospital Universitario Nuestra Señora de Candelaria · Grupo DIGIFHAR (SEFH)</a:t>
            </a:r>
          </a:p>
        </p:txBody>
      </p:sp>
    </p:spTree>
    <p:extLst>
      <p:ext uri="{BB962C8B-B14F-4D97-AF65-F5344CB8AC3E}">
        <p14:creationId xmlns:p14="http://schemas.microsoft.com/office/powerpoint/2010/main" val="411237627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ChatGPT sabe hablar de farmacocinética, no </a:t>
            </a:r>
            <a:r>
              <a:rPr sz="3600" b="1" i="0" lang="es-ES">
                <a:solidFill>
                  <a:srgbClr val="007A79"/>
                </a:solidFill>
              </a:rPr>
              <a:t>hacerla</a:t>
            </a:r>
            <a:r>
              <a:rPr sz="3600" b="1" i="0" lang="es-ES">
                <a:solidFill>
                  <a:srgbClr val="263445"/>
                </a:solidFill>
              </a:rPr>
              <a:t>.</a:t>
            </a:r>
          </a:p>
        </p:txBody>
      </p:sp>
      <p:cxnSp>
        <p:nvCxnSpPr>
          <p:cNvPr id="3" name="Suelo"/>
          <p:cNvCxnSpPr/>
          <p:nvPr/>
        </p:nvCxnSpPr>
        <p:spPr>
          <a:xfrm>
            <a:off x="571500" y="6172200"/>
            <a:ext cx="6392482" cy="0"/>
          </a:xfrm>
          <a:prstGeom prst="line">
            <a:avLst/>
          </a:prstGeom>
          <a:ln w="19050">
            <a:solidFill>
              <a:srgbClr val="C9D2DB"/>
            </a:solidFill>
          </a:ln>
        </p:spPr>
      </p:cxnSp>
      <p:sp>
        <p:nvSpPr>
          <p:cNvPr id="4" name="Pizarra"/>
          <p:cNvSpPr/>
          <p:nvPr/>
        </p:nvSpPr>
        <p:spPr>
          <a:xfrm>
            <a:off x="3048000" y="1778000"/>
            <a:ext cx="3873500" cy="2019300"/>
          </a:xfrm>
          <a:prstGeom prst="roundRect">
            <a:avLst>
              <a:gd name="adj" fmla="val 5031"/>
            </a:avLst>
          </a:prstGeom>
          <a:solidFill>
            <a:srgbClr val="31454F"/>
          </a:solidFill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pisa"/>
          <p:cNvSpPr/>
          <p:nvPr/>
        </p:nvSpPr>
        <p:spPr>
          <a:xfrm>
            <a:off x="3302000" y="3797300"/>
            <a:ext cx="3365500" cy="76200"/>
          </a:xfrm>
          <a:prstGeom prst="rect">
            <a:avLst/>
          </a:prstGeom>
          <a:solidFill>
            <a:srgbClr val="B9C3CD"/>
          </a:solidFill>
          <a:ln w="190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za"/>
          <p:cNvSpPr/>
          <p:nvPr/>
        </p:nvSpPr>
        <p:spPr>
          <a:xfrm>
            <a:off x="5778500" y="3733800"/>
            <a:ext cx="241300" cy="6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órmulas"/>
          <p:cNvSpPr txBox="1"/>
          <p:nvPr/>
        </p:nvSpPr>
        <p:spPr>
          <a:xfrm>
            <a:off x="3365500" y="1930400"/>
            <a:ext cx="3302000" cy="1765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i="1" lang="es-ES">
                <a:solidFill>
                  <a:srgbClr val="F4F1E6"/>
                </a:solidFill>
              </a:rPr>
              <a:t>CL = k</a:t>
            </a:r>
            <a:r>
              <a:rPr sz="2600" b="0" i="1" lang="es-ES" baseline="-25000">
                <a:solidFill>
                  <a:srgbClr val="F4F1E6"/>
                </a:solidFill>
              </a:rPr>
              <a:t>e</a:t>
            </a:r>
            <a:r>
              <a:rPr sz="2600" b="0" i="1" lang="es-ES">
                <a:solidFill>
                  <a:srgbClr val="F4F1E6"/>
                </a:solidFill>
              </a:rPr>
              <a:t> · V</a:t>
            </a:r>
            <a:r>
              <a:rPr sz="2600" b="0" i="1" lang="es-ES" baseline="-25000">
                <a:solidFill>
                  <a:srgbClr val="F4F1E6"/>
                </a:solidFill>
              </a:rPr>
              <a:t>d</a:t>
            </a:r>
          </a:p>
          <a:p>
            <a:pPr algn="l">
              <a:lnSpc>
                <a:spcPct val="100000"/>
              </a:lnSpc>
            </a:pPr>
            <a:r>
              <a:rPr sz="2600" b="0" i="1" lang="es-ES">
                <a:solidFill>
                  <a:srgbClr val="F4F1E6"/>
                </a:solidFill>
              </a:rPr>
              <a:t>t½ = 0,693 / k</a:t>
            </a:r>
            <a:r>
              <a:rPr sz="2600" b="0" i="1" lang="es-ES" baseline="-25000">
                <a:solidFill>
                  <a:srgbClr val="F4F1E6"/>
                </a:solidFill>
              </a:rPr>
              <a:t>e</a:t>
            </a:r>
          </a:p>
          <a:p>
            <a:pPr algn="l">
              <a:lnSpc>
                <a:spcPct val="100000"/>
              </a:lnSpc>
            </a:pPr>
            <a:r>
              <a:rPr sz="2600" b="0" i="1" lang="es-ES">
                <a:solidFill>
                  <a:srgbClr val="F4F1E6"/>
                </a:solidFill>
              </a:rPr>
              <a:t>V</a:t>
            </a:r>
            <a:r>
              <a:rPr sz="2600" b="0" i="1" lang="es-ES" baseline="-25000">
                <a:solidFill>
                  <a:srgbClr val="F4F1E6"/>
                </a:solidFill>
              </a:rPr>
              <a:t>d</a:t>
            </a:r>
            <a:r>
              <a:rPr sz="2600" b="0" i="1" lang="es-ES">
                <a:solidFill>
                  <a:srgbClr val="F4F1E6"/>
                </a:solidFill>
              </a:rPr>
              <a:t> = Dosis / C</a:t>
            </a:r>
            <a:r>
              <a:rPr sz="2600" b="0" i="1" lang="es-ES" baseline="-25000">
                <a:solidFill>
                  <a:srgbClr val="F4F1E6"/>
                </a:solidFill>
              </a:rPr>
              <a:t>0</a:t>
            </a:r>
          </a:p>
          <a:p>
            <a:pPr algn="l">
              <a:lnSpc>
                <a:spcPct val="100000"/>
              </a:lnSpc>
            </a:pPr>
            <a:r>
              <a:rPr sz="2600" b="0" i="1" lang="es-ES">
                <a:solidFill>
                  <a:srgbClr val="F4F1E6"/>
                </a:solidFill>
              </a:rPr>
              <a:t>k</a:t>
            </a:r>
            <a:r>
              <a:rPr sz="2600" b="0" i="1" lang="es-ES" baseline="-25000">
                <a:solidFill>
                  <a:srgbClr val="F4F1E6"/>
                </a:solidFill>
              </a:rPr>
              <a:t>e</a:t>
            </a:r>
            <a:r>
              <a:rPr sz="2600" b="0" i="1" lang="es-ES">
                <a:solidFill>
                  <a:srgbClr val="F4F1E6"/>
                </a:solidFill>
              </a:rPr>
              <a:t> = ln(C</a:t>
            </a:r>
            <a:r>
              <a:rPr sz="2600" b="0" i="1" lang="es-ES" baseline="-25000">
                <a:solidFill>
                  <a:srgbClr val="F4F1E6"/>
                </a:solidFill>
              </a:rPr>
              <a:t>1</a:t>
            </a:r>
            <a:r>
              <a:rPr sz="2600" b="0" i="1" lang="es-ES">
                <a:solidFill>
                  <a:srgbClr val="F4F1E6"/>
                </a:solidFill>
              </a:rPr>
              <a:t> / C</a:t>
            </a:r>
            <a:r>
              <a:rPr sz="2600" b="0" i="1" lang="es-ES" baseline="-25000">
                <a:solidFill>
                  <a:srgbClr val="F4F1E6"/>
                </a:solidFill>
              </a:rPr>
              <a:t>2</a:t>
            </a:r>
            <a:r>
              <a:rPr sz="2600" b="0" i="1" lang="es-ES">
                <a:solidFill>
                  <a:srgbClr val="F4F1E6"/>
                </a:solidFill>
              </a:rPr>
              <a:t>) / Δt</a:t>
            </a:r>
          </a:p>
        </p:txBody>
      </p:sp>
      <p:pic>
        <p:nvPicPr>
          <p:cNvPr id="8" name="Loro robótico con bata señalando la pizarra" descr="Loro robótico con bata señalando la pizar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33" y="2413000"/>
            <a:ext cx="2299535" cy="3797300"/>
          </a:xfrm>
          <a:prstGeom prst="rect">
            <a:avLst/>
          </a:prstGeom>
        </p:spPr>
      </p:pic>
      <p:sp>
        <p:nvSpPr>
          <p:cNvPr id="9" name="Bocadillo"/>
          <p:cNvSpPr/>
          <p:nvPr/>
        </p:nvSpPr>
        <p:spPr>
          <a:xfrm>
            <a:off x="3048000" y="4064000"/>
            <a:ext cx="3556000" cy="825500"/>
          </a:xfrm>
          <a:prstGeom prst="wedgeRoundRectCallout">
            <a:avLst>
              <a:gd name="adj1" fmla="val -56071"/>
              <a:gd name="adj2" fmla="val -70000"/>
              <a:gd name="adj3" fmla="val 16667"/>
            </a:avLst>
          </a:prstGeom>
          <a:solidFill>
            <a:srgbClr val="FFFFFF"/>
          </a:solidFill>
          <a:ln w="31750">
            <a:solidFill>
              <a:srgbClr val="263445"/>
            </a:solidFill>
          </a:ln>
        </p:spPr>
        <p:txBody>
          <a:bodyPr rtlCol="0" anchor="ctr" wrap="square" lIns="177800" tIns="63500" rIns="177800" bIns="63500">
            <a:noAutofit/>
          </a:bodyPr>
          <a:lstStyle/>
          <a:p>
            <a:pPr algn="l"/>
            <a:r>
              <a:rPr sz="2200" b="0" i="1" lang="es-ES">
                <a:solidFill>
                  <a:srgbClr val="263445"/>
                </a:solidFill>
              </a:rPr>
              <a:t>aclaramiento… volumen de distribución… semivida…</a:t>
            </a:r>
          </a:p>
        </p:txBody>
      </p:sp>
      <p:pic>
        <p:nvPicPr>
          <p:cNvPr id="10" name="Calculadora boca abajo en el suelo" descr="Calculadora boca abajo en el suel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0">
            <a:off x="3390900" y="5473700"/>
            <a:ext cx="520700" cy="698500"/>
          </a:xfrm>
          <a:prstGeom prst="rect">
            <a:avLst/>
          </a:prstGeom>
        </p:spPr>
      </p:pic>
      <p:sp>
        <p:nvSpPr>
          <p:cNvPr id="11" name="Tarjeta dato"/>
          <p:cNvSpPr/>
          <p:nvPr/>
        </p:nvSpPr>
        <p:spPr>
          <a:xfrm>
            <a:off x="7116382" y="1778000"/>
            <a:ext cx="4567873" cy="3810000"/>
          </a:xfrm>
          <a:prstGeom prst="roundRect">
            <a:avLst>
              <a:gd name="adj" fmla="val 2666"/>
            </a:avLst>
          </a:prstGeom>
          <a:solidFill>
            <a:srgbClr val="F8EA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ifra"/>
          <p:cNvSpPr txBox="1"/>
          <p:nvPr/>
        </p:nvSpPr>
        <p:spPr>
          <a:xfrm>
            <a:off x="7421182" y="1930400"/>
            <a:ext cx="3958273" cy="1358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0" b="1" i="0" lang="es-ES">
                <a:solidFill>
                  <a:srgbClr val="AD3B94"/>
                </a:solidFill>
              </a:rPr>
              <a:t>37 %</a:t>
            </a:r>
          </a:p>
        </p:txBody>
      </p:sp>
      <p:sp>
        <p:nvSpPr>
          <p:cNvPr id="13" name="Lectura"/>
          <p:cNvSpPr txBox="1"/>
          <p:nvPr/>
        </p:nvSpPr>
        <p:spPr>
          <a:xfrm>
            <a:off x="7421182" y="3365500"/>
            <a:ext cx="3958273" cy="1358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 lang="es-ES">
                <a:solidFill>
                  <a:srgbClr val="263445"/>
                </a:solidFill>
              </a:rPr>
              <a:t>de las predicciones de valle de vancomicina de ChatGPT quedaron a ±2 mg/L del valor medido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21182" y="4787900"/>
            <a:ext cx="3958272" cy="0"/>
          </a:xfrm>
          <a:prstGeom prst="line">
            <a:avLst/>
          </a:prstGeom>
          <a:ln w="19050">
            <a:solidFill>
              <a:srgbClr val="E9C3DF"/>
            </a:solidFill>
          </a:ln>
        </p:spPr>
      </p:cxnSp>
      <p:sp>
        <p:nvSpPr>
          <p:cNvPr id="15" name="Detalle"/>
          <p:cNvSpPr txBox="1"/>
          <p:nvPr/>
        </p:nvSpPr>
        <p:spPr>
          <a:xfrm>
            <a:off x="7421182" y="4889500"/>
            <a:ext cx="3958273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 lang="es-ES">
                <a:solidFill>
                  <a:srgbClr val="5E6B78"/>
                </a:solidFill>
              </a:rPr>
              <a:t>717 predicciones · 239 ingresos en UCI · Grok: 29 %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7116382" y="5664200"/>
            <a:ext cx="456787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es-ES">
                <a:solidFill>
                  <a:srgbClr val="5E6B78"/>
                </a:solidFill>
              </a:rPr>
              <a:t>Ishaqui et al., Expert Rev Anti Infect Ther,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No todo lo que calcula es inteligencia artificial.</a:t>
            </a:r>
          </a:p>
        </p:txBody>
      </p:sp>
      <p:sp>
        <p:nvSpPr>
          <p:cNvPr id="3" name="Pregunta guía"/>
          <p:cNvSpPr/>
          <p:nvPr/>
        </p:nvSpPr>
        <p:spPr>
          <a:xfrm>
            <a:off x="508000" y="1828800"/>
            <a:ext cx="11176000" cy="4445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400" b="1" i="0" lang="es-ES">
                <a:solidFill>
                  <a:srgbClr val="007A79"/>
                </a:solidFill>
              </a:rPr>
              <a:t>¿Quién decide la forma del modelo: una persona o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2438400"/>
            <a:ext cx="5511927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2F5480"/>
                </a:solidFill>
              </a:rPr>
              <a:t>La decide una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327" y="2438400"/>
            <a:ext cx="5511927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8E2F79"/>
                </a:solidFill>
              </a:rPr>
              <a:t>La aprenden los datos</a:t>
            </a:r>
          </a:p>
        </p:txBody>
      </p:sp>
      <p:cxnSp>
        <p:nvCxnSpPr>
          <p:cNvPr id="6" name="Separador"/>
          <p:cNvCxnSpPr/>
          <p:nvPr/>
        </p:nvCxnSpPr>
        <p:spPr>
          <a:xfrm>
            <a:off x="6096000" y="2489200"/>
            <a:ext cx="0" cy="3638550"/>
          </a:xfrm>
          <a:prstGeom prst="line">
            <a:avLst/>
          </a:prstGeom>
          <a:ln w="19050">
            <a:solidFill>
              <a:srgbClr val="C9D2DB"/>
            </a:solidFill>
            <a:prstDash val="dash"/>
          </a:ln>
        </p:spPr>
      </p:cxnSp>
      <p:sp>
        <p:nvSpPr>
          <p:cNvPr id="7" name="Tarjeta 1"/>
          <p:cNvSpPr/>
          <p:nvPr/>
        </p:nvSpPr>
        <p:spPr>
          <a:xfrm>
            <a:off x="508000" y="2857500"/>
            <a:ext cx="5359527" cy="952500"/>
          </a:xfrm>
          <a:prstGeom prst="roundRect">
            <a:avLst>
              <a:gd name="adj" fmla="val 10666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ndo icono-curva-color"/>
          <p:cNvSpPr/>
          <p:nvPr/>
        </p:nvSpPr>
        <p:spPr>
          <a:xfrm>
            <a:off x="711200" y="295275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cono-curva-color" descr="icono-curva-col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142052"/>
            <a:ext cx="406400" cy="3833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2857500"/>
            <a:ext cx="3987927" cy="952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 lang="es-ES">
                <a:solidFill>
                  <a:srgbClr val="263445"/>
                </a:solidFill>
              </a:rPr>
              <a:t>Modelos poblacionales y estimación bayesiana</a:t>
            </a:r>
          </a:p>
        </p:txBody>
      </p:sp>
      <p:sp>
        <p:nvSpPr>
          <p:cNvPr id="11" name="Tarjeta 2"/>
          <p:cNvSpPr/>
          <p:nvPr/>
        </p:nvSpPr>
        <p:spPr>
          <a:xfrm>
            <a:off x="508000" y="3962400"/>
            <a:ext cx="5359527" cy="952500"/>
          </a:xfrm>
          <a:prstGeom prst="roundRect">
            <a:avLst>
              <a:gd name="adj" fmla="val 10666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ndo icono-calculadora"/>
          <p:cNvSpPr/>
          <p:nvPr/>
        </p:nvSpPr>
        <p:spPr>
          <a:xfrm>
            <a:off x="711200" y="405765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icono-calculadora" descr="icono-calculado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24" y="4235450"/>
            <a:ext cx="302953" cy="406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3962400"/>
            <a:ext cx="3987927" cy="952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 lang="es-ES">
                <a:solidFill>
                  <a:srgbClr val="263445"/>
                </a:solidFill>
              </a:rPr>
              <a:t>Calculadoras y nomogramas</a:t>
            </a:r>
          </a:p>
        </p:txBody>
      </p:sp>
      <p:sp>
        <p:nvSpPr>
          <p:cNvPr id="15" name="Tarjeta 3"/>
          <p:cNvSpPr/>
          <p:nvPr/>
        </p:nvSpPr>
        <p:spPr>
          <a:xfrm>
            <a:off x="508000" y="5067300"/>
            <a:ext cx="5359527" cy="952500"/>
          </a:xfrm>
          <a:prstGeom prst="roundRect">
            <a:avLst>
              <a:gd name="adj" fmla="val 10666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ndo icono-engranaje"/>
          <p:cNvSpPr/>
          <p:nvPr/>
        </p:nvSpPr>
        <p:spPr>
          <a:xfrm>
            <a:off x="711200" y="516255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icono-engranaje" descr="icono-engranaj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5389572"/>
            <a:ext cx="406400" cy="3079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76400" y="5067300"/>
            <a:ext cx="3987927" cy="952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 lang="es-ES">
                <a:solidFill>
                  <a:srgbClr val="263445"/>
                </a:solidFill>
              </a:rPr>
              <a:t>Automatizaciones por reglas</a:t>
            </a:r>
          </a:p>
        </p:txBody>
      </p:sp>
      <p:sp>
        <p:nvSpPr>
          <p:cNvPr id="19" name="Círculo"/>
          <p:cNvSpPr/>
          <p:nvPr/>
        </p:nvSpPr>
        <p:spPr>
          <a:xfrm>
            <a:off x="6172327" y="3111500"/>
            <a:ext cx="2819400" cy="2819400"/>
          </a:xfrm>
          <a:prstGeom prst="ellipse">
            <a:avLst/>
          </a:prstGeom>
          <a:solidFill>
            <a:srgbClr val="C3BF24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írculo"/>
          <p:cNvSpPr/>
          <p:nvPr/>
        </p:nvSpPr>
        <p:spPr>
          <a:xfrm>
            <a:off x="6629527" y="3568700"/>
            <a:ext cx="1905000" cy="1905000"/>
          </a:xfrm>
          <a:prstGeom prst="ellipse">
            <a:avLst/>
          </a:prstGeom>
          <a:solidFill>
            <a:srgbClr val="3A8AA6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írculo"/>
          <p:cNvSpPr/>
          <p:nvPr/>
        </p:nvSpPr>
        <p:spPr>
          <a:xfrm>
            <a:off x="7074027" y="4013200"/>
            <a:ext cx="1016000" cy="1016000"/>
          </a:xfrm>
          <a:prstGeom prst="ellipse">
            <a:avLst/>
          </a:prstGeom>
          <a:solidFill>
            <a:srgbClr val="AD3B94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arca"/>
          <p:cNvSpPr/>
          <p:nvPr/>
        </p:nvSpPr>
        <p:spPr>
          <a:xfrm>
            <a:off x="8286877" y="35750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401177" y="3632200"/>
            <a:ext cx="565150" cy="0"/>
          </a:xfrm>
          <a:prstGeom prst="line">
            <a:avLst/>
          </a:prstGeom>
          <a:ln w="19050">
            <a:solidFill>
              <a:srgbClr val="263445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042527" y="3302000"/>
            <a:ext cx="2641727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77730E"/>
                </a:solidFill>
              </a:rPr>
              <a:t>Aprendizaje automático</a:t>
            </a:r>
          </a:p>
        </p:txBody>
      </p:sp>
      <p:sp>
        <p:nvSpPr>
          <p:cNvPr id="25" name="Marca"/>
          <p:cNvSpPr/>
          <p:nvPr/>
        </p:nvSpPr>
        <p:spPr>
          <a:xfrm>
            <a:off x="8255127" y="44259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369427" y="4483100"/>
            <a:ext cx="596900" cy="0"/>
          </a:xfrm>
          <a:prstGeom prst="line">
            <a:avLst/>
          </a:prstGeom>
          <a:ln w="19050">
            <a:solidFill>
              <a:srgbClr val="263445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9042527" y="4152900"/>
            <a:ext cx="2641727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2B6C85"/>
                </a:solidFill>
              </a:rPr>
              <a:t>Aprendizaje profundo</a:t>
            </a:r>
            <a:br/>
            <a:r>
              <a:rPr sz="2000" b="1" i="0" lang="es-ES">
                <a:solidFill>
                  <a:srgbClr val="2B6C85"/>
                </a:solidFill>
              </a:rPr>
              <a:t>(redes neuronales)</a:t>
            </a:r>
          </a:p>
        </p:txBody>
      </p:sp>
      <p:sp>
        <p:nvSpPr>
          <p:cNvPr id="28" name="Marca"/>
          <p:cNvSpPr/>
          <p:nvPr/>
        </p:nvSpPr>
        <p:spPr>
          <a:xfrm>
            <a:off x="7715377" y="47180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810627" y="4813300"/>
            <a:ext cx="787400" cy="571500"/>
          </a:xfrm>
          <a:prstGeom prst="line">
            <a:avLst/>
          </a:prstGeom>
          <a:ln w="19050">
            <a:solidFill>
              <a:srgbClr val="26344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598027" y="5384800"/>
            <a:ext cx="368300" cy="0"/>
          </a:xfrm>
          <a:prstGeom prst="line">
            <a:avLst/>
          </a:prstGeom>
          <a:ln w="19050">
            <a:solidFill>
              <a:srgbClr val="263445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9042527" y="5054600"/>
            <a:ext cx="2641727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8E2F79"/>
                </a:solidFill>
              </a:rPr>
              <a:t>Modelos de lenguaje</a:t>
            </a:r>
            <a:br/>
            <a:r>
              <a:rPr sz="2000" b="1" i="0" lang="es-ES">
                <a:solidFill>
                  <a:srgbClr val="8E2F79"/>
                </a:solidFill>
              </a:rPr>
              <a:t>(IA generativa)</a:t>
            </a:r>
          </a:p>
        </p:txBody>
      </p:sp>
      <p:sp>
        <p:nvSpPr>
          <p:cNvPr id="32" name="Fuente"/>
          <p:cNvSpPr txBox="1"/>
          <p:nvPr/>
        </p:nvSpPr>
        <p:spPr>
          <a:xfrm>
            <a:off x="508000" y="6337300"/>
            <a:ext cx="11176000" cy="2413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200" b="0" i="0" lang="es-ES">
                <a:solidFill>
                  <a:srgbClr val="5E6B78"/>
                </a:solidFill>
              </a:rPr>
              <a:t>Keutzer et al., Pharmaceutics, 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Predice como el bayesiano, pero no ha llegado a la clínica.</a:t>
            </a:r>
          </a:p>
        </p:txBody>
      </p:sp>
      <p:cxnSp>
        <p:nvCxnSpPr>
          <p:cNvPr id="3" name="Línea de tiempo"/>
          <p:cNvCxnSpPr/>
          <p:nvPr/>
        </p:nvCxnSpPr>
        <p:spPr>
          <a:xfrm>
            <a:off x="508000" y="1930400"/>
            <a:ext cx="11176000" cy="0"/>
          </a:xfrm>
          <a:prstGeom prst="line">
            <a:avLst/>
          </a:prstGeom>
          <a:ln w="31750">
            <a:solidFill>
              <a:srgbClr val="263445"/>
            </a:solidFill>
            <a:tailEnd type="triangle" w="med" len="med"/>
          </a:ln>
        </p:spPr>
      </p:cxnSp>
      <p:sp>
        <p:nvSpPr>
          <p:cNvPr id="4" name="Hito 1995"/>
          <p:cNvSpPr/>
          <p:nvPr/>
        </p:nvSpPr>
        <p:spPr>
          <a:xfrm>
            <a:off x="508000" y="1847850"/>
            <a:ext cx="165100" cy="1651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o 1995"/>
          <p:cNvSpPr txBox="1"/>
          <p:nvPr/>
        </p:nvSpPr>
        <p:spPr>
          <a:xfrm>
            <a:off x="508000" y="2082800"/>
            <a:ext cx="5359527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263445"/>
                </a:solidFill>
              </a:rPr>
              <a:t>1995</a:t>
            </a:r>
            <a:r>
              <a:rPr sz="2200" b="0" i="0" lang="es-ES">
                <a:solidFill>
                  <a:srgbClr val="263445"/>
                </a:solidFill>
              </a:rPr>
              <a:t> · Red neuronal frente a NONMEM</a:t>
            </a:r>
          </a:p>
        </p:txBody>
      </p:sp>
      <p:sp>
        <p:nvSpPr>
          <p:cNvPr id="6" name="Hito 2025"/>
          <p:cNvSpPr/>
          <p:nvPr/>
        </p:nvSpPr>
        <p:spPr>
          <a:xfrm>
            <a:off x="6172327" y="1847850"/>
            <a:ext cx="165100" cy="1651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 2025"/>
          <p:cNvSpPr txBox="1"/>
          <p:nvPr/>
        </p:nvSpPr>
        <p:spPr>
          <a:xfrm>
            <a:off x="6172327" y="2082800"/>
            <a:ext cx="5359527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263445"/>
                </a:solidFill>
              </a:rPr>
              <a:t>2025</a:t>
            </a:r>
            <a:r>
              <a:rPr sz="2200" b="0" i="0" lang="es-ES">
                <a:solidFill>
                  <a:srgbClr val="263445"/>
                </a:solidFill>
              </a:rPr>
              <a:t> · 58 estudios: rinde igual o mejor que los modelos poblacionales</a:t>
            </a:r>
          </a:p>
        </p:txBody>
      </p:sp>
      <p:sp>
        <p:nvSpPr>
          <p:cNvPr id="8" name="Tarjeta Sin concentraciones del paciente"/>
          <p:cNvSpPr/>
          <p:nvPr/>
        </p:nvSpPr>
        <p:spPr>
          <a:xfrm>
            <a:off x="508000" y="2794000"/>
            <a:ext cx="5511927" cy="2667000"/>
          </a:xfrm>
          <a:prstGeom prst="roundRect">
            <a:avLst>
              <a:gd name="adj" fmla="val 3809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Gotero vacío" descr="Gotero vací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62" y="2997200"/>
            <a:ext cx="170756" cy="40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7600" y="2997200"/>
            <a:ext cx="4699127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 lang="es-ES">
                <a:solidFill>
                  <a:srgbClr val="263445"/>
                </a:solidFill>
              </a:rPr>
              <a:t>Sin concentraciones del paciente</a:t>
            </a:r>
          </a:p>
        </p:txBody>
      </p:sp>
      <p:sp>
        <p:nvSpPr>
          <p:cNvPr id="11" name="Tarjeta Con concentraciones del paciente"/>
          <p:cNvSpPr/>
          <p:nvPr/>
        </p:nvSpPr>
        <p:spPr>
          <a:xfrm>
            <a:off x="6172327" y="2794000"/>
            <a:ext cx="5511927" cy="2667000"/>
          </a:xfrm>
          <a:prstGeom prst="roundRect">
            <a:avLst>
              <a:gd name="adj" fmla="val 3809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Tubo de análisis" descr="Tubo de anális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120" y="2997200"/>
            <a:ext cx="179294" cy="40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81927" y="2997200"/>
            <a:ext cx="4699127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 lang="es-ES">
                <a:solidFill>
                  <a:srgbClr val="263445"/>
                </a:solidFill>
              </a:rPr>
              <a:t>Con concentraciones del paciente</a:t>
            </a:r>
          </a:p>
        </p:txBody>
      </p:sp>
      <p:sp>
        <p:nvSpPr>
          <p:cNvPr id="14" name="Cifra híbrido"/>
          <p:cNvSpPr txBox="1"/>
          <p:nvPr/>
        </p:nvSpPr>
        <p:spPr>
          <a:xfrm>
            <a:off x="711200" y="3492500"/>
            <a:ext cx="5105527" cy="1206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600" b="1" i="0" lang="es-ES">
                <a:solidFill>
                  <a:srgbClr val="AD3B94"/>
                </a:solidFill>
              </a:rPr>
              <a:t>17 %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4699000"/>
            <a:ext cx="5105527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 lang="es-ES">
                <a:solidFill>
                  <a:srgbClr val="263445"/>
                </a:solidFill>
              </a:rPr>
              <a:t>menos error que el bayesiano</a:t>
            </a:r>
            <a:br/>
            <a:r>
              <a:rPr sz="2200" b="0" i="0" lang="es-ES">
                <a:solidFill>
                  <a:srgbClr val="263445"/>
                </a:solidFill>
              </a:rPr>
              <a:t>con el modelo híbrido</a:t>
            </a:r>
          </a:p>
        </p:txBody>
      </p:sp>
      <p:sp>
        <p:nvSpPr>
          <p:cNvPr id="16" name="Marca color"/>
          <p:cNvSpPr/>
          <p:nvPr/>
        </p:nvSpPr>
        <p:spPr>
          <a:xfrm>
            <a:off x="6375527" y="3632200"/>
            <a:ext cx="152400" cy="152400"/>
          </a:xfrm>
          <a:prstGeom prst="ellipse">
            <a:avLst/>
          </a:prstGeom>
          <a:solidFill>
            <a:srgbClr val="5BB4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4927" y="3556000"/>
            <a:ext cx="4826127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2B7D3D"/>
                </a:solidFill>
              </a:rPr>
              <a:t>Gana el bayesiano</a:t>
            </a:r>
          </a:p>
          <a:p>
            <a:pPr algn="l"/>
            <a:r>
              <a:rPr sz="2400" b="0" i="0" lang="es-ES">
                <a:solidFill>
                  <a:srgbClr val="263445"/>
                </a:solidFill>
              </a:rPr>
              <a:t>13 % de error frente a 34 %</a:t>
            </a:r>
          </a:p>
        </p:txBody>
      </p:sp>
      <p:sp>
        <p:nvSpPr>
          <p:cNvPr id="18" name="Marca color"/>
          <p:cNvSpPr/>
          <p:nvPr/>
        </p:nvSpPr>
        <p:spPr>
          <a:xfrm>
            <a:off x="6375527" y="4521200"/>
            <a:ext cx="152400" cy="152400"/>
          </a:xfrm>
          <a:prstGeom prst="ellipse">
            <a:avLst/>
          </a:prstGeom>
          <a:solidFill>
            <a:srgbClr val="AD3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4927" y="4445000"/>
            <a:ext cx="4826127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8E2F79"/>
                </a:solidFill>
              </a:rPr>
              <a:t>Gana el aprendizaje automático</a:t>
            </a:r>
          </a:p>
          <a:p>
            <a:pPr algn="l"/>
            <a:r>
              <a:rPr sz="2400" b="0" i="0" lang="es-ES">
                <a:solidFill>
                  <a:srgbClr val="263445"/>
                </a:solidFill>
              </a:rPr>
              <a:t>en el ABC de tacrolimus</a:t>
            </a:r>
          </a:p>
        </p:txBody>
      </p:sp>
      <p:sp>
        <p:nvSpPr>
          <p:cNvPr id="20" name="Advertencia"/>
          <p:cNvSpPr/>
          <p:nvPr/>
        </p:nvSpPr>
        <p:spPr>
          <a:xfrm>
            <a:off x="508000" y="5575300"/>
            <a:ext cx="11176000" cy="444500"/>
          </a:xfrm>
          <a:prstGeom prst="roundRect">
            <a:avLst>
              <a:gd name="adj" fmla="val 22857"/>
            </a:avLst>
          </a:prstGeom>
          <a:solidFill>
            <a:srgbClr val="263445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200" b="1" i="0" lang="es-ES">
                <a:solidFill>
                  <a:srgbClr val="FFFFFF"/>
                </a:solidFill>
              </a:rPr>
              <a:t>Casi todo retrospectivo · La IA y los híbridos siguen en investigación</a:t>
            </a:r>
          </a:p>
        </p:txBody>
      </p:sp>
      <p:sp>
        <p:nvSpPr>
          <p:cNvPr id="21" name="Fuente"/>
          <p:cNvSpPr txBox="1"/>
          <p:nvPr/>
        </p:nvSpPr>
        <p:spPr>
          <a:xfrm>
            <a:off x="508000" y="6223000"/>
            <a:ext cx="11176000" cy="355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200" b="0" i="0" lang="es-ES">
                <a:solidFill>
                  <a:srgbClr val="5E6B78"/>
                </a:solidFill>
              </a:rPr>
              <a:t>Brier et al., Pharm Res, 1995 · Methaneethorn et al., Clin Pharmacokinet, 2025 · Chen et al., Microbiol Spectr, 2025 · Woillard et al., Clin Pharmacol Ther, 2021 · Altynova et al., Pharmaceuticals,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Predecir bien no es lo mismo que mejorar al paciente.</a:t>
            </a:r>
          </a:p>
        </p:txBody>
      </p:sp>
      <p:sp>
        <p:nvSpPr>
          <p:cNvPr id="3" name="Peldaño 1"/>
          <p:cNvSpPr/>
          <p:nvPr/>
        </p:nvSpPr>
        <p:spPr>
          <a:xfrm>
            <a:off x="508000" y="5365750"/>
            <a:ext cx="7400036" cy="762000"/>
          </a:xfrm>
          <a:prstGeom prst="rect">
            <a:avLst/>
          </a:prstGeom>
          <a:solidFill>
            <a:srgbClr val="EEF2F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ótulo peldaño 1"/>
          <p:cNvSpPr txBox="1"/>
          <p:nvPr/>
        </p:nvSpPr>
        <p:spPr>
          <a:xfrm>
            <a:off x="647700" y="5403850"/>
            <a:ext cx="7120636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263445"/>
                </a:solidFill>
              </a:rPr>
              <a:t>Estudio retrospectivo</a:t>
            </a:r>
          </a:p>
        </p:txBody>
      </p:sp>
      <p:sp>
        <p:nvSpPr>
          <p:cNvPr id="5" name="Peldaño 2"/>
          <p:cNvSpPr/>
          <p:nvPr/>
        </p:nvSpPr>
        <p:spPr>
          <a:xfrm>
            <a:off x="1460500" y="4603750"/>
            <a:ext cx="6447536" cy="762000"/>
          </a:xfrm>
          <a:prstGeom prst="rect">
            <a:avLst/>
          </a:prstGeom>
          <a:solidFill>
            <a:srgbClr val="E4EAF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ótulo peldaño 2"/>
          <p:cNvSpPr txBox="1"/>
          <p:nvPr/>
        </p:nvSpPr>
        <p:spPr>
          <a:xfrm>
            <a:off x="1600200" y="4641850"/>
            <a:ext cx="6168136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263445"/>
                </a:solidFill>
              </a:rPr>
              <a:t>Validación externa</a:t>
            </a:r>
            <a:r>
              <a:rPr sz="2000" b="0" i="0" lang="es-ES">
                <a:solidFill>
                  <a:srgbClr val="263445"/>
                </a:solidFill>
              </a:rPr>
              <a:t>: 10 de 115 estudios de tacrolimus</a:t>
            </a:r>
          </a:p>
        </p:txBody>
      </p:sp>
      <p:sp>
        <p:nvSpPr>
          <p:cNvPr id="7" name="Peldaño 3"/>
          <p:cNvSpPr/>
          <p:nvPr/>
        </p:nvSpPr>
        <p:spPr>
          <a:xfrm>
            <a:off x="2413000" y="3841750"/>
            <a:ext cx="5495036" cy="762000"/>
          </a:xfrm>
          <a:prstGeom prst="rect">
            <a:avLst/>
          </a:prstGeom>
          <a:solidFill>
            <a:srgbClr val="DAE2E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ótulo peldaño 3"/>
          <p:cNvSpPr txBox="1"/>
          <p:nvPr/>
        </p:nvSpPr>
        <p:spPr>
          <a:xfrm>
            <a:off x="2552700" y="3879850"/>
            <a:ext cx="5215636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263445"/>
                </a:solidFill>
              </a:rPr>
              <a:t>Estudio prospectivo</a:t>
            </a:r>
            <a:r>
              <a:rPr sz="2000" b="0" i="0" lang="es-ES">
                <a:solidFill>
                  <a:srgbClr val="263445"/>
                </a:solidFill>
              </a:rPr>
              <a:t>: pocos, pequeños, sin comparador (CURATE.AI: 10 pacientes)</a:t>
            </a:r>
          </a:p>
        </p:txBody>
      </p:sp>
      <p:sp>
        <p:nvSpPr>
          <p:cNvPr id="9" name="Peldaño 4"/>
          <p:cNvSpPr/>
          <p:nvPr/>
        </p:nvSpPr>
        <p:spPr>
          <a:xfrm>
            <a:off x="3365500" y="3079750"/>
            <a:ext cx="4542536" cy="762000"/>
          </a:xfrm>
          <a:prstGeom prst="rect">
            <a:avLst/>
          </a:prstGeom>
          <a:solidFill>
            <a:srgbClr val="D0DAE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ótulo peldaño 4"/>
          <p:cNvSpPr txBox="1"/>
          <p:nvPr/>
        </p:nvSpPr>
        <p:spPr>
          <a:xfrm>
            <a:off x="3505200" y="3117850"/>
            <a:ext cx="4263136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263445"/>
                </a:solidFill>
              </a:rPr>
              <a:t>Ensayo con desenlace de proceso</a:t>
            </a:r>
          </a:p>
        </p:txBody>
      </p:sp>
      <p:sp>
        <p:nvSpPr>
          <p:cNvPr id="11" name="Peldaño 5"/>
          <p:cNvSpPr/>
          <p:nvPr/>
        </p:nvSpPr>
        <p:spPr>
          <a:xfrm>
            <a:off x="4318000" y="2317750"/>
            <a:ext cx="3590036" cy="762000"/>
          </a:xfrm>
          <a:prstGeom prst="rect">
            <a:avLst/>
          </a:prstGeom>
          <a:solidFill>
            <a:srgbClr val="C6D2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ótulo peldaño 5"/>
          <p:cNvSpPr txBox="1"/>
          <p:nvPr/>
        </p:nvSpPr>
        <p:spPr>
          <a:xfrm>
            <a:off x="4457700" y="2355850"/>
            <a:ext cx="3310636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 lang="es-ES">
                <a:solidFill>
                  <a:srgbClr val="263445"/>
                </a:solidFill>
              </a:rPr>
              <a:t>Ensayo con desenlace clínico</a:t>
            </a:r>
          </a:p>
        </p:txBody>
      </p:sp>
      <p:sp>
        <p:nvSpPr>
          <p:cNvPr id="13" name="Perfil escalera"/>
          <p:cNvSpPr/>
          <p:nvPr/>
        </p:nvSpPr>
        <p:spPr>
          <a:xfrm>
            <a:off x="508000" y="2317750"/>
            <a:ext cx="7400036" cy="3810000"/>
          </a:xfrm>
          <a:custGeom>
            <a:avLst/>
            <a:gdLst/>
            <a:ahLst/>
            <a:cxnLst/>
            <a:rect l="l" t="t" r="r" b="b"/>
            <a:pathLst>
              <a:path w="7400036" h="3810000">
                <a:moveTo>
                  <a:pt x="0" y="3810000"/>
                </a:moveTo>
                <a:lnTo>
                  <a:pt x="0" y="3048000"/>
                </a:lnTo>
                <a:lnTo>
                  <a:pt x="952500" y="3048000"/>
                </a:lnTo>
                <a:lnTo>
                  <a:pt x="952500" y="2286000"/>
                </a:lnTo>
                <a:lnTo>
                  <a:pt x="1905000" y="2286000"/>
                </a:lnTo>
                <a:lnTo>
                  <a:pt x="1905000" y="1524000"/>
                </a:lnTo>
                <a:lnTo>
                  <a:pt x="2857500" y="1524000"/>
                </a:lnTo>
                <a:lnTo>
                  <a:pt x="2857500" y="762000"/>
                </a:lnTo>
                <a:lnTo>
                  <a:pt x="3810000" y="762000"/>
                </a:lnTo>
                <a:lnTo>
                  <a:pt x="3810000" y="0"/>
                </a:lnTo>
                <a:lnTo>
                  <a:pt x="7400036" y="0"/>
                </a:lnTo>
              </a:path>
            </a:pathLst>
          </a:custGeom>
          <a:noFill/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Mancha"/>
          <p:cNvSpPr/>
          <p:nvPr/>
        </p:nvSpPr>
        <p:spPr>
          <a:xfrm>
            <a:off x="539750" y="4737735"/>
            <a:ext cx="889000" cy="615315"/>
          </a:xfrm>
          <a:prstGeom prst="ellipse">
            <a:avLst/>
          </a:prstGeom>
          <a:solidFill>
            <a:srgbClr val="F8EAF4"/>
          </a:solidFill>
          <a:ln w="19050">
            <a:solidFill>
              <a:srgbClr val="E9C3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studio"/>
          <p:cNvSpPr/>
          <p:nvPr/>
        </p:nvSpPr>
        <p:spPr>
          <a:xfrm>
            <a:off x="909493" y="4897850"/>
            <a:ext cx="84198" cy="8419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studio"/>
          <p:cNvSpPr/>
          <p:nvPr/>
        </p:nvSpPr>
        <p:spPr>
          <a:xfrm>
            <a:off x="944823" y="5114599"/>
            <a:ext cx="89609" cy="8960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studio"/>
          <p:cNvSpPr/>
          <p:nvPr/>
        </p:nvSpPr>
        <p:spPr>
          <a:xfrm>
            <a:off x="718616" y="5011822"/>
            <a:ext cx="98748" cy="9874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studio"/>
          <p:cNvSpPr/>
          <p:nvPr/>
        </p:nvSpPr>
        <p:spPr>
          <a:xfrm>
            <a:off x="667407" y="5245686"/>
            <a:ext cx="76986" cy="7698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studio"/>
          <p:cNvSpPr/>
          <p:nvPr/>
        </p:nvSpPr>
        <p:spPr>
          <a:xfrm>
            <a:off x="670851" y="5173062"/>
            <a:ext cx="65362" cy="6536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studio"/>
          <p:cNvSpPr/>
          <p:nvPr/>
        </p:nvSpPr>
        <p:spPr>
          <a:xfrm>
            <a:off x="1261747" y="5003709"/>
            <a:ext cx="106383" cy="10638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studio"/>
          <p:cNvSpPr/>
          <p:nvPr/>
        </p:nvSpPr>
        <p:spPr>
          <a:xfrm>
            <a:off x="1057727" y="5195109"/>
            <a:ext cx="64167" cy="6416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studio"/>
          <p:cNvSpPr/>
          <p:nvPr/>
        </p:nvSpPr>
        <p:spPr>
          <a:xfrm>
            <a:off x="970640" y="5202531"/>
            <a:ext cx="66147" cy="6614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studio"/>
          <p:cNvSpPr/>
          <p:nvPr/>
        </p:nvSpPr>
        <p:spPr>
          <a:xfrm>
            <a:off x="729734" y="5258045"/>
            <a:ext cx="84122" cy="8412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studio"/>
          <p:cNvSpPr/>
          <p:nvPr/>
        </p:nvSpPr>
        <p:spPr>
          <a:xfrm>
            <a:off x="892993" y="5209456"/>
            <a:ext cx="100946" cy="10094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studio"/>
          <p:cNvSpPr/>
          <p:nvPr/>
        </p:nvSpPr>
        <p:spPr>
          <a:xfrm>
            <a:off x="950892" y="5127430"/>
            <a:ext cx="92946" cy="9294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Estudio"/>
          <p:cNvSpPr/>
          <p:nvPr/>
        </p:nvSpPr>
        <p:spPr>
          <a:xfrm>
            <a:off x="917055" y="5108592"/>
            <a:ext cx="75864" cy="7586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studio"/>
          <p:cNvSpPr/>
          <p:nvPr/>
        </p:nvSpPr>
        <p:spPr>
          <a:xfrm>
            <a:off x="1278062" y="4926534"/>
            <a:ext cx="94962" cy="9496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studio"/>
          <p:cNvSpPr/>
          <p:nvPr/>
        </p:nvSpPr>
        <p:spPr>
          <a:xfrm>
            <a:off x="820713" y="5256508"/>
            <a:ext cx="73709" cy="7370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studio"/>
          <p:cNvSpPr/>
          <p:nvPr/>
        </p:nvSpPr>
        <p:spPr>
          <a:xfrm>
            <a:off x="798925" y="4997261"/>
            <a:ext cx="81298" cy="8129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studio"/>
          <p:cNvSpPr/>
          <p:nvPr/>
        </p:nvSpPr>
        <p:spPr>
          <a:xfrm>
            <a:off x="1181597" y="5137067"/>
            <a:ext cx="80681" cy="8068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Estudio"/>
          <p:cNvSpPr/>
          <p:nvPr/>
        </p:nvSpPr>
        <p:spPr>
          <a:xfrm>
            <a:off x="1261964" y="5262590"/>
            <a:ext cx="72822" cy="7282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studio"/>
          <p:cNvSpPr/>
          <p:nvPr/>
        </p:nvSpPr>
        <p:spPr>
          <a:xfrm>
            <a:off x="1223419" y="5255419"/>
            <a:ext cx="84391" cy="8439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studio"/>
          <p:cNvSpPr/>
          <p:nvPr/>
        </p:nvSpPr>
        <p:spPr>
          <a:xfrm>
            <a:off x="1267941" y="5203131"/>
            <a:ext cx="91479" cy="9147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studio"/>
          <p:cNvSpPr/>
          <p:nvPr/>
        </p:nvSpPr>
        <p:spPr>
          <a:xfrm>
            <a:off x="1137507" y="5224386"/>
            <a:ext cx="75492" cy="7549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studio"/>
          <p:cNvSpPr/>
          <p:nvPr/>
        </p:nvSpPr>
        <p:spPr>
          <a:xfrm>
            <a:off x="652516" y="5034345"/>
            <a:ext cx="97195" cy="97195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studio"/>
          <p:cNvSpPr/>
          <p:nvPr/>
        </p:nvSpPr>
        <p:spPr>
          <a:xfrm>
            <a:off x="685043" y="4881017"/>
            <a:ext cx="74452" cy="7445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Estudio"/>
          <p:cNvSpPr/>
          <p:nvPr/>
        </p:nvSpPr>
        <p:spPr>
          <a:xfrm>
            <a:off x="674949" y="4981791"/>
            <a:ext cx="71398" cy="7139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studio"/>
          <p:cNvSpPr/>
          <p:nvPr/>
        </p:nvSpPr>
        <p:spPr>
          <a:xfrm>
            <a:off x="983221" y="5148032"/>
            <a:ext cx="83388" cy="8338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studio"/>
          <p:cNvSpPr/>
          <p:nvPr/>
        </p:nvSpPr>
        <p:spPr>
          <a:xfrm>
            <a:off x="726065" y="5245881"/>
            <a:ext cx="92113" cy="9211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Estudio"/>
          <p:cNvSpPr/>
          <p:nvPr/>
        </p:nvSpPr>
        <p:spPr>
          <a:xfrm>
            <a:off x="680150" y="5170892"/>
            <a:ext cx="82203" cy="8220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Estudio"/>
          <p:cNvSpPr/>
          <p:nvPr/>
        </p:nvSpPr>
        <p:spPr>
          <a:xfrm>
            <a:off x="737727" y="5196066"/>
            <a:ext cx="99212" cy="9921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Estudio"/>
          <p:cNvSpPr/>
          <p:nvPr/>
        </p:nvSpPr>
        <p:spPr>
          <a:xfrm>
            <a:off x="798517" y="4798286"/>
            <a:ext cx="102832" cy="10283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Estudio"/>
          <p:cNvSpPr/>
          <p:nvPr/>
        </p:nvSpPr>
        <p:spPr>
          <a:xfrm>
            <a:off x="739840" y="4991243"/>
            <a:ext cx="92030" cy="92030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studio"/>
          <p:cNvSpPr/>
          <p:nvPr/>
        </p:nvSpPr>
        <p:spPr>
          <a:xfrm>
            <a:off x="656421" y="5041023"/>
            <a:ext cx="107474" cy="10747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studio"/>
          <p:cNvSpPr/>
          <p:nvPr/>
        </p:nvSpPr>
        <p:spPr>
          <a:xfrm>
            <a:off x="748531" y="5247847"/>
            <a:ext cx="78122" cy="7812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Estudio"/>
          <p:cNvSpPr/>
          <p:nvPr/>
        </p:nvSpPr>
        <p:spPr>
          <a:xfrm>
            <a:off x="811188" y="4974151"/>
            <a:ext cx="66763" cy="6676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studio"/>
          <p:cNvSpPr/>
          <p:nvPr/>
        </p:nvSpPr>
        <p:spPr>
          <a:xfrm>
            <a:off x="658039" y="5146100"/>
            <a:ext cx="90227" cy="9022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studio"/>
          <p:cNvSpPr/>
          <p:nvPr/>
        </p:nvSpPr>
        <p:spPr>
          <a:xfrm>
            <a:off x="854442" y="5196876"/>
            <a:ext cx="83645" cy="83645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studio"/>
          <p:cNvSpPr/>
          <p:nvPr/>
        </p:nvSpPr>
        <p:spPr>
          <a:xfrm>
            <a:off x="1248116" y="5028257"/>
            <a:ext cx="102017" cy="10201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studio"/>
          <p:cNvSpPr/>
          <p:nvPr/>
        </p:nvSpPr>
        <p:spPr>
          <a:xfrm>
            <a:off x="731558" y="5244192"/>
            <a:ext cx="70351" cy="7035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Estudio"/>
          <p:cNvSpPr/>
          <p:nvPr/>
        </p:nvSpPr>
        <p:spPr>
          <a:xfrm>
            <a:off x="1228379" y="5212602"/>
            <a:ext cx="71937" cy="7193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studio"/>
          <p:cNvSpPr/>
          <p:nvPr/>
        </p:nvSpPr>
        <p:spPr>
          <a:xfrm>
            <a:off x="1095797" y="5131311"/>
            <a:ext cx="105301" cy="10530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studio"/>
          <p:cNvSpPr/>
          <p:nvPr/>
        </p:nvSpPr>
        <p:spPr>
          <a:xfrm>
            <a:off x="731008" y="4919759"/>
            <a:ext cx="90327" cy="9032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studio"/>
          <p:cNvSpPr/>
          <p:nvPr/>
        </p:nvSpPr>
        <p:spPr>
          <a:xfrm>
            <a:off x="896328" y="5158906"/>
            <a:ext cx="68116" cy="6811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studio"/>
          <p:cNvSpPr/>
          <p:nvPr/>
        </p:nvSpPr>
        <p:spPr>
          <a:xfrm>
            <a:off x="620479" y="5131768"/>
            <a:ext cx="94819" cy="9481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studio"/>
          <p:cNvSpPr/>
          <p:nvPr/>
        </p:nvSpPr>
        <p:spPr>
          <a:xfrm>
            <a:off x="767531" y="5222794"/>
            <a:ext cx="100114" cy="10011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studio"/>
          <p:cNvSpPr/>
          <p:nvPr/>
        </p:nvSpPr>
        <p:spPr>
          <a:xfrm>
            <a:off x="1002647" y="5225787"/>
            <a:ext cx="95520" cy="95520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studio"/>
          <p:cNvSpPr/>
          <p:nvPr/>
        </p:nvSpPr>
        <p:spPr>
          <a:xfrm>
            <a:off x="651691" y="5162873"/>
            <a:ext cx="73652" cy="7365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studio"/>
          <p:cNvSpPr/>
          <p:nvPr/>
        </p:nvSpPr>
        <p:spPr>
          <a:xfrm>
            <a:off x="986986" y="5122294"/>
            <a:ext cx="75956" cy="7595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studio"/>
          <p:cNvSpPr/>
          <p:nvPr/>
        </p:nvSpPr>
        <p:spPr>
          <a:xfrm>
            <a:off x="1234192" y="5076621"/>
            <a:ext cx="72567" cy="7256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studio"/>
          <p:cNvSpPr/>
          <p:nvPr/>
        </p:nvSpPr>
        <p:spPr>
          <a:xfrm>
            <a:off x="619623" y="5246749"/>
            <a:ext cx="66187" cy="6618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studio"/>
          <p:cNvSpPr/>
          <p:nvPr/>
        </p:nvSpPr>
        <p:spPr>
          <a:xfrm>
            <a:off x="722279" y="5077405"/>
            <a:ext cx="79893" cy="7989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Estudio"/>
          <p:cNvSpPr/>
          <p:nvPr/>
        </p:nvSpPr>
        <p:spPr>
          <a:xfrm>
            <a:off x="982193" y="5140581"/>
            <a:ext cx="103102" cy="10310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studio"/>
          <p:cNvSpPr/>
          <p:nvPr/>
        </p:nvSpPr>
        <p:spPr>
          <a:xfrm>
            <a:off x="1267422" y="5136280"/>
            <a:ext cx="92701" cy="9270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studio"/>
          <p:cNvSpPr/>
          <p:nvPr/>
        </p:nvSpPr>
        <p:spPr>
          <a:xfrm>
            <a:off x="1082860" y="5188392"/>
            <a:ext cx="65059" cy="6505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studio"/>
          <p:cNvSpPr/>
          <p:nvPr/>
        </p:nvSpPr>
        <p:spPr>
          <a:xfrm>
            <a:off x="601642" y="5202559"/>
            <a:ext cx="103959" cy="10395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studio"/>
          <p:cNvSpPr/>
          <p:nvPr/>
        </p:nvSpPr>
        <p:spPr>
          <a:xfrm>
            <a:off x="1076186" y="5221786"/>
            <a:ext cx="91778" cy="9177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studio"/>
          <p:cNvSpPr/>
          <p:nvPr/>
        </p:nvSpPr>
        <p:spPr>
          <a:xfrm>
            <a:off x="924082" y="5246026"/>
            <a:ext cx="95971" cy="9597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studio"/>
          <p:cNvSpPr/>
          <p:nvPr/>
        </p:nvSpPr>
        <p:spPr>
          <a:xfrm>
            <a:off x="816168" y="5190540"/>
            <a:ext cx="87774" cy="8777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studio"/>
          <p:cNvSpPr/>
          <p:nvPr/>
        </p:nvSpPr>
        <p:spPr>
          <a:xfrm>
            <a:off x="1095032" y="5250219"/>
            <a:ext cx="103514" cy="10351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studio"/>
          <p:cNvSpPr/>
          <p:nvPr/>
        </p:nvSpPr>
        <p:spPr>
          <a:xfrm>
            <a:off x="1094759" y="5162831"/>
            <a:ext cx="104172" cy="10417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studio"/>
          <p:cNvSpPr/>
          <p:nvPr/>
        </p:nvSpPr>
        <p:spPr>
          <a:xfrm>
            <a:off x="835660" y="4963647"/>
            <a:ext cx="93955" cy="93955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studio"/>
          <p:cNvSpPr/>
          <p:nvPr/>
        </p:nvSpPr>
        <p:spPr>
          <a:xfrm>
            <a:off x="1209824" y="5130084"/>
            <a:ext cx="98639" cy="9863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studio"/>
          <p:cNvSpPr/>
          <p:nvPr/>
        </p:nvSpPr>
        <p:spPr>
          <a:xfrm>
            <a:off x="1189039" y="5128752"/>
            <a:ext cx="88961" cy="8896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studio"/>
          <p:cNvSpPr/>
          <p:nvPr/>
        </p:nvSpPr>
        <p:spPr>
          <a:xfrm>
            <a:off x="1024666" y="5089480"/>
            <a:ext cx="90564" cy="9056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studio"/>
          <p:cNvSpPr/>
          <p:nvPr/>
        </p:nvSpPr>
        <p:spPr>
          <a:xfrm>
            <a:off x="650392" y="5103566"/>
            <a:ext cx="91922" cy="91922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studio"/>
          <p:cNvSpPr/>
          <p:nvPr/>
        </p:nvSpPr>
        <p:spPr>
          <a:xfrm>
            <a:off x="1282187" y="5060378"/>
            <a:ext cx="80766" cy="8076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studio"/>
          <p:cNvSpPr/>
          <p:nvPr/>
        </p:nvSpPr>
        <p:spPr>
          <a:xfrm>
            <a:off x="1100777" y="5067881"/>
            <a:ext cx="89323" cy="8932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studio"/>
          <p:cNvSpPr/>
          <p:nvPr/>
        </p:nvSpPr>
        <p:spPr>
          <a:xfrm>
            <a:off x="895037" y="5216018"/>
            <a:ext cx="96847" cy="9684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Estudio"/>
          <p:cNvSpPr/>
          <p:nvPr/>
        </p:nvSpPr>
        <p:spPr>
          <a:xfrm>
            <a:off x="616666" y="5196188"/>
            <a:ext cx="90227" cy="9022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Estudio"/>
          <p:cNvSpPr/>
          <p:nvPr/>
        </p:nvSpPr>
        <p:spPr>
          <a:xfrm>
            <a:off x="928389" y="5226547"/>
            <a:ext cx="85603" cy="8560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studio"/>
          <p:cNvSpPr/>
          <p:nvPr/>
        </p:nvSpPr>
        <p:spPr>
          <a:xfrm>
            <a:off x="1010569" y="4986653"/>
            <a:ext cx="104415" cy="104415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studio"/>
          <p:cNvSpPr/>
          <p:nvPr/>
        </p:nvSpPr>
        <p:spPr>
          <a:xfrm>
            <a:off x="769977" y="5110688"/>
            <a:ext cx="93643" cy="9364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Estudio"/>
          <p:cNvSpPr/>
          <p:nvPr/>
        </p:nvSpPr>
        <p:spPr>
          <a:xfrm>
            <a:off x="744756" y="5256430"/>
            <a:ext cx="71039" cy="7103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Mancha"/>
          <p:cNvSpPr/>
          <p:nvPr/>
        </p:nvSpPr>
        <p:spPr>
          <a:xfrm>
            <a:off x="1644650" y="4181475"/>
            <a:ext cx="584200" cy="409575"/>
          </a:xfrm>
          <a:prstGeom prst="ellipse">
            <a:avLst/>
          </a:prstGeom>
          <a:solidFill>
            <a:srgbClr val="F8EAF4"/>
          </a:solidFill>
          <a:ln w="19050">
            <a:solidFill>
              <a:srgbClr val="E9C3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Estudio"/>
          <p:cNvSpPr/>
          <p:nvPr/>
        </p:nvSpPr>
        <p:spPr>
          <a:xfrm>
            <a:off x="2039761" y="4433552"/>
            <a:ext cx="103137" cy="10313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Estudio"/>
          <p:cNvSpPr/>
          <p:nvPr/>
        </p:nvSpPr>
        <p:spPr>
          <a:xfrm>
            <a:off x="1824272" y="4406842"/>
            <a:ext cx="93099" cy="9309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studio"/>
          <p:cNvSpPr/>
          <p:nvPr/>
        </p:nvSpPr>
        <p:spPr>
          <a:xfrm>
            <a:off x="1769812" y="4331691"/>
            <a:ext cx="104137" cy="10413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Estudio"/>
          <p:cNvSpPr/>
          <p:nvPr/>
        </p:nvSpPr>
        <p:spPr>
          <a:xfrm>
            <a:off x="2041339" y="4427390"/>
            <a:ext cx="80587" cy="80587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Estudio"/>
          <p:cNvSpPr/>
          <p:nvPr/>
        </p:nvSpPr>
        <p:spPr>
          <a:xfrm>
            <a:off x="1925630" y="4476557"/>
            <a:ext cx="85568" cy="8556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Estudio"/>
          <p:cNvSpPr/>
          <p:nvPr/>
        </p:nvSpPr>
        <p:spPr>
          <a:xfrm>
            <a:off x="2014571" y="4442531"/>
            <a:ext cx="101226" cy="101226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Estudio"/>
          <p:cNvSpPr/>
          <p:nvPr/>
        </p:nvSpPr>
        <p:spPr>
          <a:xfrm>
            <a:off x="1981715" y="4431812"/>
            <a:ext cx="71018" cy="71018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Estudio"/>
          <p:cNvSpPr/>
          <p:nvPr/>
        </p:nvSpPr>
        <p:spPr>
          <a:xfrm>
            <a:off x="1880082" y="4478688"/>
            <a:ext cx="75731" cy="75731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Estudio"/>
          <p:cNvSpPr/>
          <p:nvPr/>
        </p:nvSpPr>
        <p:spPr>
          <a:xfrm>
            <a:off x="1785088" y="4383016"/>
            <a:ext cx="85453" cy="8545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Estudio"/>
          <p:cNvSpPr/>
          <p:nvPr/>
        </p:nvSpPr>
        <p:spPr>
          <a:xfrm>
            <a:off x="1816007" y="4421142"/>
            <a:ext cx="100799" cy="100799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Estudio"/>
          <p:cNvSpPr/>
          <p:nvPr/>
        </p:nvSpPr>
        <p:spPr>
          <a:xfrm>
            <a:off x="2087956" y="4471933"/>
            <a:ext cx="64900" cy="64900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Estudio"/>
          <p:cNvSpPr/>
          <p:nvPr/>
        </p:nvSpPr>
        <p:spPr>
          <a:xfrm>
            <a:off x="2046126" y="4496538"/>
            <a:ext cx="65344" cy="65344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Estudio"/>
          <p:cNvSpPr/>
          <p:nvPr/>
        </p:nvSpPr>
        <p:spPr>
          <a:xfrm>
            <a:off x="1966897" y="4416932"/>
            <a:ext cx="98683" cy="98683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Estudio"/>
          <p:cNvSpPr/>
          <p:nvPr/>
        </p:nvSpPr>
        <p:spPr>
          <a:xfrm>
            <a:off x="1718762" y="4470338"/>
            <a:ext cx="69540" cy="69540"/>
          </a:xfrm>
          <a:prstGeom prst="ellipse">
            <a:avLst/>
          </a:prstGeom>
          <a:solidFill>
            <a:srgbClr val="AD3B94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Estudio"/>
          <p:cNvSpPr/>
          <p:nvPr/>
        </p:nvSpPr>
        <p:spPr>
          <a:xfrm>
            <a:off x="2800350" y="3689350"/>
            <a:ext cx="177800" cy="177800"/>
          </a:xfrm>
          <a:prstGeom prst="ellipse">
            <a:avLst/>
          </a:prstGeom>
          <a:solidFill>
            <a:srgbClr val="AD3B9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Leyenda: marcador"/>
          <p:cNvSpPr/>
          <p:nvPr/>
        </p:nvSpPr>
        <p:spPr>
          <a:xfrm>
            <a:off x="539750" y="1682750"/>
            <a:ext cx="114300" cy="114300"/>
          </a:xfrm>
          <a:prstGeom prst="ellipse">
            <a:avLst/>
          </a:prstGeom>
          <a:solidFill>
            <a:srgbClr val="AD3B9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Leyenda: texto"/>
          <p:cNvSpPr txBox="1"/>
          <p:nvPr/>
        </p:nvSpPr>
        <p:spPr>
          <a:xfrm>
            <a:off x="762000" y="16002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s-ES">
                <a:solidFill>
                  <a:srgbClr val="263445"/>
                </a:solidFill>
              </a:rPr>
              <a:t>Estudios de aprendizaje automático</a:t>
            </a:r>
          </a:p>
        </p:txBody>
      </p:sp>
      <p:sp>
        <p:nvSpPr>
          <p:cNvPr id="103" name="Leyenda: marcador"/>
          <p:cNvSpPr/>
          <p:nvPr/>
        </p:nvSpPr>
        <p:spPr>
          <a:xfrm>
            <a:off x="508000" y="1943100"/>
            <a:ext cx="177800" cy="177800"/>
          </a:xfrm>
          <a:prstGeom prst="ellipse">
            <a:avLst/>
          </a:prstGeom>
          <a:solidFill>
            <a:srgbClr val="5BB46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Leyenda: texto"/>
          <p:cNvSpPr txBox="1"/>
          <p:nvPr/>
        </p:nvSpPr>
        <p:spPr>
          <a:xfrm>
            <a:off x="762000" y="18923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s-ES">
                <a:solidFill>
                  <a:srgbClr val="263445"/>
                </a:solidFill>
              </a:rPr>
              <a:t>Dosificación individualizada (TDM)</a:t>
            </a:r>
          </a:p>
        </p:txBody>
      </p:sp>
      <p:sp>
        <p:nvSpPr>
          <p:cNvPr id="105" name="Tarjeta TDM"/>
          <p:cNvSpPr/>
          <p:nvPr/>
        </p:nvSpPr>
        <p:spPr>
          <a:xfrm>
            <a:off x="8060436" y="1879600"/>
            <a:ext cx="3623818" cy="4127500"/>
          </a:xfrm>
          <a:prstGeom prst="roundRect">
            <a:avLst>
              <a:gd name="adj" fmla="val 2803"/>
            </a:avLst>
          </a:prstGeom>
          <a:solidFill>
            <a:srgbClr val="E7F4E9"/>
          </a:solidFill>
          <a:ln w="31750">
            <a:solidFill>
              <a:srgbClr val="5BB4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Cabecera tarjeta"/>
          <p:cNvSpPr/>
          <p:nvPr/>
        </p:nvSpPr>
        <p:spPr>
          <a:xfrm>
            <a:off x="8060436" y="1879600"/>
            <a:ext cx="3623818" cy="1244600"/>
          </a:xfrm>
          <a:prstGeom prst="roundRect">
            <a:avLst>
              <a:gd name="adj" fmla="val 8163"/>
            </a:avLst>
          </a:prstGeom>
          <a:solidFill>
            <a:srgbClr val="2B7D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Cabecera (base)"/>
          <p:cNvSpPr/>
          <p:nvPr/>
        </p:nvSpPr>
        <p:spPr>
          <a:xfrm>
            <a:off x="8060436" y="2870200"/>
            <a:ext cx="3623818" cy="254000"/>
          </a:xfrm>
          <a:prstGeom prst="rect">
            <a:avLst/>
          </a:prstGeom>
          <a:solidFill>
            <a:srgbClr val="2B7D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63636" y="1981200"/>
            <a:ext cx="3217418" cy="1041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 lang="es-ES">
                <a:solidFill>
                  <a:srgbClr val="FFFFFF"/>
                </a:solidFill>
              </a:rPr>
              <a:t>Dosificación individualizada</a:t>
            </a:r>
            <a:br/>
            <a:r>
              <a:rPr sz="2200" b="1" i="0" lang="es-ES">
                <a:solidFill>
                  <a:srgbClr val="FFFFFF"/>
                </a:solidFill>
              </a:rPr>
              <a:t>de antimicrobianos</a:t>
            </a:r>
            <a:br/>
            <a:r>
              <a:rPr sz="2200" b="1" i="0" lang="es-ES">
                <a:solidFill>
                  <a:srgbClr val="FFFFFF"/>
                </a:solidFill>
              </a:rPr>
              <a:t>(TDM o MIPD)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63636" y="3225800"/>
            <a:ext cx="3217418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lang="es-ES">
                <a:solidFill>
                  <a:srgbClr val="2B7D3D"/>
                </a:solidFill>
              </a:rPr>
              <a:t>10 ensayos · 1241 pacientes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63636" y="3606800"/>
            <a:ext cx="321741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0" i="0" lang="es-ES">
                <a:solidFill>
                  <a:srgbClr val="263445"/>
                </a:solidFill>
              </a:rPr>
              <a:t>Fracaso terapéutico </a:t>
            </a:r>
            <a:r>
              <a:rPr sz="2200" b="1" i="0" lang="es-ES">
                <a:solidFill>
                  <a:srgbClr val="263445"/>
                </a:solidFill>
              </a:rPr>
              <a:t>−30 %</a:t>
            </a:r>
            <a:r>
              <a:rPr sz="2200" b="0" i="0" lang="es-ES">
                <a:solidFill>
                  <a:srgbClr val="263445"/>
                </a:solidFill>
              </a:rPr>
              <a:t> (RR 0,70)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263636" y="4318000"/>
            <a:ext cx="3217418" cy="0"/>
          </a:xfrm>
          <a:prstGeom prst="line">
            <a:avLst/>
          </a:prstGeom>
          <a:ln w="19050">
            <a:solidFill>
              <a:srgbClr val="E7F4E9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8263636" y="4381500"/>
            <a:ext cx="321741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0" i="0" lang="es-ES">
                <a:solidFill>
                  <a:srgbClr val="263445"/>
                </a:solidFill>
              </a:rPr>
              <a:t>Nefrotoxicidad </a:t>
            </a:r>
            <a:r>
              <a:rPr sz="2200" b="1" i="0" lang="es-ES">
                <a:solidFill>
                  <a:srgbClr val="263445"/>
                </a:solidFill>
              </a:rPr>
              <a:t>−45 %</a:t>
            </a:r>
            <a:r>
              <a:rPr sz="2200" b="0" i="0" lang="es-ES">
                <a:solidFill>
                  <a:srgbClr val="263445"/>
                </a:solidFill>
              </a:rPr>
              <a:t> (RR 0,55)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263636" y="5092700"/>
            <a:ext cx="3217418" cy="0"/>
          </a:xfrm>
          <a:prstGeom prst="line">
            <a:avLst/>
          </a:prstGeom>
          <a:ln w="19050">
            <a:solidFill>
              <a:srgbClr val="E7F4E9"/>
            </a:solidFill>
          </a:ln>
        </p:spPr>
      </p:cxnSp>
      <p:sp>
        <p:nvSpPr>
          <p:cNvPr id="114" name="TextBox 113"/>
          <p:cNvSpPr txBox="1"/>
          <p:nvPr/>
        </p:nvSpPr>
        <p:spPr>
          <a:xfrm>
            <a:off x="8263636" y="5156200"/>
            <a:ext cx="321741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0" i="0" lang="es-ES">
                <a:solidFill>
                  <a:srgbClr val="263445"/>
                </a:solidFill>
              </a:rPr>
              <a:t>Mortalidad: sin cambio significativo</a:t>
            </a:r>
          </a:p>
        </p:txBody>
      </p:sp>
      <p:cxnSp>
        <p:nvCxnSpPr>
          <p:cNvPr id="115" name="Unión peldaño 5"/>
          <p:cNvCxnSpPr/>
          <p:nvPr/>
        </p:nvCxnSpPr>
        <p:spPr>
          <a:xfrm>
            <a:off x="7527036" y="2203450"/>
            <a:ext cx="533400" cy="0"/>
          </a:xfrm>
          <a:prstGeom prst="line">
            <a:avLst/>
          </a:prstGeom>
          <a:ln w="50800">
            <a:solidFill>
              <a:srgbClr val="5BB46C"/>
            </a:solidFill>
          </a:ln>
        </p:spPr>
      </p:cxnSp>
      <p:sp>
        <p:nvSpPr>
          <p:cNvPr id="116" name="Marcador TDM en peldaño 5"/>
          <p:cNvSpPr/>
          <p:nvPr/>
        </p:nvSpPr>
        <p:spPr>
          <a:xfrm>
            <a:off x="7438136" y="2114550"/>
            <a:ext cx="177800" cy="177800"/>
          </a:xfrm>
          <a:prstGeom prst="ellipse">
            <a:avLst/>
          </a:prstGeom>
          <a:solidFill>
            <a:srgbClr val="5BB46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Fuente"/>
          <p:cNvSpPr txBox="1"/>
          <p:nvPr/>
        </p:nvSpPr>
        <p:spPr>
          <a:xfrm>
            <a:off x="508000" y="6337300"/>
            <a:ext cx="11176000" cy="2413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200" b="0" i="0" lang="es-ES">
                <a:solidFill>
                  <a:srgbClr val="5E6B78"/>
                </a:solidFill>
              </a:rPr>
              <a:t>Amooei et al., Pharmaceutics, 2026 · Blasiak et al., NPJ Precis Oncol, 2025 · Sanz-Codina et al., Clin Microbiol Infect,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El fallo no es de la IA: es de usar una sola pieza.</a:t>
            </a:r>
          </a:p>
        </p:txBody>
      </p:sp>
      <p:sp>
        <p:nvSpPr>
          <p:cNvPr id="3" name="Rótulo arnés"/>
          <p:cNvSpPr txBox="1"/>
          <p:nvPr/>
        </p:nvSpPr>
        <p:spPr>
          <a:xfrm>
            <a:off x="508000" y="20955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2400" b="1" i="0" lang="es-ES">
                <a:solidFill>
                  <a:srgbClr val="263445"/>
                </a:solidFill>
              </a:rPr>
              <a:t>Arnés (el protocolo)</a:t>
            </a:r>
          </a:p>
        </p:txBody>
      </p:sp>
      <p:sp>
        <p:nvSpPr>
          <p:cNvPr id="4" name="Arnés"/>
          <p:cNvSpPr/>
          <p:nvPr/>
        </p:nvSpPr>
        <p:spPr>
          <a:xfrm>
            <a:off x="508000" y="2476500"/>
            <a:ext cx="11176000" cy="2921000"/>
          </a:xfrm>
          <a:prstGeom prst="roundRect">
            <a:avLst>
              <a:gd name="adj" fmla="val 3478"/>
            </a:avLst>
          </a:prstGeom>
          <a:noFill/>
          <a:ln w="31750">
            <a:solidFill>
              <a:srgbClr val="2634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orde arnés"/>
          <p:cNvSpPr/>
          <p:nvPr/>
        </p:nvSpPr>
        <p:spPr>
          <a:xfrm>
            <a:off x="4699000" y="5257800"/>
            <a:ext cx="27940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000" b="0" i="1" lang="es-ES">
                <a:solidFill>
                  <a:srgbClr val="263445"/>
                </a:solidFill>
              </a:rPr>
              <a:t>reglas · límites · registro</a:t>
            </a:r>
          </a:p>
        </p:txBody>
      </p:sp>
      <p:pic>
        <p:nvPicPr>
          <p:cNvPr id="6" name="Loro robótico (modelo de lenguaje)" descr="Loro robótico (modelo de lenguaj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321" y="2667000"/>
            <a:ext cx="821359" cy="1651000"/>
          </a:xfrm>
          <a:prstGeom prst="rect">
            <a:avLst/>
          </a:prstGeom>
        </p:spPr>
      </p:pic>
      <p:pic>
        <p:nvPicPr>
          <p:cNvPr id="7" name="Ficha del caso" descr="Ficha del cas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68" y="2921000"/>
            <a:ext cx="872664" cy="1143000"/>
          </a:xfrm>
          <a:prstGeom prst="rect">
            <a:avLst/>
          </a:prstGeom>
        </p:spPr>
      </p:pic>
      <p:pic>
        <p:nvPicPr>
          <p:cNvPr id="8" name="Icono curva" descr="Icono cur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684" y="2715260"/>
            <a:ext cx="484632" cy="457200"/>
          </a:xfrm>
          <a:prstGeom prst="rect">
            <a:avLst/>
          </a:prstGeom>
        </p:spPr>
      </p:pic>
      <p:pic>
        <p:nvPicPr>
          <p:cNvPr id="9" name="Icono campana" descr="Icono campan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250" y="3263900"/>
            <a:ext cx="571500" cy="457200"/>
          </a:xfrm>
          <a:prstGeom prst="rect">
            <a:avLst/>
          </a:prstGeom>
        </p:spPr>
      </p:pic>
      <p:pic>
        <p:nvPicPr>
          <p:cNvPr id="10" name="Icono red" descr="Icono r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400" y="3812540"/>
            <a:ext cx="457200" cy="457200"/>
          </a:xfrm>
          <a:prstGeom prst="rect">
            <a:avLst/>
          </a:prstGeom>
        </p:spPr>
      </p:pic>
      <p:cxnSp>
        <p:nvCxnSpPr>
          <p:cNvPr id="11" name="Contexto → modelo"/>
          <p:cNvCxnSpPr/>
          <p:nvPr/>
        </p:nvCxnSpPr>
        <p:spPr>
          <a:xfrm>
            <a:off x="2673350" y="3492500"/>
            <a:ext cx="2927350" cy="0"/>
          </a:xfrm>
          <a:prstGeom prst="line">
            <a:avLst/>
          </a:prstGeom>
          <a:ln w="31750">
            <a:solidFill>
              <a:srgbClr val="263445"/>
            </a:solidFill>
            <a:tailEnd type="triangle" w="med" len="med"/>
          </a:ln>
        </p:spPr>
      </p:cxnSp>
      <p:cxnSp>
        <p:nvCxnSpPr>
          <p:cNvPr id="12" name="Modelo ↔ herramientas"/>
          <p:cNvCxnSpPr/>
          <p:nvPr/>
        </p:nvCxnSpPr>
        <p:spPr>
          <a:xfrm>
            <a:off x="6591300" y="3492500"/>
            <a:ext cx="3134360" cy="0"/>
          </a:xfrm>
          <a:prstGeom prst="line">
            <a:avLst/>
          </a:prstGeom>
          <a:ln w="31750">
            <a:solidFill>
              <a:srgbClr val="263445"/>
            </a:solidFill>
            <a:headEnd type="triangle" w="med" len="med"/>
            <a:tailEnd type="triangle" w="med" len="med"/>
          </a:ln>
        </p:spPr>
      </p:cxnSp>
      <p:pic>
        <p:nvPicPr>
          <p:cNvPr id="13" name="Farmacéutico con pluma" descr="Farmacéutico con plum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7713" y="1701800"/>
            <a:ext cx="756575" cy="660400"/>
          </a:xfrm>
          <a:prstGeom prst="rect">
            <a:avLst/>
          </a:prstGeom>
        </p:spPr>
      </p:pic>
      <p:cxnSp>
        <p:nvCxnSpPr>
          <p:cNvPr id="14" name="Supervisión"/>
          <p:cNvCxnSpPr/>
          <p:nvPr/>
        </p:nvCxnSpPr>
        <p:spPr>
          <a:xfrm>
            <a:off x="6096000" y="2387600"/>
            <a:ext cx="0" cy="241300"/>
          </a:xfrm>
          <a:prstGeom prst="line">
            <a:avLst/>
          </a:prstGeom>
          <a:ln w="31750">
            <a:solidFill>
              <a:srgbClr val="4A73A0"/>
            </a:solidFill>
            <a:prstDash val="sysDot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6588709" y="1701800"/>
            <a:ext cx="4826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 lang="es-ES">
                <a:solidFill>
                  <a:srgbClr val="2F5480"/>
                </a:solidFill>
              </a:rPr>
              <a:t>Farmacéutico</a:t>
            </a:r>
            <a:r>
              <a:rPr sz="2000" b="0" i="0" lang="es-ES">
                <a:solidFill>
                  <a:srgbClr val="263445"/>
                </a:solidFill>
              </a:rPr>
              <a:t> · supervisa y aporta criterio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394200"/>
            <a:ext cx="3048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400" b="1" i="0" lang="es-ES">
                <a:solidFill>
                  <a:srgbClr val="263445"/>
                </a:solidFill>
              </a:rPr>
              <a:t>Contexto</a:t>
            </a:r>
          </a:p>
          <a:p>
            <a:pPr algn="ctr"/>
            <a:r>
              <a:rPr sz="2000" b="0" i="0" lang="es-ES">
                <a:solidFill>
                  <a:srgbClr val="263445"/>
                </a:solidFill>
              </a:rPr>
              <a:t>lo que le das del caso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0" y="4394200"/>
            <a:ext cx="3810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400" b="1" i="0" lang="es-ES">
                <a:solidFill>
                  <a:srgbClr val="8E2F79"/>
                </a:solidFill>
              </a:rPr>
              <a:t>Modelo de lenguaje</a:t>
            </a:r>
          </a:p>
          <a:p>
            <a:pPr algn="ctr"/>
            <a:r>
              <a:rPr sz="2000" b="0" i="0" lang="es-ES">
                <a:solidFill>
                  <a:srgbClr val="263445"/>
                </a:solidFill>
              </a:rPr>
              <a:t>predice 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0" y="4394200"/>
            <a:ext cx="3048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400" b="1" i="0" lang="es-ES">
                <a:solidFill>
                  <a:srgbClr val="2B7D3D"/>
                </a:solidFill>
              </a:rPr>
              <a:t>Herramientas</a:t>
            </a:r>
          </a:p>
          <a:p>
            <a:pPr algn="ctr"/>
            <a:r>
              <a:rPr sz="2000" b="0" i="0" lang="es-ES">
                <a:solidFill>
                  <a:srgbClr val="263445"/>
                </a:solidFill>
              </a:rPr>
              <a:t>código y programas validados</a:t>
            </a:r>
          </a:p>
        </p:txBody>
      </p:sp>
      <p:sp>
        <p:nvSpPr>
          <p:cNvPr id="19" name="Frase de pie"/>
          <p:cNvSpPr txBox="1"/>
          <p:nvPr/>
        </p:nvSpPr>
        <p:spPr>
          <a:xfrm>
            <a:off x="508000" y="5702300"/>
            <a:ext cx="11176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0" i="0" lang="es-ES">
                <a:solidFill>
                  <a:srgbClr val="263445"/>
                </a:solidFill>
              </a:rPr>
              <a:t>El modelo de lenguaje no da siempre la misma respuesta; </a:t>
            </a:r>
            <a:r>
              <a:rPr sz="2400" b="1" i="0" lang="es-ES">
                <a:solidFill>
                  <a:srgbClr val="2B7D3D"/>
                </a:solidFill>
              </a:rPr>
              <a:t>la herramienta validada, sí.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508000" y="6337300"/>
            <a:ext cx="11176000" cy="2413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200" b="0" i="0" lang="es-ES">
                <a:solidFill>
                  <a:srgbClr val="5E6B78"/>
                </a:solidFill>
              </a:rPr>
              <a:t>Pritchard-Bell et al., CPT Pharmacometrics Syst Pharmacol,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TDM-AID: cada tarea, a la pieza que mejor la hace.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08000" y="13843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1" lang="es-ES">
                <a:solidFill>
                  <a:srgbClr val="5E6B78"/>
                </a:solidFill>
              </a:rPr>
              <a:t>Prepublicación · 30 casos retrospectivos · función renal estable</a:t>
            </a:r>
          </a:p>
        </p:txBody>
      </p:sp>
      <p:sp>
        <p:nvSpPr>
          <p:cNvPr id="4" name="Rótulo arnés"/>
          <p:cNvSpPr txBox="1"/>
          <p:nvPr/>
        </p:nvSpPr>
        <p:spPr>
          <a:xfrm>
            <a:off x="508000" y="20955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2400" b="1" i="0" lang="es-ES">
                <a:solidFill>
                  <a:srgbClr val="D42A3B"/>
                </a:solidFill>
              </a:rPr>
              <a:t>Arnés</a:t>
            </a:r>
          </a:p>
        </p:txBody>
      </p:sp>
      <p:sp>
        <p:nvSpPr>
          <p:cNvPr id="5" name="Arnés"/>
          <p:cNvSpPr/>
          <p:nvPr/>
        </p:nvSpPr>
        <p:spPr>
          <a:xfrm>
            <a:off x="508000" y="2476500"/>
            <a:ext cx="11176000" cy="3403600"/>
          </a:xfrm>
          <a:prstGeom prst="roundRect">
            <a:avLst>
              <a:gd name="adj" fmla="val 2985"/>
            </a:avLst>
          </a:prstGeom>
          <a:noFill/>
          <a:ln w="31750">
            <a:solidFill>
              <a:srgbClr val="D42A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Loro robótico (modelo de lenguaje)" descr="Loro robótico (modelo de lenguaj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321" y="2667000"/>
            <a:ext cx="821359" cy="1651000"/>
          </a:xfrm>
          <a:prstGeom prst="rect">
            <a:avLst/>
          </a:prstGeom>
        </p:spPr>
      </p:pic>
      <p:pic>
        <p:nvPicPr>
          <p:cNvPr id="7" name="Ficha del caso" descr="Ficha del cas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68" y="2921000"/>
            <a:ext cx="872664" cy="1143000"/>
          </a:xfrm>
          <a:prstGeom prst="rect">
            <a:avLst/>
          </a:prstGeom>
        </p:spPr>
      </p:pic>
      <p:pic>
        <p:nvPicPr>
          <p:cNvPr id="8" name="Icono curva" descr="Icono cur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684" y="2715260"/>
            <a:ext cx="484632" cy="457200"/>
          </a:xfrm>
          <a:prstGeom prst="rect">
            <a:avLst/>
          </a:prstGeom>
        </p:spPr>
      </p:pic>
      <p:pic>
        <p:nvPicPr>
          <p:cNvPr id="9" name="Icono campana" descr="Icono campan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250" y="3263900"/>
            <a:ext cx="571500" cy="457200"/>
          </a:xfrm>
          <a:prstGeom prst="rect">
            <a:avLst/>
          </a:prstGeom>
        </p:spPr>
      </p:pic>
      <p:pic>
        <p:nvPicPr>
          <p:cNvPr id="10" name="Icono red" descr="Icono r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400" y="3812540"/>
            <a:ext cx="457200" cy="457200"/>
          </a:xfrm>
          <a:prstGeom prst="rect">
            <a:avLst/>
          </a:prstGeom>
        </p:spPr>
      </p:pic>
      <p:cxnSp>
        <p:nvCxnSpPr>
          <p:cNvPr id="11" name="Contexto → modelo"/>
          <p:cNvCxnSpPr/>
          <p:nvPr/>
        </p:nvCxnSpPr>
        <p:spPr>
          <a:xfrm>
            <a:off x="2673350" y="3492500"/>
            <a:ext cx="2927350" cy="0"/>
          </a:xfrm>
          <a:prstGeom prst="line">
            <a:avLst/>
          </a:prstGeom>
          <a:ln w="31750">
            <a:solidFill>
              <a:srgbClr val="263445"/>
            </a:solidFill>
            <a:tailEnd type="triangle" w="med" len="med"/>
          </a:ln>
        </p:spPr>
      </p:cxnSp>
      <p:cxnSp>
        <p:nvCxnSpPr>
          <p:cNvPr id="12" name="Modelo ↔ herramientas"/>
          <p:cNvCxnSpPr/>
          <p:nvPr/>
        </p:nvCxnSpPr>
        <p:spPr>
          <a:xfrm>
            <a:off x="6591300" y="3492500"/>
            <a:ext cx="3134360" cy="0"/>
          </a:xfrm>
          <a:prstGeom prst="line">
            <a:avLst/>
          </a:prstGeom>
          <a:ln w="31750">
            <a:solidFill>
              <a:srgbClr val="263445"/>
            </a:solidFill>
            <a:headEnd type="triangle" w="med" len="med"/>
            <a:tailEnd type="triangle" w="med" len="med"/>
          </a:ln>
        </p:spPr>
      </p:cxnSp>
      <p:pic>
        <p:nvPicPr>
          <p:cNvPr id="13" name="Farmacéutico con pluma" descr="Farmacéutico con plum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7713" y="1701800"/>
            <a:ext cx="756575" cy="660400"/>
          </a:xfrm>
          <a:prstGeom prst="rect">
            <a:avLst/>
          </a:prstGeom>
        </p:spPr>
      </p:pic>
      <p:cxnSp>
        <p:nvCxnSpPr>
          <p:cNvPr id="14" name="Supervisión"/>
          <p:cNvCxnSpPr/>
          <p:nvPr/>
        </p:nvCxnSpPr>
        <p:spPr>
          <a:xfrm>
            <a:off x="6096000" y="2387600"/>
            <a:ext cx="0" cy="241300"/>
          </a:xfrm>
          <a:prstGeom prst="line">
            <a:avLst/>
          </a:prstGeom>
          <a:ln w="31750">
            <a:solidFill>
              <a:srgbClr val="4A73A0"/>
            </a:solidFill>
            <a:prstDash val="sysDot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6588709" y="17018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lang="es-ES">
                <a:solidFill>
                  <a:srgbClr val="2F5480"/>
                </a:solidFill>
              </a:rPr>
              <a:t>Farmacéutico</a:t>
            </a:r>
          </a:p>
        </p:txBody>
      </p:sp>
      <p:sp>
        <p:nvSpPr>
          <p:cNvPr id="16" name="Estado farmacéutico"/>
          <p:cNvSpPr/>
          <p:nvPr/>
        </p:nvSpPr>
        <p:spPr>
          <a:xfrm>
            <a:off x="6588709" y="2032000"/>
            <a:ext cx="3586401" cy="292100"/>
          </a:xfrm>
          <a:prstGeom prst="roundRect">
            <a:avLst>
              <a:gd name="adj" fmla="val 50000"/>
            </a:avLst>
          </a:prstGeom>
          <a:solidFill>
            <a:srgbClr val="DDE7F0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0E1B2C"/>
                </a:solidFill>
              </a:rPr>
              <a:t>borrador + revisión obligatoria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39420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400" b="1" i="0" lang="es-ES">
                <a:solidFill>
                  <a:srgbClr val="263445"/>
                </a:solidFill>
              </a:rPr>
              <a:t>Contexto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0" y="4394200"/>
            <a:ext cx="381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400" b="1" i="0" lang="es-ES">
                <a:solidFill>
                  <a:srgbClr val="8E2F79"/>
                </a:solidFill>
              </a:rPr>
              <a:t>Modelo (GPT-4o)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6000" y="439420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400" b="1" i="0" lang="es-ES">
                <a:solidFill>
                  <a:srgbClr val="2B7D3D"/>
                </a:solidFill>
              </a:rPr>
              <a:t>Herramienta</a:t>
            </a:r>
          </a:p>
        </p:txBody>
      </p:sp>
      <p:sp>
        <p:nvSpPr>
          <p:cNvPr id="20" name="Estado contexto"/>
          <p:cNvSpPr/>
          <p:nvPr/>
        </p:nvSpPr>
        <p:spPr>
          <a:xfrm>
            <a:off x="1079500" y="4787900"/>
            <a:ext cx="1905000" cy="584200"/>
          </a:xfrm>
          <a:prstGeom prst="roundRect">
            <a:avLst>
              <a:gd name="adj" fmla="val 50000"/>
            </a:avLst>
          </a:prstGeom>
          <a:solidFill>
            <a:srgbClr val="DDE7F0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0E1B2C"/>
                </a:solidFill>
              </a:rPr>
              <a:t>guías locales</a:t>
            </a:r>
            <a:br/>
            <a:r>
              <a:rPr sz="2000" b="1" i="0" lang="es-ES">
                <a:solidFill>
                  <a:srgbClr val="0E1B2C"/>
                </a:solidFill>
              </a:rPr>
              <a:t>recuperadas</a:t>
            </a:r>
          </a:p>
        </p:txBody>
      </p:sp>
      <p:sp>
        <p:nvSpPr>
          <p:cNvPr id="21" name="Estado modelo"/>
          <p:cNvSpPr/>
          <p:nvPr/>
        </p:nvSpPr>
        <p:spPr>
          <a:xfrm>
            <a:off x="5061550" y="4787900"/>
            <a:ext cx="2068899" cy="29210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0E1B2C"/>
                </a:solidFill>
              </a:rPr>
              <a:t>interpreta: 83 %</a:t>
            </a:r>
          </a:p>
        </p:txBody>
      </p:sp>
      <p:sp>
        <p:nvSpPr>
          <p:cNvPr id="22" name="Fallo 1"/>
          <p:cNvSpPr/>
          <p:nvPr/>
        </p:nvSpPr>
        <p:spPr>
          <a:xfrm>
            <a:off x="4313282" y="5118100"/>
            <a:ext cx="3565436" cy="292100"/>
          </a:xfrm>
          <a:prstGeom prst="roundRect">
            <a:avLst>
              <a:gd name="adj" fmla="val 50000"/>
            </a:avLst>
          </a:prstGeom>
          <a:solidFill>
            <a:srgbClr val="D42A3B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FFFFFF"/>
                </a:solidFill>
              </a:rPr>
              <a:t>predice concentraciones: 58 %</a:t>
            </a:r>
          </a:p>
        </p:txBody>
      </p:sp>
      <p:sp>
        <p:nvSpPr>
          <p:cNvPr id="23" name="Fallo 2"/>
          <p:cNvSpPr/>
          <p:nvPr/>
        </p:nvSpPr>
        <p:spPr>
          <a:xfrm>
            <a:off x="4663361" y="5448300"/>
            <a:ext cx="2865279" cy="292100"/>
          </a:xfrm>
          <a:prstGeom prst="roundRect">
            <a:avLst>
              <a:gd name="adj" fmla="val 50000"/>
            </a:avLst>
          </a:prstGeom>
          <a:solidFill>
            <a:srgbClr val="D42A3B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FFFFFF"/>
                </a:solidFill>
              </a:rPr>
              <a:t>cuándo extraer: 0 de 30</a:t>
            </a:r>
          </a:p>
        </p:txBody>
      </p:sp>
      <p:sp>
        <p:nvSpPr>
          <p:cNvPr id="24" name="Estado herramienta"/>
          <p:cNvSpPr/>
          <p:nvPr/>
        </p:nvSpPr>
        <p:spPr>
          <a:xfrm>
            <a:off x="8965049" y="4787900"/>
            <a:ext cx="2389902" cy="292100"/>
          </a:xfrm>
          <a:prstGeom prst="roundRect">
            <a:avLst>
              <a:gd name="adj" fmla="val 50000"/>
            </a:avLst>
          </a:prstGeom>
          <a:solidFill>
            <a:srgbClr val="5BB46C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0E1B2C"/>
                </a:solidFill>
              </a:rPr>
              <a:t>cálculos sin errores</a:t>
            </a:r>
          </a:p>
        </p:txBody>
      </p:sp>
      <p:sp>
        <p:nvSpPr>
          <p:cNvPr id="25" name="Flecha curva"/>
          <p:cNvSpPr/>
          <p:nvPr/>
        </p:nvSpPr>
        <p:spPr>
          <a:xfrm>
            <a:off x="7929517" y="3746500"/>
            <a:ext cx="1773282" cy="1517650"/>
          </a:xfrm>
          <a:custGeom>
            <a:avLst/>
            <a:gdLst/>
            <a:ahLst/>
            <a:cxnLst/>
            <a:rect l="0" t="0" r="r" b="b"/>
            <a:pathLst>
              <a:path w="1773282" h="1517650" fill="none">
                <a:moveTo>
                  <a:pt x="0" y="1517650"/>
                </a:moveTo>
                <a:cubicBezTo>
                  <a:pt x="520700" y="1517650"/>
                  <a:pt x="1011282" y="127000"/>
                  <a:pt x="1773282" y="0"/>
                </a:cubicBezTo>
              </a:path>
            </a:pathLst>
          </a:custGeom>
          <a:noFill/>
          <a:ln w="31750" cap="rnd">
            <a:solidFill>
              <a:srgbClr val="263445"/>
            </a:solidFill>
            <a:round/>
            <a:tailEnd type="triangle" w="med" len="med"/>
          </a:ln>
        </p:spPr>
      </p:sp>
      <p:sp>
        <p:nvSpPr>
          <p:cNvPr id="26" name="Rótulo cálculo"/>
          <p:cNvSpPr txBox="1"/>
          <p:nvPr/>
        </p:nvSpPr>
        <p:spPr>
          <a:xfrm>
            <a:off x="7048500" y="3937000"/>
            <a:ext cx="165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1" lang="es-ES">
                <a:solidFill>
                  <a:srgbClr val="263445"/>
                </a:solidFill>
              </a:rPr>
              <a:t>esto es cálculo</a:t>
            </a:r>
          </a:p>
        </p:txBody>
      </p:sp>
      <p:sp>
        <p:nvSpPr>
          <p:cNvPr id="27" name="Estado arnés"/>
          <p:cNvSpPr/>
          <p:nvPr/>
        </p:nvSpPr>
        <p:spPr>
          <a:xfrm>
            <a:off x="508000" y="5956300"/>
            <a:ext cx="5125839" cy="292100"/>
          </a:xfrm>
          <a:prstGeom prst="roundRect">
            <a:avLst>
              <a:gd name="adj" fmla="val 50000"/>
            </a:avLst>
          </a:prstGeom>
          <a:solidFill>
            <a:srgbClr val="D42A3B"/>
          </a:solidFill>
          <a:ln>
            <a:noFill/>
          </a:ln>
        </p:spPr>
        <p:txBody>
          <a:bodyPr rtlCol="0" anchor="ctr" wrap="square" lIns="95250" tIns="0" rIns="95250" bIns="0">
            <a:noAutofit/>
          </a:bodyPr>
          <a:lstStyle/>
          <a:p>
            <a:pPr algn="ctr"/>
            <a:r>
              <a:rPr sz="2000" b="1" i="0" lang="es-ES">
                <a:solidFill>
                  <a:srgbClr val="FFFFFF"/>
                </a:solidFill>
              </a:rPr>
              <a:t>sin tope de dosis · 1 de cada 6 casos &gt; 4 g/día</a:t>
            </a:r>
          </a:p>
        </p:txBody>
      </p:sp>
      <p:sp>
        <p:nvSpPr>
          <p:cNvPr id="28" name="Flecha curva"/>
          <p:cNvSpPr/>
          <p:nvPr/>
        </p:nvSpPr>
        <p:spPr>
          <a:xfrm>
            <a:off x="5671939" y="5905500"/>
            <a:ext cx="342900" cy="196850"/>
          </a:xfrm>
          <a:custGeom>
            <a:avLst/>
            <a:gdLst/>
            <a:ahLst/>
            <a:cxnLst/>
            <a:rect l="0" t="0" r="r" b="b"/>
            <a:pathLst>
              <a:path w="342900" h="196850" fill="none">
                <a:moveTo>
                  <a:pt x="0" y="196850"/>
                </a:moveTo>
                <a:cubicBezTo>
                  <a:pt x="215900" y="196850"/>
                  <a:pt x="342900" y="76200"/>
                  <a:pt x="342900" y="0"/>
                </a:cubicBezTo>
              </a:path>
            </a:pathLst>
          </a:custGeom>
          <a:noFill/>
          <a:ln w="31750" cap="rnd">
            <a:solidFill>
              <a:srgbClr val="263445"/>
            </a:solidFill>
            <a:round/>
            <a:tailEnd type="triangle" w="med" len="med"/>
          </a:ln>
        </p:spPr>
      </p:sp>
      <p:sp>
        <p:nvSpPr>
          <p:cNvPr id="29" name="Rótulo límite"/>
          <p:cNvSpPr txBox="1"/>
          <p:nvPr/>
        </p:nvSpPr>
        <p:spPr>
          <a:xfrm>
            <a:off x="6141839" y="5956300"/>
            <a:ext cx="1905000" cy="292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0" i="1" lang="es-ES">
                <a:solidFill>
                  <a:srgbClr val="263445"/>
                </a:solidFill>
              </a:rPr>
              <a:t>esto es un límite</a:t>
            </a:r>
          </a:p>
        </p:txBody>
      </p:sp>
      <p:sp>
        <p:nvSpPr>
          <p:cNvPr id="30" name="Fuente"/>
          <p:cNvSpPr txBox="1"/>
          <p:nvPr/>
        </p:nvSpPr>
        <p:spPr>
          <a:xfrm>
            <a:off x="508000" y="6337300"/>
            <a:ext cx="11176000" cy="2413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200" b="0" i="0" lang="es-ES">
                <a:solidFill>
                  <a:srgbClr val="5E6B78"/>
                </a:solidFill>
              </a:rPr>
              <a:t>Hassan et al., medRxiv, 2026 (prepublicación)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s-ES">
                <a:solidFill>
                  <a:srgbClr val="263445"/>
                </a:solidFill>
              </a:rPr>
              <a:t>Leamos la ficha técnica de la IA como la de un fármaco.</a:t>
            </a:r>
          </a:p>
        </p:txBody>
      </p:sp>
      <p:sp>
        <p:nvSpPr>
          <p:cNvPr id="3" name="Caja: tapa"/>
          <p:cNvSpPr/>
          <p:nvPr/>
        </p:nvSpPr>
        <p:spPr>
          <a:xfrm>
            <a:off x="609600" y="1892300"/>
            <a:ext cx="3746500" cy="444500"/>
          </a:xfrm>
          <a:custGeom>
            <a:avLst/>
            <a:gdLst/>
            <a:ahLst/>
            <a:cxnLst/>
            <a:rect l="l" t="t" r="r" b="b"/>
            <a:pathLst>
              <a:path w="3746500" h="444500">
                <a:moveTo>
                  <a:pt x="0" y="444500"/>
                </a:moveTo>
                <a:lnTo>
                  <a:pt x="762000" y="0"/>
                </a:lnTo>
                <a:lnTo>
                  <a:pt x="3746500" y="0"/>
                </a:lnTo>
                <a:lnTo>
                  <a:pt x="2984500" y="444500"/>
                </a:lnTo>
                <a:close/>
              </a:path>
            </a:pathLst>
          </a:custGeom>
          <a:solidFill>
            <a:srgbClr val="E4E9EE"/>
          </a:solidFill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ja: lateral"/>
          <p:cNvSpPr/>
          <p:nvPr/>
        </p:nvSpPr>
        <p:spPr>
          <a:xfrm>
            <a:off x="3594100" y="1892300"/>
            <a:ext cx="762000" cy="4254500"/>
          </a:xfrm>
          <a:custGeom>
            <a:avLst/>
            <a:gdLst/>
            <a:ahLst/>
            <a:cxnLst/>
            <a:rect l="l" t="t" r="r" b="b"/>
            <a:pathLst>
              <a:path w="762000" h="4254500">
                <a:moveTo>
                  <a:pt x="0" y="444500"/>
                </a:moveTo>
                <a:lnTo>
                  <a:pt x="762000" y="0"/>
                </a:lnTo>
                <a:lnTo>
                  <a:pt x="762000" y="3810000"/>
                </a:lnTo>
                <a:lnTo>
                  <a:pt x="0" y="4254500"/>
                </a:lnTo>
                <a:close/>
              </a:path>
            </a:pathLst>
          </a:custGeom>
          <a:solidFill>
            <a:srgbClr val="B9C3CD"/>
          </a:solidFill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ja: texto lateral"/>
          <p:cNvSpPr txBox="1"/>
          <p:nvPr/>
        </p:nvSpPr>
        <p:spPr>
          <a:xfrm rot="16200000">
            <a:off x="2324100" y="3702050"/>
            <a:ext cx="3302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 lang="es-ES">
                <a:solidFill>
                  <a:srgbClr val="263445"/>
                </a:solidFill>
              </a:rPr>
              <a:t>Lea la ficha técnica</a:t>
            </a:r>
            <a:br/>
            <a:r>
              <a:rPr sz="2000" b="1" i="0" lang="es-ES">
                <a:solidFill>
                  <a:srgbClr val="263445"/>
                </a:solidFill>
              </a:rPr>
              <a:t>antes de usar</a:t>
            </a:r>
          </a:p>
        </p:txBody>
      </p:sp>
      <p:sp>
        <p:nvSpPr>
          <p:cNvPr id="6" name="Caja: frontal"/>
          <p:cNvSpPr/>
          <p:nvPr/>
        </p:nvSpPr>
        <p:spPr>
          <a:xfrm>
            <a:off x="609600" y="2336800"/>
            <a:ext cx="2984500" cy="3810000"/>
          </a:xfrm>
          <a:prstGeom prst="rect">
            <a:avLst/>
          </a:prstGeom>
          <a:solidFill>
            <a:srgbClr val="FFFFFF"/>
          </a:solidFill>
          <a:ln w="31750">
            <a:solidFill>
              <a:srgbClr val="2634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ja: banda"/>
          <p:cNvSpPr/>
          <p:nvPr/>
        </p:nvSpPr>
        <p:spPr>
          <a:xfrm>
            <a:off x="619125" y="2552700"/>
            <a:ext cx="2965450" cy="114300"/>
          </a:xfrm>
          <a:prstGeom prst="rect">
            <a:avLst/>
          </a:prstGeom>
          <a:solidFill>
            <a:srgbClr val="00B3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ja: banda fina"/>
          <p:cNvSpPr/>
          <p:nvPr/>
        </p:nvSpPr>
        <p:spPr>
          <a:xfrm>
            <a:off x="619125" y="2705100"/>
            <a:ext cx="2965450" cy="38100"/>
          </a:xfrm>
          <a:prstGeom prst="rect">
            <a:avLst/>
          </a:prstGeom>
          <a:solidFill>
            <a:srgbClr val="C3BF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ja: nombre"/>
          <p:cNvSpPr txBox="1"/>
          <p:nvPr/>
        </p:nvSpPr>
        <p:spPr>
          <a:xfrm>
            <a:off x="812800" y="2946400"/>
            <a:ext cx="2578100" cy="571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 lang="es-ES">
                <a:solidFill>
                  <a:srgbClr val="263445"/>
                </a:solidFill>
              </a:rPr>
              <a:t>Dosifica-IA</a:t>
            </a:r>
          </a:p>
        </p:txBody>
      </p:sp>
      <p:sp>
        <p:nvSpPr>
          <p:cNvPr id="10" name="Caja: contenido"/>
          <p:cNvSpPr txBox="1"/>
          <p:nvPr/>
        </p:nvSpPr>
        <p:spPr>
          <a:xfrm>
            <a:off x="812800" y="3581400"/>
            <a:ext cx="25781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 lang="es-ES">
                <a:solidFill>
                  <a:srgbClr val="263445"/>
                </a:solidFill>
              </a:rPr>
              <a:t>Contiene:</a:t>
            </a:r>
            <a:br/>
            <a:r>
              <a:rPr sz="2200" b="0" i="0" lang="es-ES">
                <a:solidFill>
                  <a:srgbClr val="263445"/>
                </a:solidFill>
              </a:rPr>
              <a:t>1 modelo de lenguaje</a:t>
            </a:r>
          </a:p>
        </p:txBody>
      </p:sp>
      <p:sp>
        <p:nvSpPr>
          <p:cNvPr id="11" name="Caja: fondo pictograma"/>
          <p:cNvSpPr/>
          <p:nvPr/>
        </p:nvSpPr>
        <p:spPr>
          <a:xfrm>
            <a:off x="1568450" y="4826000"/>
            <a:ext cx="1066800" cy="1066800"/>
          </a:xfrm>
          <a:prstGeom prst="ellipse">
            <a:avLst/>
          </a:prstGeom>
          <a:solidFill>
            <a:srgbClr val="E0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ograma: loro" descr="Pictograma: lo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052" y="4889500"/>
            <a:ext cx="467597" cy="939800"/>
          </a:xfrm>
          <a:prstGeom prst="rect">
            <a:avLst/>
          </a:prstGeom>
        </p:spPr>
      </p:pic>
      <p:sp>
        <p:nvSpPr>
          <p:cNvPr id="13" name="Ficha: panel 1"/>
          <p:cNvSpPr/>
          <p:nvPr/>
        </p:nvSpPr>
        <p:spPr>
          <a:xfrm>
            <a:off x="5228273" y="1892300"/>
            <a:ext cx="6455982" cy="120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2D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Icono Composición" descr="Icono Composició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473" y="2100290"/>
            <a:ext cx="609600" cy="5085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44273" y="2032000"/>
            <a:ext cx="5236782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1" i="0" lang="es-ES">
                <a:solidFill>
                  <a:srgbClr val="007A79"/>
                </a:solidFill>
              </a:rPr>
              <a:t>Composición</a:t>
            </a:r>
          </a:p>
          <a:p>
            <a:pPr algn="l"/>
            <a:r>
              <a:rPr sz="2000" b="1" i="0" lang="es-ES">
                <a:solidFill>
                  <a:srgbClr val="263445"/>
                </a:solidFill>
              </a:rPr>
              <a:t>¿Qué hay dentro?</a:t>
            </a:r>
            <a:r>
              <a:rPr sz="2000" b="0" i="0" lang="es-ES">
                <a:solidFill>
                  <a:srgbClr val="263445"/>
                </a:solidFill>
              </a:rPr>
              <a:t> Estadística con modelo, aprendizaje automático o modelo de lenguaje.</a:t>
            </a:r>
          </a:p>
        </p:txBody>
      </p:sp>
      <p:sp>
        <p:nvSpPr>
          <p:cNvPr id="16" name="Ficha: panel 2"/>
          <p:cNvSpPr/>
          <p:nvPr/>
        </p:nvSpPr>
        <p:spPr>
          <a:xfrm>
            <a:off x="5228273" y="3098800"/>
            <a:ext cx="6455982" cy="1206500"/>
          </a:xfrm>
          <a:prstGeom prst="rect">
            <a:avLst/>
          </a:prstGeom>
          <a:solidFill>
            <a:srgbClr val="F3F6F9"/>
          </a:solidFill>
          <a:ln w="19050">
            <a:solidFill>
              <a:srgbClr val="C9D2D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Icono Mecanismo de acción" descr="Icono Mecanismo de acció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105" y="3302000"/>
            <a:ext cx="532335" cy="518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44273" y="3238500"/>
            <a:ext cx="5236782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1" i="0" lang="es-ES">
                <a:solidFill>
                  <a:srgbClr val="007A79"/>
                </a:solidFill>
              </a:rPr>
              <a:t>Mecanismo de acción</a:t>
            </a:r>
          </a:p>
          <a:p>
            <a:pPr algn="l"/>
            <a:r>
              <a:rPr sz="2000" b="1" i="0" lang="es-ES">
                <a:solidFill>
                  <a:srgbClr val="263445"/>
                </a:solidFill>
              </a:rPr>
              <a:t>¿Quién hace el cálculo?</a:t>
            </a:r>
            <a:r>
              <a:rPr sz="2000" b="0" i="0" lang="es-ES">
                <a:solidFill>
                  <a:srgbClr val="263445"/>
                </a:solidFill>
              </a:rPr>
              <a:t> Una herramienta validada o el modelo de lenguaje.</a:t>
            </a:r>
          </a:p>
        </p:txBody>
      </p:sp>
      <p:sp>
        <p:nvSpPr>
          <p:cNvPr id="19" name="Ficha: panel 3"/>
          <p:cNvSpPr/>
          <p:nvPr/>
        </p:nvSpPr>
        <p:spPr>
          <a:xfrm>
            <a:off x="5228273" y="4305300"/>
            <a:ext cx="6455982" cy="184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2D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Icono Eficacia clínica y seguridad" descr="Icono Eficacia clínica y segurida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473" y="4508788"/>
            <a:ext cx="609600" cy="5175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44273" y="4445000"/>
            <a:ext cx="5236782" cy="165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1" i="0" lang="es-ES">
                <a:solidFill>
                  <a:srgbClr val="007A79"/>
                </a:solidFill>
              </a:rPr>
              <a:t>Eficacia clínica y seguridad</a:t>
            </a:r>
          </a:p>
          <a:p>
            <a:pPr algn="l"/>
            <a:r>
              <a:rPr sz="2000" b="1" i="0" lang="es-ES">
                <a:solidFill>
                  <a:srgbClr val="263445"/>
                </a:solidFill>
              </a:rPr>
              <a:t>¿Qué ha demostrado, y frente a qué?</a:t>
            </a:r>
            <a:r>
              <a:rPr sz="2000" b="0" i="0" lang="es-ES">
                <a:solidFill>
                  <a:srgbClr val="263445"/>
                </a:solidFill>
              </a:rPr>
              <a:t> Aciertos en una base de datos o resultados en pacientes; frente a un bayesiano con concentraciones o frente a un rival débil.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ar"/>
          <p:cNvSpPr txBox="1"/>
          <p:nvPr/>
        </p:nvSpPr>
        <p:spPr>
          <a:xfrm>
            <a:off x="508000" y="749300"/>
            <a:ext cx="1117600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sz="3600" b="0" i="0" lang="es-ES">
                <a:solidFill>
                  <a:srgbClr val="263445"/>
                </a:solidFill>
              </a:rPr>
              <a:t>La </a:t>
            </a:r>
            <a:r>
              <a:rPr sz="3600" b="1" i="0" lang="es-ES">
                <a:solidFill>
                  <a:srgbClr val="2B7D3D"/>
                </a:solidFill>
              </a:rPr>
              <a:t>herramienta</a:t>
            </a:r>
            <a:r>
              <a:rPr sz="3600" b="0" i="0" lang="es-ES">
                <a:solidFill>
                  <a:srgbClr val="263445"/>
                </a:solidFill>
              </a:rPr>
              <a:t> calcula, el </a:t>
            </a:r>
            <a:r>
              <a:rPr sz="3600" b="1" i="0" lang="es-ES">
                <a:solidFill>
                  <a:srgbClr val="AD3B94"/>
                </a:solidFill>
              </a:rPr>
              <a:t>modelo</a:t>
            </a:r>
            <a:r>
              <a:rPr sz="3600" b="0" i="0" lang="es-ES">
                <a:solidFill>
                  <a:srgbClr val="263445"/>
                </a:solidFill>
              </a:rPr>
              <a:t> explica</a:t>
            </a:r>
            <a:br/>
            <a:r>
              <a:rPr sz="3600" b="0" i="0" lang="es-ES">
                <a:solidFill>
                  <a:srgbClr val="263445"/>
                </a:solidFill>
              </a:rPr>
              <a:t>y el </a:t>
            </a:r>
            <a:r>
              <a:rPr sz="3600" b="1" i="0" lang="es-ES">
                <a:solidFill>
                  <a:srgbClr val="2F5480"/>
                </a:solidFill>
              </a:rPr>
              <a:t>farmacéutico</a:t>
            </a:r>
            <a:r>
              <a:rPr sz="3600" b="0" i="0" lang="es-ES">
                <a:solidFill>
                  <a:srgbClr val="263445"/>
                </a:solidFill>
              </a:rPr>
              <a:t> decide.</a:t>
            </a:r>
          </a:p>
        </p:txBody>
      </p:sp>
      <p:pic>
        <p:nvPicPr>
          <p:cNvPr id="3" name="Farmacéutico con pluma" descr="Farmacéutico con plu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767" y="1905000"/>
            <a:ext cx="1018466" cy="889000"/>
          </a:xfrm>
          <a:prstGeom prst="rect">
            <a:avLst/>
          </a:prstGeom>
        </p:spPr>
      </p:pic>
      <p:cxnSp>
        <p:nvCxnSpPr>
          <p:cNvPr id="4" name="Supervisión"/>
          <p:cNvCxnSpPr/>
          <p:nvPr/>
        </p:nvCxnSpPr>
        <p:spPr>
          <a:xfrm>
            <a:off x="6096000" y="2819400"/>
            <a:ext cx="0" cy="264900"/>
          </a:xfrm>
          <a:prstGeom prst="line">
            <a:avLst/>
          </a:prstGeom>
          <a:ln w="31750">
            <a:solidFill>
              <a:srgbClr val="4A73A0"/>
            </a:solidFill>
            <a:prstDash val="sysDot"/>
            <a:tailEnd type="triangle" w="med" len="med"/>
          </a:ln>
        </p:spPr>
      </p:cxnSp>
      <p:sp>
        <p:nvSpPr>
          <p:cNvPr id="5" name="Arnés (gris)"/>
          <p:cNvSpPr/>
          <p:nvPr/>
        </p:nvSpPr>
        <p:spPr>
          <a:xfrm>
            <a:off x="2396109" y="2984500"/>
            <a:ext cx="7400036" cy="1590612"/>
          </a:xfrm>
          <a:prstGeom prst="roundRect">
            <a:avLst>
              <a:gd name="adj" fmla="val 6387"/>
            </a:avLst>
          </a:prstGeom>
          <a:noFill/>
          <a:ln w="31750">
            <a:solidFill>
              <a:srgbClr val="C3CBD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Loro robótico (modelo de lenguaje)" descr="Loro robótico (modelo de lenguaj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716" y="3122400"/>
            <a:ext cx="594569" cy="1195134"/>
          </a:xfrm>
          <a:prstGeom prst="rect">
            <a:avLst/>
          </a:prstGeom>
        </p:spPr>
      </p:pic>
      <p:pic>
        <p:nvPicPr>
          <p:cNvPr id="7" name="Ficha del caso" descr="Ficha del cas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253" y="3340157"/>
            <a:ext cx="579958" cy="759619"/>
          </a:xfrm>
          <a:prstGeom prst="rect">
            <a:avLst/>
          </a:prstGeom>
        </p:spPr>
      </p:pic>
      <p:pic>
        <p:nvPicPr>
          <p:cNvPr id="8" name="Icono curva" descr="Icono cur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993" y="3168990"/>
            <a:ext cx="343550" cy="324104"/>
          </a:xfrm>
          <a:prstGeom prst="rect">
            <a:avLst/>
          </a:prstGeom>
        </p:spPr>
      </p:pic>
      <p:pic>
        <p:nvPicPr>
          <p:cNvPr id="9" name="Icono campana" descr="Icono campan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203" y="3557915"/>
            <a:ext cx="405130" cy="324104"/>
          </a:xfrm>
          <a:prstGeom prst="rect">
            <a:avLst/>
          </a:prstGeom>
        </p:spPr>
      </p:pic>
      <p:pic>
        <p:nvPicPr>
          <p:cNvPr id="10" name="Icono red" descr="Icono r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1716" y="3946840"/>
            <a:ext cx="324104" cy="324104"/>
          </a:xfrm>
          <a:prstGeom prst="rect">
            <a:avLst/>
          </a:prstGeom>
        </p:spPr>
      </p:pic>
      <p:cxnSp>
        <p:nvCxnSpPr>
          <p:cNvPr id="11" name="Contexto → modelo"/>
          <p:cNvCxnSpPr/>
          <p:nvPr/>
        </p:nvCxnSpPr>
        <p:spPr>
          <a:xfrm>
            <a:off x="3977061" y="3719967"/>
            <a:ext cx="1760399" cy="0"/>
          </a:xfrm>
          <a:prstGeom prst="line">
            <a:avLst/>
          </a:prstGeom>
          <a:ln w="31750">
            <a:solidFill>
              <a:srgbClr val="C3CBD3"/>
            </a:solidFill>
            <a:tailEnd type="triangle" w="med" len="med"/>
          </a:ln>
        </p:spPr>
      </p:cxnSp>
      <p:cxnSp>
        <p:nvCxnSpPr>
          <p:cNvPr id="12" name="Modelo ↔ herramientas"/>
          <p:cNvCxnSpPr/>
          <p:nvPr/>
        </p:nvCxnSpPr>
        <p:spPr>
          <a:xfrm>
            <a:off x="6454540" y="3719967"/>
            <a:ext cx="1921329" cy="0"/>
          </a:xfrm>
          <a:prstGeom prst="line">
            <a:avLst/>
          </a:prstGeom>
          <a:ln w="31750">
            <a:solidFill>
              <a:srgbClr val="C3CBD3"/>
            </a:solidFill>
            <a:headEnd type="triangle" w="med" len="med"/>
            <a:tailEnd type="triangle" w="med" len="med"/>
          </a:ln>
        </p:spPr>
      </p:cxnSp>
      <p:sp>
        <p:nvSpPr>
          <p:cNvPr id="13" name="Relevo"/>
          <p:cNvSpPr/>
          <p:nvPr/>
        </p:nvSpPr>
        <p:spPr>
          <a:xfrm>
            <a:off x="508000" y="5511800"/>
            <a:ext cx="11176000" cy="635000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 wrap="square" lIns="203200" tIns="25400" rIns="203200" bIns="25400">
            <a:noAutofit/>
          </a:bodyPr>
          <a:lstStyle/>
          <a:p>
            <a:pPr algn="l"/>
            <a:r>
              <a:rPr sz="2000" b="1" i="0" lang="es-ES">
                <a:solidFill>
                  <a:srgbClr val="007A79"/>
                </a:solidFill>
              </a:rPr>
              <a:t>A continuación: </a:t>
            </a:r>
            <a:r>
              <a:rPr sz="2000" b="1" i="0" lang="es-ES">
                <a:solidFill>
                  <a:srgbClr val="263445"/>
                </a:solidFill>
              </a:rPr>
              <a:t>Emilio Monte Boquet</a:t>
            </a:r>
            <a:r>
              <a:rPr sz="2000" b="0" i="0" lang="es-ES">
                <a:solidFill>
                  <a:srgbClr val="263445"/>
                </a:solidFill>
              </a:rPr>
              <a:t> · Competencias y habilidades en IA para el farmacéutico hospitalario: de usuario a supervisor experto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sharepoint/v3/field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540</TotalTime>
  <Words>35</Words>
  <Application>Microsoft Office PowerPoint</Application>
  <PresentationFormat>Presentación en pantalla (16:9)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ernes</cp:lastModifiedBy>
  <cp:revision>72</cp:revision>
  <dcterms:created xsi:type="dcterms:W3CDTF">2010-04-12T23:12:02Z</dcterms:created>
  <dcterms:modified xsi:type="dcterms:W3CDTF">2026-03-18T16:05:13Z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