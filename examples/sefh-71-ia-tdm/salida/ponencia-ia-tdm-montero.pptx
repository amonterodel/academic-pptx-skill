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93455" r:id="rId4"/>
  </p:sldMasterIdLst>
  <p:notesMasterIdLst>
    <p:notesMasterId r:id="rId9"/>
  </p:notesMasterIdLst>
  <p:sldIdLst>
    <p:sldId id="256" r:id="rId5"/>
    <p:sldId id="257" r:id="rId8"/>
    <p:sldId id="258" r:id="rId7"/>
    <p:sldId id="259" r:id="rId6"/>
    <p:sldId id="260" r:id="rId14"/>
    <p:sldId id="261" r:id="rId15"/>
    <p:sldId id="262" r:id="rId16"/>
    <p:sldId id="263" r:id="rId17"/>
    <p:sldId id="264" r:id="rId18"/>
  </p:sldIdLst>
  <p:sldSz cx="12192000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D3B94"/>
    <a:srgbClr val="00B3B2"/>
    <a:srgbClr val="E8D490"/>
    <a:srgbClr val="5E6770"/>
    <a:srgbClr val="D60093"/>
    <a:srgbClr val="9E4798"/>
    <a:srgbClr val="66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820" autoAdjust="0"/>
    <p:restoredTop sz="94660"/>
  </p:normalViewPr>
  <p:slideViewPr>
    <p:cSldViewPr snapToGrid="0" snapToObjects="1">
      <p:cViewPr varScale="1">
        <p:scale>
          <a:sx n="135" d="100"/>
          <a:sy n="135" d="100"/>
        </p:scale>
        <p:origin x="144" y="168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49" d="100"/>
        <a:sy n="149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4.xml"/><Relationship Id="rId7" Type="http://schemas.openxmlformats.org/officeDocument/2006/relationships/slide" Target="slides/slide3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F996AB-B351-4157-A103-5D37C46B0366}" type="datetimeFigureOut">
              <a:rPr lang="es-ES" smtClean="0"/>
              <a:t>18/03/2026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5F6724-1614-4E0F-920D-1DFB1C77DAF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519092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2835148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Relationship Id="rId3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938435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93456" r:id="rId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5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Relationship Id="rId7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12">
            <a:extLst>
              <a:ext uri="{FF2B5EF4-FFF2-40B4-BE49-F238E27FC236}">
                <a16:creationId xmlns:a16="http://schemas.microsoft.com/office/drawing/2014/main" id="{516794C2-C094-DF2D-4F05-545C33DDF7F8}"/>
              </a:ext>
            </a:extLst>
          </p:cNvPr>
          <p:cNvSpPr txBox="1"/>
          <p:nvPr/>
        </p:nvSpPr>
        <p:spPr>
          <a:xfrm>
            <a:off x="635000" y="2235200"/>
            <a:ext cx="10922000" cy="6985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s-ES" sz="2400" dirty="0" b="1">
                <a:ln w="0"/>
                <a:solidFill>
                  <a:srgbClr val="AD3B94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CURSO PRECONGRESO ·</a:t>
            </a:r>
          </a:p>
          <a:p>
            <a:pPr algn="ctr"/>
            <a:r>
              <a:rPr lang="es-ES" sz="2400" dirty="0" b="1">
                <a:ln w="0"/>
                <a:solidFill>
                  <a:srgbClr val="AD3B94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INTELIGENCIA ARTIFICIAL APLICADA A LA FARMACOCINÉTICA CLÍNICA</a:t>
            </a:r>
          </a:p>
        </p:txBody>
      </p:sp>
      <p:sp>
        <p:nvSpPr>
          <p:cNvPr id="10" name="TextBox 4">
            <a:extLst>
              <a:ext uri="{FF2B5EF4-FFF2-40B4-BE49-F238E27FC236}">
                <a16:creationId xmlns:a16="http://schemas.microsoft.com/office/drawing/2014/main" id="{7C13E27A-34E3-F508-B62E-7AF8A7587993}"/>
              </a:ext>
            </a:extLst>
          </p:cNvPr>
          <p:cNvSpPr txBox="1"/>
          <p:nvPr/>
        </p:nvSpPr>
        <p:spPr>
          <a:xfrm>
            <a:off x="1270000" y="3086100"/>
            <a:ext cx="96520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>
              <a:lnSpc>
                <a:spcPct val="95000"/>
              </a:lnSpc>
            </a:pPr>
            <a:r>
              <a:rPr lang="es-ES" sz="3600" dirty="0" b="1">
                <a:ln w="0"/>
                <a:solidFill>
                  <a:srgbClr val="00B3B2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«Qué puede aportar realmente la IA a la TDM y a la farmacocinética clínica»</a:t>
            </a:r>
          </a:p>
        </p:txBody>
      </p:sp>
      <p:sp>
        <p:nvSpPr>
          <p:cNvPr id="12" name="TextBox 6">
            <a:extLst>
              <a:ext uri="{FF2B5EF4-FFF2-40B4-BE49-F238E27FC236}">
                <a16:creationId xmlns:a16="http://schemas.microsoft.com/office/drawing/2014/main" id="{2C28D68A-92C6-7D7A-8CA3-921D13A1D51F}"/>
              </a:ext>
            </a:extLst>
          </p:cNvPr>
          <p:cNvSpPr txBox="1"/>
          <p:nvPr/>
        </p:nvSpPr>
        <p:spPr>
          <a:xfrm>
            <a:off x="1651000" y="4521200"/>
            <a:ext cx="8890000" cy="317500"/>
          </a:xfrm>
          <a:prstGeom prst="rect">
            <a:avLst/>
          </a:prstGeom>
          <a:noFill/>
        </p:spPr>
        <p:txBody>
          <a:bodyPr wrap="square" lIns="0" tIns="10800" rIns="0" bIns="10800" rtlCol="0"/>
          <a:lstStyle/>
          <a:p>
            <a:pPr algn="ctr"/>
            <a:r>
              <a:rPr lang="es-ES" dirty="0" sz="2400" b="1">
                <a:solidFill>
                  <a:srgbClr val="263445"/>
                </a:solidFill>
              </a:rPr>
              <a:t>ALFREDO MONTERO DELGADO</a:t>
            </a:r>
          </a:p>
        </p:txBody>
      </p:sp>
      <p:sp>
        <p:nvSpPr>
          <p:cNvPr id="13" name="TextBox 7">
            <a:extLst>
              <a:ext uri="{FF2B5EF4-FFF2-40B4-BE49-F238E27FC236}">
                <a16:creationId xmlns:a16="http://schemas.microsoft.com/office/drawing/2014/main" id="{0C49BE9B-1536-E450-23AE-8524F580145D}"/>
              </a:ext>
            </a:extLst>
          </p:cNvPr>
          <p:cNvSpPr txBox="1"/>
          <p:nvPr/>
        </p:nvSpPr>
        <p:spPr>
          <a:xfrm>
            <a:off x="1651000" y="4902200"/>
            <a:ext cx="8890000" cy="698500"/>
          </a:xfrm>
          <a:prstGeom prst="rect">
            <a:avLst/>
          </a:prstGeom>
          <a:noFill/>
        </p:spPr>
        <p:txBody>
          <a:bodyPr wrap="square" lIns="0" tIns="10800" rIns="0" bIns="10800" rtlCol="0"/>
          <a:lstStyle/>
          <a:p>
            <a:pPr algn="ctr"/>
            <a:r>
              <a:rPr lang="es-ES" sz="2000" i="1" dirty="0">
                <a:solidFill>
                  <a:srgbClr val="5E6B78"/>
                </a:solidFill>
              </a:rPr>
              <a:t>Farmacéutico especialista en Farmacia Hospitalaria · Hospital Universitario Nuestra Señora de Candelaria · Grupo DIGIFHAR (SEFH)</a:t>
            </a:r>
          </a:p>
        </p:txBody>
      </p:sp>
    </p:spTree>
    <p:extLst>
      <p:ext uri="{BB962C8B-B14F-4D97-AF65-F5344CB8AC3E}">
        <p14:creationId xmlns:p14="http://schemas.microsoft.com/office/powerpoint/2010/main" val="4112376270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ular"/>
          <p:cNvSpPr txBox="1"/>
          <p:nvPr/>
        </p:nvSpPr>
        <p:spPr>
          <a:xfrm>
            <a:off x="508000" y="749300"/>
            <a:ext cx="11176000" cy="952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2000"/>
              </a:lnSpc>
            </a:pPr>
            <a:r>
              <a:rPr sz="3200" b="0" i="0" lang="es-ES">
                <a:solidFill>
                  <a:srgbClr val="263445"/>
                </a:solidFill>
              </a:rPr>
              <a:t>ChatGPT sabe hablar de farmacocinética, pero no </a:t>
            </a:r>
            <a:r>
              <a:rPr sz="3200" b="1" i="0" lang="es-ES">
                <a:solidFill>
                  <a:srgbClr val="007F7E"/>
                </a:solidFill>
              </a:rPr>
              <a:t>hacer</a:t>
            </a:r>
            <a:r>
              <a:rPr sz="3200" b="0" i="0" lang="es-ES">
                <a:solidFill>
                  <a:srgbClr val="263445"/>
                </a:solidFill>
              </a:rPr>
              <a:t> farmacocinética.</a:t>
            </a:r>
          </a:p>
        </p:txBody>
      </p:sp>
      <p:cxnSp>
        <p:nvCxnSpPr>
          <p:cNvPr id="3" name="Suelo"/>
          <p:cNvCxnSpPr/>
          <p:nvPr/>
        </p:nvCxnSpPr>
        <p:spPr>
          <a:xfrm>
            <a:off x="571500" y="6172200"/>
            <a:ext cx="6392333" cy="0"/>
          </a:xfrm>
          <a:prstGeom prst="line">
            <a:avLst/>
          </a:prstGeom>
          <a:ln w="25400">
            <a:solidFill>
              <a:srgbClr val="C9D2DB"/>
            </a:solidFill>
          </a:ln>
        </p:spPr>
      </p:cxnSp>
      <p:sp>
        <p:nvSpPr>
          <p:cNvPr id="4" name="Pizarra"/>
          <p:cNvSpPr/>
          <p:nvPr/>
        </p:nvSpPr>
        <p:spPr>
          <a:xfrm>
            <a:off x="3048000" y="1905000"/>
            <a:ext cx="3873500" cy="2019300"/>
          </a:xfrm>
          <a:prstGeom prst="roundRect">
            <a:avLst>
              <a:gd name="adj" fmla="val 3144"/>
            </a:avLst>
          </a:prstGeom>
          <a:solidFill>
            <a:srgbClr val="31454F"/>
          </a:solidFill>
          <a:ln w="38100">
            <a:solidFill>
              <a:srgbClr val="26344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pisa"/>
          <p:cNvSpPr/>
          <p:nvPr/>
        </p:nvSpPr>
        <p:spPr>
          <a:xfrm>
            <a:off x="3302000" y="3924300"/>
            <a:ext cx="3365500" cy="76200"/>
          </a:xfrm>
          <a:prstGeom prst="rect">
            <a:avLst/>
          </a:prstGeom>
          <a:solidFill>
            <a:srgbClr val="B9C3CD"/>
          </a:solidFill>
          <a:ln w="19050">
            <a:solidFill>
              <a:srgbClr val="26344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iza"/>
          <p:cNvSpPr/>
          <p:nvPr/>
        </p:nvSpPr>
        <p:spPr>
          <a:xfrm>
            <a:off x="5778500" y="3860800"/>
            <a:ext cx="241300" cy="6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26344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órmulas"/>
          <p:cNvSpPr txBox="1"/>
          <p:nvPr/>
        </p:nvSpPr>
        <p:spPr>
          <a:xfrm>
            <a:off x="3365500" y="2057400"/>
            <a:ext cx="3302000" cy="17653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600" b="0" i="1" lang="es-ES">
                <a:solidFill>
                  <a:srgbClr val="F4F1E6"/>
                </a:solidFill>
              </a:rPr>
              <a:t>CL = k</a:t>
            </a:r>
            <a:r>
              <a:rPr sz="2600" b="0" i="1" lang="es-ES" baseline="-25000">
                <a:solidFill>
                  <a:srgbClr val="F4F1E6"/>
                </a:solidFill>
              </a:rPr>
              <a:t>e</a:t>
            </a:r>
            <a:r>
              <a:rPr sz="2600" b="0" i="1" lang="es-ES">
                <a:solidFill>
                  <a:srgbClr val="F4F1E6"/>
                </a:solidFill>
              </a:rPr>
              <a:t> · V</a:t>
            </a:r>
            <a:r>
              <a:rPr sz="2600" b="0" i="1" lang="es-ES" baseline="-25000">
                <a:solidFill>
                  <a:srgbClr val="F4F1E6"/>
                </a:solidFill>
              </a:rPr>
              <a:t>d</a:t>
            </a:r>
          </a:p>
          <a:p>
            <a:pPr algn="l">
              <a:lnSpc>
                <a:spcPct val="100000"/>
              </a:lnSpc>
            </a:pPr>
            <a:r>
              <a:rPr sz="2600" b="0" i="1" lang="es-ES">
                <a:solidFill>
                  <a:srgbClr val="F4F1E6"/>
                </a:solidFill>
              </a:rPr>
              <a:t>t½ = 0,693 / k</a:t>
            </a:r>
            <a:r>
              <a:rPr sz="2600" b="0" i="1" lang="es-ES" baseline="-25000">
                <a:solidFill>
                  <a:srgbClr val="F4F1E6"/>
                </a:solidFill>
              </a:rPr>
              <a:t>e</a:t>
            </a:r>
          </a:p>
          <a:p>
            <a:pPr algn="l">
              <a:lnSpc>
                <a:spcPct val="100000"/>
              </a:lnSpc>
            </a:pPr>
            <a:r>
              <a:rPr sz="2600" b="0" i="1" lang="es-ES">
                <a:solidFill>
                  <a:srgbClr val="F4F1E6"/>
                </a:solidFill>
              </a:rPr>
              <a:t>V</a:t>
            </a:r>
            <a:r>
              <a:rPr sz="2600" b="0" i="1" lang="es-ES" baseline="-25000">
                <a:solidFill>
                  <a:srgbClr val="F4F1E6"/>
                </a:solidFill>
              </a:rPr>
              <a:t>d</a:t>
            </a:r>
            <a:r>
              <a:rPr sz="2600" b="0" i="1" lang="es-ES">
                <a:solidFill>
                  <a:srgbClr val="F4F1E6"/>
                </a:solidFill>
              </a:rPr>
              <a:t> = Dosis / C</a:t>
            </a:r>
            <a:r>
              <a:rPr sz="2600" b="0" i="1" lang="es-ES" baseline="-25000">
                <a:solidFill>
                  <a:srgbClr val="F4F1E6"/>
                </a:solidFill>
              </a:rPr>
              <a:t>0</a:t>
            </a:r>
          </a:p>
          <a:p>
            <a:pPr algn="l">
              <a:lnSpc>
                <a:spcPct val="100000"/>
              </a:lnSpc>
            </a:pPr>
            <a:r>
              <a:rPr sz="2600" b="0" i="1" lang="es-ES">
                <a:solidFill>
                  <a:srgbClr val="F4F1E6"/>
                </a:solidFill>
              </a:rPr>
              <a:t>k</a:t>
            </a:r>
            <a:r>
              <a:rPr sz="2600" b="0" i="1" lang="es-ES" baseline="-25000">
                <a:solidFill>
                  <a:srgbClr val="F4F1E6"/>
                </a:solidFill>
              </a:rPr>
              <a:t>e</a:t>
            </a:r>
            <a:r>
              <a:rPr sz="2600" b="0" i="1" lang="es-ES">
                <a:solidFill>
                  <a:srgbClr val="F4F1E6"/>
                </a:solidFill>
              </a:rPr>
              <a:t> = ln(C</a:t>
            </a:r>
            <a:r>
              <a:rPr sz="2600" b="0" i="1" lang="es-ES" baseline="-25000">
                <a:solidFill>
                  <a:srgbClr val="F4F1E6"/>
                </a:solidFill>
              </a:rPr>
              <a:t>1</a:t>
            </a:r>
            <a:r>
              <a:rPr sz="2600" b="0" i="1" lang="es-ES">
                <a:solidFill>
                  <a:srgbClr val="F4F1E6"/>
                </a:solidFill>
              </a:rPr>
              <a:t> / C</a:t>
            </a:r>
            <a:r>
              <a:rPr sz="2600" b="0" i="1" lang="es-ES" baseline="-25000">
                <a:solidFill>
                  <a:srgbClr val="F4F1E6"/>
                </a:solidFill>
              </a:rPr>
              <a:t>2</a:t>
            </a:r>
            <a:r>
              <a:rPr sz="2600" b="0" i="1" lang="es-ES">
                <a:solidFill>
                  <a:srgbClr val="F4F1E6"/>
                </a:solidFill>
              </a:rPr>
              <a:t>) / Δt</a:t>
            </a:r>
          </a:p>
        </p:txBody>
      </p:sp>
      <p:pic>
        <p:nvPicPr>
          <p:cNvPr id="8" name="Loro robótico con bata señalando la pizarra" descr="Loro robótico con bata señalando la pizarr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269" y="2540000"/>
            <a:ext cx="2205463" cy="3670300"/>
          </a:xfrm>
          <a:prstGeom prst="rect">
            <a:avLst/>
          </a:prstGeom>
        </p:spPr>
      </p:pic>
      <p:sp>
        <p:nvSpPr>
          <p:cNvPr id="9" name="Bocadillo"/>
          <p:cNvSpPr/>
          <p:nvPr/>
        </p:nvSpPr>
        <p:spPr>
          <a:xfrm>
            <a:off x="3302000" y="4254500"/>
            <a:ext cx="3556000" cy="889000"/>
          </a:xfrm>
          <a:prstGeom prst="wedgeRoundRectCallout">
            <a:avLst>
              <a:gd name="adj1" fmla="val -76428"/>
              <a:gd name="adj2" fmla="val -124285"/>
              <a:gd name="adj3" fmla="val 16667"/>
            </a:avLst>
          </a:prstGeom>
          <a:solidFill>
            <a:srgbClr val="FFFFFF"/>
          </a:solidFill>
          <a:ln w="28575">
            <a:solidFill>
              <a:srgbClr val="263445"/>
            </a:solidFill>
          </a:ln>
        </p:spPr>
        <p:txBody>
          <a:bodyPr rtlCol="0" anchor="ctr" wrap="square" lIns="177800" tIns="63500" rIns="177800" bIns="63500">
            <a:noAutofit/>
          </a:bodyPr>
          <a:lstStyle/>
          <a:p>
            <a:pPr algn="l"/>
            <a:r>
              <a:rPr sz="2200" b="0" i="1" lang="es-ES">
                <a:solidFill>
                  <a:srgbClr val="263445"/>
                </a:solidFill>
              </a:rPr>
              <a:t>aclaramiento… volumen de distribución… semivida…</a:t>
            </a:r>
          </a:p>
        </p:txBody>
      </p:sp>
      <p:pic>
        <p:nvPicPr>
          <p:cNvPr id="10" name="Calculadora boca abajo" descr="Calculadora boca abaj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5164166" y="5461000"/>
            <a:ext cx="530167" cy="711200"/>
          </a:xfrm>
          <a:prstGeom prst="rect">
            <a:avLst/>
          </a:prstGeom>
        </p:spPr>
      </p:pic>
      <p:sp>
        <p:nvSpPr>
          <p:cNvPr id="11" name="Tarjeta dato"/>
          <p:cNvSpPr/>
          <p:nvPr/>
        </p:nvSpPr>
        <p:spPr>
          <a:xfrm>
            <a:off x="7116233" y="2016125"/>
            <a:ext cx="4567767" cy="4064000"/>
          </a:xfrm>
          <a:prstGeom prst="roundRect">
            <a:avLst>
              <a:gd name="adj" fmla="val 2812"/>
            </a:avLst>
          </a:prstGeom>
          <a:solidFill>
            <a:srgbClr val="F8EA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Cifra"/>
          <p:cNvSpPr txBox="1"/>
          <p:nvPr/>
        </p:nvSpPr>
        <p:spPr>
          <a:xfrm>
            <a:off x="7421033" y="2168525"/>
            <a:ext cx="3958167" cy="13589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000" b="1" i="0" lang="es-ES">
                <a:solidFill>
                  <a:srgbClr val="AD3B94"/>
                </a:solidFill>
              </a:rPr>
              <a:t>37 %</a:t>
            </a:r>
          </a:p>
        </p:txBody>
      </p:sp>
      <p:sp>
        <p:nvSpPr>
          <p:cNvPr id="13" name="Lectura"/>
          <p:cNvSpPr txBox="1"/>
          <p:nvPr/>
        </p:nvSpPr>
        <p:spPr>
          <a:xfrm>
            <a:off x="7421033" y="3603625"/>
            <a:ext cx="3958167" cy="1358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 i="0" lang="es-ES">
                <a:solidFill>
                  <a:srgbClr val="263445"/>
                </a:solidFill>
              </a:rPr>
              <a:t>de las predicciones de valle de vancomicina de ChatGPT quedaron a ±2 mg/L del valor medido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421033" y="5076825"/>
            <a:ext cx="3958167" cy="0"/>
          </a:xfrm>
          <a:prstGeom prst="line">
            <a:avLst/>
          </a:prstGeom>
          <a:ln w="19050">
            <a:solidFill>
              <a:srgbClr val="DDB7D3"/>
            </a:solidFill>
          </a:ln>
        </p:spPr>
      </p:cxnSp>
      <p:sp>
        <p:nvSpPr>
          <p:cNvPr id="15" name="Detalle"/>
          <p:cNvSpPr txBox="1"/>
          <p:nvPr/>
        </p:nvSpPr>
        <p:spPr>
          <a:xfrm>
            <a:off x="7421033" y="5191125"/>
            <a:ext cx="3958167" cy="698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0" i="0" lang="es-ES">
                <a:solidFill>
                  <a:srgbClr val="5E6B78"/>
                </a:solidFill>
              </a:rPr>
              <a:t>717 predicciones · 239 ingresos en UCI · Grok: 29 %</a:t>
            </a:r>
          </a:p>
        </p:txBody>
      </p:sp>
      <p:sp>
        <p:nvSpPr>
          <p:cNvPr id="16" name="Fuente"/>
          <p:cNvSpPr txBox="1"/>
          <p:nvPr/>
        </p:nvSpPr>
        <p:spPr>
          <a:xfrm>
            <a:off x="508000" y="6337300"/>
            <a:ext cx="11176000" cy="2413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/>
            <a:r>
              <a:rPr sz="1200" b="0" i="0" lang="es-ES">
                <a:solidFill>
                  <a:srgbClr val="5E6B78"/>
                </a:solidFill>
              </a:rPr>
              <a:t>Ishaqui et al., Expert Rev Anti Infect Ther,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ular"/>
          <p:cNvSpPr txBox="1"/>
          <p:nvPr/>
        </p:nvSpPr>
        <p:spPr>
          <a:xfrm>
            <a:off x="508000" y="749300"/>
            <a:ext cx="11176000" cy="952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2000"/>
              </a:lnSpc>
            </a:pPr>
            <a:r>
              <a:rPr sz="3200" b="0" i="0" lang="es-ES">
                <a:solidFill>
                  <a:srgbClr val="263445"/>
                </a:solidFill>
              </a:rPr>
              <a:t>No todo lo que calcula es inteligencia artificial.</a:t>
            </a:r>
          </a:p>
        </p:txBody>
      </p:sp>
      <p:sp>
        <p:nvSpPr>
          <p:cNvPr id="3" name="Pregunta guía"/>
          <p:cNvSpPr/>
          <p:nvPr/>
        </p:nvSpPr>
        <p:spPr>
          <a:xfrm>
            <a:off x="508000" y="1828800"/>
            <a:ext cx="11176000" cy="444500"/>
          </a:xfrm>
          <a:prstGeom prst="roundRect">
            <a:avLst>
              <a:gd name="adj" fmla="val 50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/>
            <a:r>
              <a:rPr sz="2400" b="1" i="0" lang="es-ES">
                <a:solidFill>
                  <a:srgbClr val="007F7E"/>
                </a:solidFill>
              </a:rPr>
              <a:t>¿Quién decide la forma del modelo: una persona o los datos?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2438400"/>
            <a:ext cx="5511800" cy="2921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400" b="1" i="0" lang="es-ES">
                <a:solidFill>
                  <a:srgbClr val="2F5480"/>
                </a:solidFill>
              </a:rPr>
              <a:t>La decide una persona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2438400"/>
            <a:ext cx="5511800" cy="2921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400" b="1" i="0" lang="es-ES">
                <a:solidFill>
                  <a:srgbClr val="8E2F79"/>
                </a:solidFill>
              </a:rPr>
              <a:t>La aprenden los datos</a:t>
            </a:r>
          </a:p>
        </p:txBody>
      </p:sp>
      <p:cxnSp>
        <p:nvCxnSpPr>
          <p:cNvPr id="6" name="Separador"/>
          <p:cNvCxnSpPr/>
          <p:nvPr/>
        </p:nvCxnSpPr>
        <p:spPr>
          <a:xfrm>
            <a:off x="6096000" y="2489200"/>
            <a:ext cx="0" cy="3638550"/>
          </a:xfrm>
          <a:prstGeom prst="line">
            <a:avLst/>
          </a:prstGeom>
          <a:ln w="19050">
            <a:solidFill>
              <a:srgbClr val="C9D2DB"/>
            </a:solidFill>
            <a:prstDash val="dash"/>
          </a:ln>
        </p:spPr>
      </p:cxnSp>
      <p:sp>
        <p:nvSpPr>
          <p:cNvPr id="7" name="Tarjeta 1"/>
          <p:cNvSpPr/>
          <p:nvPr/>
        </p:nvSpPr>
        <p:spPr>
          <a:xfrm>
            <a:off x="508000" y="2857500"/>
            <a:ext cx="5359400" cy="952500"/>
          </a:xfrm>
          <a:prstGeom prst="roundRect">
            <a:avLst>
              <a:gd name="adj" fmla="val 10666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ondo icono-curva-color"/>
          <p:cNvSpPr/>
          <p:nvPr/>
        </p:nvSpPr>
        <p:spPr>
          <a:xfrm>
            <a:off x="723900" y="2978150"/>
            <a:ext cx="711200" cy="711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icono-curva-color" descr="icono-curva-colo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692" y="3105629"/>
            <a:ext cx="483616" cy="45624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625600" y="2857500"/>
            <a:ext cx="4089400" cy="952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200" b="1" i="0" lang="es-ES">
                <a:solidFill>
                  <a:srgbClr val="263445"/>
                </a:solidFill>
              </a:rPr>
              <a:t>Modelos poblacionales y estimación bayesiana</a:t>
            </a:r>
          </a:p>
        </p:txBody>
      </p:sp>
      <p:sp>
        <p:nvSpPr>
          <p:cNvPr id="11" name="Tarjeta 2"/>
          <p:cNvSpPr/>
          <p:nvPr/>
        </p:nvSpPr>
        <p:spPr>
          <a:xfrm>
            <a:off x="508000" y="3962400"/>
            <a:ext cx="5359400" cy="952500"/>
          </a:xfrm>
          <a:prstGeom prst="roundRect">
            <a:avLst>
              <a:gd name="adj" fmla="val 10666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ondo icono-calculadora"/>
          <p:cNvSpPr/>
          <p:nvPr/>
        </p:nvSpPr>
        <p:spPr>
          <a:xfrm>
            <a:off x="723900" y="4083050"/>
            <a:ext cx="711200" cy="711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icono-calculadora" descr="icono-calculador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243" y="4196842"/>
            <a:ext cx="360514" cy="4836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25600" y="3962400"/>
            <a:ext cx="4089400" cy="952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200" b="1" i="0" lang="es-ES">
                <a:solidFill>
                  <a:srgbClr val="263445"/>
                </a:solidFill>
              </a:rPr>
              <a:t>Calculadoras y nomogramas</a:t>
            </a:r>
          </a:p>
        </p:txBody>
      </p:sp>
      <p:sp>
        <p:nvSpPr>
          <p:cNvPr id="15" name="Tarjeta 3"/>
          <p:cNvSpPr/>
          <p:nvPr/>
        </p:nvSpPr>
        <p:spPr>
          <a:xfrm>
            <a:off x="508000" y="5067300"/>
            <a:ext cx="5359400" cy="952500"/>
          </a:xfrm>
          <a:prstGeom prst="roundRect">
            <a:avLst>
              <a:gd name="adj" fmla="val 10666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Fondo icono-engranaje"/>
          <p:cNvSpPr/>
          <p:nvPr/>
        </p:nvSpPr>
        <p:spPr>
          <a:xfrm>
            <a:off x="723900" y="5187950"/>
            <a:ext cx="711200" cy="711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icono-engranaje" descr="icono-engranaj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692" y="5360317"/>
            <a:ext cx="483616" cy="366467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25600" y="5067300"/>
            <a:ext cx="4089400" cy="952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200" b="1" i="0" lang="es-ES">
                <a:solidFill>
                  <a:srgbClr val="263445"/>
                </a:solidFill>
              </a:rPr>
              <a:t>Automatizaciones por reglas</a:t>
            </a:r>
          </a:p>
        </p:txBody>
      </p:sp>
      <p:sp>
        <p:nvSpPr>
          <p:cNvPr id="19" name="Círculo"/>
          <p:cNvSpPr/>
          <p:nvPr/>
        </p:nvSpPr>
        <p:spPr>
          <a:xfrm>
            <a:off x="6172200" y="3111500"/>
            <a:ext cx="2819400" cy="2819400"/>
          </a:xfrm>
          <a:prstGeom prst="ellipse">
            <a:avLst/>
          </a:prstGeom>
          <a:solidFill>
            <a:srgbClr val="C3BF24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Círculo"/>
          <p:cNvSpPr/>
          <p:nvPr/>
        </p:nvSpPr>
        <p:spPr>
          <a:xfrm>
            <a:off x="6629400" y="3568700"/>
            <a:ext cx="1905000" cy="1905000"/>
          </a:xfrm>
          <a:prstGeom prst="ellipse">
            <a:avLst/>
          </a:prstGeom>
          <a:solidFill>
            <a:srgbClr val="3A8AA6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Círculo"/>
          <p:cNvSpPr/>
          <p:nvPr/>
        </p:nvSpPr>
        <p:spPr>
          <a:xfrm>
            <a:off x="7073900" y="4013200"/>
            <a:ext cx="1016000" cy="1016000"/>
          </a:xfrm>
          <a:prstGeom prst="ellipse">
            <a:avLst/>
          </a:prstGeom>
          <a:solidFill>
            <a:srgbClr val="AD3B94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Marca"/>
          <p:cNvSpPr/>
          <p:nvPr/>
        </p:nvSpPr>
        <p:spPr>
          <a:xfrm>
            <a:off x="8286750" y="3575050"/>
            <a:ext cx="114300" cy="1143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6344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401050" y="3632200"/>
            <a:ext cx="565150" cy="0"/>
          </a:xfrm>
          <a:prstGeom prst="line">
            <a:avLst/>
          </a:prstGeom>
          <a:ln w="19050">
            <a:solidFill>
              <a:srgbClr val="263445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9042400" y="3302000"/>
            <a:ext cx="26416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 lang="es-ES">
                <a:solidFill>
                  <a:srgbClr val="77730E"/>
                </a:solidFill>
              </a:rPr>
              <a:t>Aprendizaje automático</a:t>
            </a:r>
          </a:p>
        </p:txBody>
      </p:sp>
      <p:sp>
        <p:nvSpPr>
          <p:cNvPr id="25" name="Marca"/>
          <p:cNvSpPr/>
          <p:nvPr/>
        </p:nvSpPr>
        <p:spPr>
          <a:xfrm>
            <a:off x="8255000" y="4425950"/>
            <a:ext cx="114300" cy="1143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6344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8369300" y="4483100"/>
            <a:ext cx="596900" cy="0"/>
          </a:xfrm>
          <a:prstGeom prst="line">
            <a:avLst/>
          </a:prstGeom>
          <a:ln w="19050">
            <a:solidFill>
              <a:srgbClr val="263445"/>
            </a:solidFill>
          </a:ln>
        </p:spPr>
      </p:cxnSp>
      <p:sp>
        <p:nvSpPr>
          <p:cNvPr id="27" name="TextBox 26"/>
          <p:cNvSpPr txBox="1"/>
          <p:nvPr/>
        </p:nvSpPr>
        <p:spPr>
          <a:xfrm>
            <a:off x="9042400" y="4152900"/>
            <a:ext cx="26416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 lang="es-ES">
                <a:solidFill>
                  <a:srgbClr val="2B6C85"/>
                </a:solidFill>
              </a:rPr>
              <a:t>Aprendizaje profundo</a:t>
            </a:r>
          </a:p>
          <a:p>
            <a:pPr algn="l"/>
            <a:r>
              <a:rPr sz="2000" b="1" i="0" lang="es-ES">
                <a:solidFill>
                  <a:srgbClr val="2B6C85"/>
                </a:solidFill>
              </a:rPr>
              <a:t>(redes neuronales)</a:t>
            </a:r>
          </a:p>
        </p:txBody>
      </p:sp>
      <p:sp>
        <p:nvSpPr>
          <p:cNvPr id="28" name="Marca"/>
          <p:cNvSpPr/>
          <p:nvPr/>
        </p:nvSpPr>
        <p:spPr>
          <a:xfrm>
            <a:off x="7715250" y="4718050"/>
            <a:ext cx="114300" cy="1143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6344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7810500" y="4813300"/>
            <a:ext cx="787400" cy="571500"/>
          </a:xfrm>
          <a:prstGeom prst="line">
            <a:avLst/>
          </a:prstGeom>
          <a:ln w="19050">
            <a:solidFill>
              <a:srgbClr val="263445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8597900" y="5384800"/>
            <a:ext cx="368300" cy="0"/>
          </a:xfrm>
          <a:prstGeom prst="line">
            <a:avLst/>
          </a:prstGeom>
          <a:ln w="19050">
            <a:solidFill>
              <a:srgbClr val="263445"/>
            </a:solidFill>
          </a:ln>
        </p:spPr>
      </p:cxnSp>
      <p:sp>
        <p:nvSpPr>
          <p:cNvPr id="31" name="TextBox 30"/>
          <p:cNvSpPr txBox="1"/>
          <p:nvPr/>
        </p:nvSpPr>
        <p:spPr>
          <a:xfrm>
            <a:off x="9042400" y="5054600"/>
            <a:ext cx="26416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 lang="es-ES">
                <a:solidFill>
                  <a:srgbClr val="8E2F79"/>
                </a:solidFill>
              </a:rPr>
              <a:t>Modelos de lenguaje</a:t>
            </a:r>
          </a:p>
          <a:p>
            <a:pPr algn="l"/>
            <a:r>
              <a:rPr sz="2000" b="1" i="0" lang="es-ES">
                <a:solidFill>
                  <a:srgbClr val="8E2F79"/>
                </a:solidFill>
              </a:rPr>
              <a:t>(IA generativa)</a:t>
            </a:r>
          </a:p>
        </p:txBody>
      </p:sp>
      <p:sp>
        <p:nvSpPr>
          <p:cNvPr id="32" name="Fuente"/>
          <p:cNvSpPr txBox="1"/>
          <p:nvPr/>
        </p:nvSpPr>
        <p:spPr>
          <a:xfrm>
            <a:off x="508000" y="6337300"/>
            <a:ext cx="11176000" cy="2413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/>
            <a:r>
              <a:rPr sz="1200" b="0" i="0" lang="es-ES">
                <a:solidFill>
                  <a:srgbClr val="5E6B78"/>
                </a:solidFill>
              </a:rPr>
              <a:t>Keutzer et al., Pharmaceutics, 2022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ular"/>
          <p:cNvSpPr txBox="1"/>
          <p:nvPr/>
        </p:nvSpPr>
        <p:spPr>
          <a:xfrm>
            <a:off x="508000" y="749300"/>
            <a:ext cx="11176000" cy="952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2000"/>
              </a:lnSpc>
            </a:pPr>
            <a:r>
              <a:rPr sz="3200" b="0" i="0" lang="es-ES">
                <a:solidFill>
                  <a:srgbClr val="263445"/>
                </a:solidFill>
              </a:rPr>
              <a:t>Treinta años de estudios: predice parecido al bayesiano, pero apenas ha llegado al día a día.</a:t>
            </a:r>
          </a:p>
        </p:txBody>
      </p:sp>
      <p:cxnSp>
        <p:nvCxnSpPr>
          <p:cNvPr id="3" name="Línea de tiempo"/>
          <p:cNvCxnSpPr/>
          <p:nvPr/>
        </p:nvCxnSpPr>
        <p:spPr>
          <a:xfrm>
            <a:off x="508000" y="1981200"/>
            <a:ext cx="11176000" cy="0"/>
          </a:xfrm>
          <a:prstGeom prst="line">
            <a:avLst/>
          </a:prstGeom>
          <a:ln w="25400">
            <a:solidFill>
              <a:srgbClr val="263445"/>
            </a:solidFill>
            <a:tailEnd type="triangle" w="med" len="med"/>
          </a:ln>
        </p:spPr>
      </p:cxnSp>
      <p:sp>
        <p:nvSpPr>
          <p:cNvPr id="4" name="Hito 1995"/>
          <p:cNvSpPr/>
          <p:nvPr/>
        </p:nvSpPr>
        <p:spPr>
          <a:xfrm>
            <a:off x="514350" y="1898650"/>
            <a:ext cx="165100" cy="1651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26344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o 1995"/>
          <p:cNvSpPr txBox="1"/>
          <p:nvPr/>
        </p:nvSpPr>
        <p:spPr>
          <a:xfrm>
            <a:off x="508000" y="2146300"/>
            <a:ext cx="5511800" cy="825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400" b="1" i="0" lang="es-ES">
                <a:solidFill>
                  <a:srgbClr val="263445"/>
                </a:solidFill>
              </a:rPr>
              <a:t>1995</a:t>
            </a:r>
            <a:r>
              <a:rPr sz="2000" b="0" i="0" lang="es-ES">
                <a:solidFill>
                  <a:srgbClr val="263445"/>
                </a:solidFill>
              </a:rPr>
              <a:t> · Red neuronal frente a NONMEM (gentamicina, 111 pacientes)</a:t>
            </a:r>
          </a:p>
        </p:txBody>
      </p:sp>
      <p:sp>
        <p:nvSpPr>
          <p:cNvPr id="6" name="Hito 2025"/>
          <p:cNvSpPr/>
          <p:nvPr/>
        </p:nvSpPr>
        <p:spPr>
          <a:xfrm>
            <a:off x="11220450" y="1898650"/>
            <a:ext cx="165100" cy="1651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26344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o 2025"/>
          <p:cNvSpPr txBox="1"/>
          <p:nvPr/>
        </p:nvSpPr>
        <p:spPr>
          <a:xfrm>
            <a:off x="6172200" y="2146300"/>
            <a:ext cx="5511800" cy="825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sz="2400" b="1" i="0" lang="es-ES">
                <a:solidFill>
                  <a:srgbClr val="263445"/>
                </a:solidFill>
              </a:rPr>
              <a:t>2025</a:t>
            </a:r>
            <a:r>
              <a:rPr sz="2000" b="0" i="0" lang="es-ES">
                <a:solidFill>
                  <a:srgbClr val="263445"/>
                </a:solidFill>
              </a:rPr>
              <a:t> · 58 estudios: el aprendizaje automático rinde igual o mejor que los modelos poblacionales</a:t>
            </a:r>
          </a:p>
        </p:txBody>
      </p:sp>
      <p:sp>
        <p:nvSpPr>
          <p:cNvPr id="8" name="Tarjeta sin concentraciones"/>
          <p:cNvSpPr/>
          <p:nvPr/>
        </p:nvSpPr>
        <p:spPr>
          <a:xfrm>
            <a:off x="508000" y="3022600"/>
            <a:ext cx="5511800" cy="2324100"/>
          </a:xfrm>
          <a:prstGeom prst="roundRect">
            <a:avLst>
              <a:gd name="adj" fmla="val 4918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Gotero vacío" descr="Gotero vací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641" y="3200400"/>
            <a:ext cx="224118" cy="533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19200" y="3213100"/>
            <a:ext cx="4622800" cy="5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400" b="1" i="0" lang="es-ES">
                <a:solidFill>
                  <a:srgbClr val="263445"/>
                </a:solidFill>
              </a:rPr>
              <a:t>Sin concentraciones del paciente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3886200"/>
            <a:ext cx="5003800" cy="127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 i="0" lang="es-ES">
                <a:solidFill>
                  <a:srgbClr val="263445"/>
                </a:solidFill>
              </a:rPr>
              <a:t>El modelo híbrido mejora un </a:t>
            </a:r>
            <a:r>
              <a:rPr sz="2200" b="1" i="0" lang="es-ES">
                <a:solidFill>
                  <a:srgbClr val="AD3B94"/>
                </a:solidFill>
              </a:rPr>
              <a:t>17 %</a:t>
            </a:r>
            <a:r>
              <a:rPr sz="2200" b="0" i="0" lang="es-ES">
                <a:solidFill>
                  <a:srgbClr val="263445"/>
                </a:solidFill>
              </a:rPr>
              <a:t> el error del bayesiano · vancomicina en sepsis, 4059 pacientes</a:t>
            </a:r>
          </a:p>
        </p:txBody>
      </p:sp>
      <p:sp>
        <p:nvSpPr>
          <p:cNvPr id="12" name="Tarjeta con concentraciones"/>
          <p:cNvSpPr/>
          <p:nvPr/>
        </p:nvSpPr>
        <p:spPr>
          <a:xfrm>
            <a:off x="6172200" y="3022600"/>
            <a:ext cx="5511800" cy="2324100"/>
          </a:xfrm>
          <a:prstGeom prst="roundRect">
            <a:avLst>
              <a:gd name="adj" fmla="val 4918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Tubo de análisis" descr="Tubo de análisi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8238" y="3200400"/>
            <a:ext cx="235324" cy="533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883400" y="3213100"/>
            <a:ext cx="4622800" cy="5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400" b="1" i="0" lang="es-ES">
                <a:solidFill>
                  <a:srgbClr val="263445"/>
                </a:solidFill>
              </a:rPr>
              <a:t>Con concentraciones del paciente</a:t>
            </a:r>
          </a:p>
        </p:txBody>
      </p:sp>
      <p:sp>
        <p:nvSpPr>
          <p:cNvPr id="15" name="Marca color"/>
          <p:cNvSpPr/>
          <p:nvPr/>
        </p:nvSpPr>
        <p:spPr>
          <a:xfrm>
            <a:off x="6426200" y="3924300"/>
            <a:ext cx="127000" cy="127000"/>
          </a:xfrm>
          <a:prstGeom prst="ellipse">
            <a:avLst/>
          </a:prstGeom>
          <a:solidFill>
            <a:srgbClr val="5BB46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54800" y="3860800"/>
            <a:ext cx="4775200" cy="635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1" i="0" lang="es-ES">
                <a:solidFill>
                  <a:srgbClr val="2F8541"/>
                </a:solidFill>
              </a:rPr>
              <a:t>Gana el bayesiano: </a:t>
            </a:r>
            <a:r>
              <a:rPr sz="2200" b="0" i="0" lang="es-ES">
                <a:solidFill>
                  <a:srgbClr val="2F8541"/>
                </a:solidFill>
              </a:rPr>
              <a:t>13 % de error frente a 34 %</a:t>
            </a:r>
          </a:p>
        </p:txBody>
      </p:sp>
      <p:sp>
        <p:nvSpPr>
          <p:cNvPr id="17" name="Marca color"/>
          <p:cNvSpPr/>
          <p:nvPr/>
        </p:nvSpPr>
        <p:spPr>
          <a:xfrm>
            <a:off x="6426200" y="4635500"/>
            <a:ext cx="127000" cy="127000"/>
          </a:xfrm>
          <a:prstGeom prst="ellipse">
            <a:avLst/>
          </a:prstGeom>
          <a:solidFill>
            <a:srgbClr val="AD3B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54800" y="4572000"/>
            <a:ext cx="4775200" cy="635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1" i="0" lang="es-ES">
                <a:solidFill>
                  <a:srgbClr val="8E2F79"/>
                </a:solidFill>
              </a:rPr>
              <a:t>Gana el aprendizaje automático: </a:t>
            </a:r>
            <a:r>
              <a:rPr sz="2200" b="0" i="0" lang="es-ES">
                <a:solidFill>
                  <a:srgbClr val="8E2F79"/>
                </a:solidFill>
              </a:rPr>
              <a:t>ABC de tacrolimus en 6 series externas</a:t>
            </a:r>
          </a:p>
        </p:txBody>
      </p:sp>
      <p:sp>
        <p:nvSpPr>
          <p:cNvPr id="19" name="Franja"/>
          <p:cNvSpPr/>
          <p:nvPr/>
        </p:nvSpPr>
        <p:spPr>
          <a:xfrm>
            <a:off x="508000" y="5473700"/>
            <a:ext cx="11176000" cy="4445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5E6B78"/>
            </a:solidFill>
            <a:prstDash val="dash"/>
          </a:ln>
        </p:spPr>
        <p:txBody>
          <a:bodyPr rtlCol="0" anchor="ctr" wrap="square" lIns="0" tIns="0" rIns="0" bIns="0">
            <a:noAutofit/>
          </a:bodyPr>
          <a:lstStyle/>
          <a:p>
            <a:pPr algn="ctr"/>
            <a:r>
              <a:rPr sz="2200" b="1" i="0" lang="es-ES">
                <a:solidFill>
                  <a:srgbClr val="5E6B78"/>
                </a:solidFill>
              </a:rPr>
              <a:t>Casi todo retrospectivo · La IA y los híbridos siguen en investigación</a:t>
            </a:r>
          </a:p>
        </p:txBody>
      </p:sp>
      <p:sp>
        <p:nvSpPr>
          <p:cNvPr id="20" name="Fuente"/>
          <p:cNvSpPr txBox="1"/>
          <p:nvPr/>
        </p:nvSpPr>
        <p:spPr>
          <a:xfrm>
            <a:off x="508000" y="6223000"/>
            <a:ext cx="11176000" cy="3556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/>
            <a:r>
              <a:rPr sz="1200" b="0" i="0" lang="es-ES">
                <a:solidFill>
                  <a:srgbClr val="5E6B78"/>
                </a:solidFill>
              </a:rPr>
              <a:t>Brier et al., Pharm Res, 1995 · Methaneethorn et al., Clin Pharmacokinet, 2025 · Chen et al., Microbiol Spectr, 2025 · Woillard et al., Clin Pharmacol Ther, 2021 · Altynova et al., Pharmaceuticals,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ular"/>
          <p:cNvSpPr txBox="1"/>
          <p:nvPr/>
        </p:nvSpPr>
        <p:spPr>
          <a:xfrm>
            <a:off x="508000" y="749300"/>
            <a:ext cx="11176000" cy="952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2000"/>
              </a:lnSpc>
            </a:pPr>
            <a:r>
              <a:rPr sz="3200" b="0" i="0" lang="es-ES">
                <a:solidFill>
                  <a:srgbClr val="263445"/>
                </a:solidFill>
              </a:rPr>
              <a:t>Predecir bien no es lo mismo que mejorar al paciente.</a:t>
            </a:r>
          </a:p>
        </p:txBody>
      </p:sp>
      <p:sp>
        <p:nvSpPr>
          <p:cNvPr id="3" name="Peldaño 1"/>
          <p:cNvSpPr/>
          <p:nvPr/>
        </p:nvSpPr>
        <p:spPr>
          <a:xfrm>
            <a:off x="508000" y="5314950"/>
            <a:ext cx="7399867" cy="812800"/>
          </a:xfrm>
          <a:prstGeom prst="rect">
            <a:avLst/>
          </a:prstGeom>
          <a:solidFill>
            <a:srgbClr val="E9EEF3"/>
          </a:solidFill>
          <a:ln w="254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ótulo peldaño 1"/>
          <p:cNvSpPr txBox="1"/>
          <p:nvPr/>
        </p:nvSpPr>
        <p:spPr>
          <a:xfrm>
            <a:off x="647700" y="5353050"/>
            <a:ext cx="7120467" cy="736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 lang="es-ES">
                <a:solidFill>
                  <a:srgbClr val="263445"/>
                </a:solidFill>
              </a:rPr>
              <a:t>Estudio retrospectivo</a:t>
            </a:r>
          </a:p>
        </p:txBody>
      </p:sp>
      <p:sp>
        <p:nvSpPr>
          <p:cNvPr id="5" name="Peldaño 2"/>
          <p:cNvSpPr/>
          <p:nvPr/>
        </p:nvSpPr>
        <p:spPr>
          <a:xfrm>
            <a:off x="1460500" y="4502150"/>
            <a:ext cx="6447367" cy="812800"/>
          </a:xfrm>
          <a:prstGeom prst="rect">
            <a:avLst/>
          </a:prstGeom>
          <a:solidFill>
            <a:srgbClr val="DEE5EC"/>
          </a:solidFill>
          <a:ln w="254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ótulo peldaño 2"/>
          <p:cNvSpPr txBox="1"/>
          <p:nvPr/>
        </p:nvSpPr>
        <p:spPr>
          <a:xfrm>
            <a:off x="1600200" y="4540250"/>
            <a:ext cx="6167967" cy="736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 lang="es-ES">
                <a:solidFill>
                  <a:srgbClr val="263445"/>
                </a:solidFill>
              </a:rPr>
              <a:t>Validación externa</a:t>
            </a:r>
            <a:r>
              <a:rPr sz="2000" b="0" i="0" lang="es-ES">
                <a:solidFill>
                  <a:srgbClr val="263445"/>
                </a:solidFill>
              </a:rPr>
              <a:t>: 10 de 115 estudios de tacrolimus</a:t>
            </a:r>
          </a:p>
        </p:txBody>
      </p:sp>
      <p:sp>
        <p:nvSpPr>
          <p:cNvPr id="7" name="Peldaño 3"/>
          <p:cNvSpPr/>
          <p:nvPr/>
        </p:nvSpPr>
        <p:spPr>
          <a:xfrm>
            <a:off x="2413000" y="3689350"/>
            <a:ext cx="5494867" cy="812800"/>
          </a:xfrm>
          <a:prstGeom prst="rect">
            <a:avLst/>
          </a:prstGeom>
          <a:solidFill>
            <a:srgbClr val="D3DCE5"/>
          </a:solidFill>
          <a:ln w="254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ótulo peldaño 3"/>
          <p:cNvSpPr txBox="1"/>
          <p:nvPr/>
        </p:nvSpPr>
        <p:spPr>
          <a:xfrm>
            <a:off x="2552700" y="3727450"/>
            <a:ext cx="5215467" cy="736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 lang="es-ES">
                <a:solidFill>
                  <a:srgbClr val="263445"/>
                </a:solidFill>
              </a:rPr>
              <a:t>Estudio prospectivo</a:t>
            </a:r>
            <a:r>
              <a:rPr sz="2000" b="0" i="0" lang="es-ES">
                <a:solidFill>
                  <a:srgbClr val="263445"/>
                </a:solidFill>
              </a:rPr>
              <a:t>: pocos, pequeños, sin comparador (CURATE.AI: 10 pacientes)</a:t>
            </a:r>
          </a:p>
        </p:txBody>
      </p:sp>
      <p:sp>
        <p:nvSpPr>
          <p:cNvPr id="9" name="Peldaño 4"/>
          <p:cNvSpPr/>
          <p:nvPr/>
        </p:nvSpPr>
        <p:spPr>
          <a:xfrm>
            <a:off x="3365500" y="2876550"/>
            <a:ext cx="4542367" cy="812800"/>
          </a:xfrm>
          <a:prstGeom prst="rect">
            <a:avLst/>
          </a:prstGeom>
          <a:solidFill>
            <a:srgbClr val="C8D3DE"/>
          </a:solidFill>
          <a:ln w="254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ótulo peldaño 4"/>
          <p:cNvSpPr txBox="1"/>
          <p:nvPr/>
        </p:nvSpPr>
        <p:spPr>
          <a:xfrm>
            <a:off x="3505200" y="2914650"/>
            <a:ext cx="4262967" cy="736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 lang="es-ES">
                <a:solidFill>
                  <a:srgbClr val="263445"/>
                </a:solidFill>
              </a:rPr>
              <a:t>Ensayo con desenlace de proceso</a:t>
            </a:r>
          </a:p>
        </p:txBody>
      </p:sp>
      <p:sp>
        <p:nvSpPr>
          <p:cNvPr id="11" name="Peldaño 5"/>
          <p:cNvSpPr/>
          <p:nvPr/>
        </p:nvSpPr>
        <p:spPr>
          <a:xfrm>
            <a:off x="4318000" y="2063750"/>
            <a:ext cx="3589867" cy="812800"/>
          </a:xfrm>
          <a:prstGeom prst="rect">
            <a:avLst/>
          </a:prstGeom>
          <a:solidFill>
            <a:srgbClr val="BDCAD7"/>
          </a:solidFill>
          <a:ln w="254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ótulo peldaño 5"/>
          <p:cNvSpPr txBox="1"/>
          <p:nvPr/>
        </p:nvSpPr>
        <p:spPr>
          <a:xfrm>
            <a:off x="4457700" y="2101850"/>
            <a:ext cx="3310467" cy="736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 lang="es-ES">
                <a:solidFill>
                  <a:srgbClr val="263445"/>
                </a:solidFill>
              </a:rPr>
              <a:t>Ensayo con desenlace clínico</a:t>
            </a:r>
          </a:p>
        </p:txBody>
      </p:sp>
      <p:sp>
        <p:nvSpPr>
          <p:cNvPr id="13" name="Mancha"/>
          <p:cNvSpPr/>
          <p:nvPr/>
        </p:nvSpPr>
        <p:spPr>
          <a:xfrm>
            <a:off x="539750" y="4686935"/>
            <a:ext cx="889000" cy="653415"/>
          </a:xfrm>
          <a:prstGeom prst="ellipse">
            <a:avLst/>
          </a:prstGeom>
          <a:solidFill>
            <a:srgbClr val="F8EA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Estudio"/>
          <p:cNvSpPr/>
          <p:nvPr/>
        </p:nvSpPr>
        <p:spPr>
          <a:xfrm>
            <a:off x="909493" y="4847050"/>
            <a:ext cx="84198" cy="84198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Estudio"/>
          <p:cNvSpPr/>
          <p:nvPr/>
        </p:nvSpPr>
        <p:spPr>
          <a:xfrm>
            <a:off x="944823" y="5063799"/>
            <a:ext cx="89609" cy="89609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Estudio"/>
          <p:cNvSpPr/>
          <p:nvPr/>
        </p:nvSpPr>
        <p:spPr>
          <a:xfrm>
            <a:off x="718616" y="4961022"/>
            <a:ext cx="98748" cy="98748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Estudio"/>
          <p:cNvSpPr/>
          <p:nvPr/>
        </p:nvSpPr>
        <p:spPr>
          <a:xfrm>
            <a:off x="667407" y="5194886"/>
            <a:ext cx="76986" cy="76986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Estudio"/>
          <p:cNvSpPr/>
          <p:nvPr/>
        </p:nvSpPr>
        <p:spPr>
          <a:xfrm>
            <a:off x="670851" y="5122262"/>
            <a:ext cx="65362" cy="65362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Estudio"/>
          <p:cNvSpPr/>
          <p:nvPr/>
        </p:nvSpPr>
        <p:spPr>
          <a:xfrm>
            <a:off x="1261747" y="4952909"/>
            <a:ext cx="106383" cy="106383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Estudio"/>
          <p:cNvSpPr/>
          <p:nvPr/>
        </p:nvSpPr>
        <p:spPr>
          <a:xfrm>
            <a:off x="1057727" y="5144309"/>
            <a:ext cx="64167" cy="64167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Estudio"/>
          <p:cNvSpPr/>
          <p:nvPr/>
        </p:nvSpPr>
        <p:spPr>
          <a:xfrm>
            <a:off x="970640" y="5151731"/>
            <a:ext cx="66147" cy="66147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Estudio"/>
          <p:cNvSpPr/>
          <p:nvPr/>
        </p:nvSpPr>
        <p:spPr>
          <a:xfrm>
            <a:off x="729734" y="5207245"/>
            <a:ext cx="84122" cy="84122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Estudio"/>
          <p:cNvSpPr/>
          <p:nvPr/>
        </p:nvSpPr>
        <p:spPr>
          <a:xfrm>
            <a:off x="892993" y="5158656"/>
            <a:ext cx="100946" cy="100946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Estudio"/>
          <p:cNvSpPr/>
          <p:nvPr/>
        </p:nvSpPr>
        <p:spPr>
          <a:xfrm>
            <a:off x="950892" y="5076630"/>
            <a:ext cx="92946" cy="92946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Estudio"/>
          <p:cNvSpPr/>
          <p:nvPr/>
        </p:nvSpPr>
        <p:spPr>
          <a:xfrm>
            <a:off x="917055" y="5057792"/>
            <a:ext cx="75864" cy="75864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Estudio"/>
          <p:cNvSpPr/>
          <p:nvPr/>
        </p:nvSpPr>
        <p:spPr>
          <a:xfrm>
            <a:off x="1278062" y="4875734"/>
            <a:ext cx="94962" cy="94962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Estudio"/>
          <p:cNvSpPr/>
          <p:nvPr/>
        </p:nvSpPr>
        <p:spPr>
          <a:xfrm>
            <a:off x="820713" y="5205708"/>
            <a:ext cx="73709" cy="73709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Estudio"/>
          <p:cNvSpPr/>
          <p:nvPr/>
        </p:nvSpPr>
        <p:spPr>
          <a:xfrm>
            <a:off x="798925" y="4946461"/>
            <a:ext cx="81298" cy="81298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Estudio"/>
          <p:cNvSpPr/>
          <p:nvPr/>
        </p:nvSpPr>
        <p:spPr>
          <a:xfrm>
            <a:off x="1181597" y="5086267"/>
            <a:ext cx="80681" cy="80681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Estudio"/>
          <p:cNvSpPr/>
          <p:nvPr/>
        </p:nvSpPr>
        <p:spPr>
          <a:xfrm>
            <a:off x="1261964" y="5211790"/>
            <a:ext cx="72822" cy="72822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Estudio"/>
          <p:cNvSpPr/>
          <p:nvPr/>
        </p:nvSpPr>
        <p:spPr>
          <a:xfrm>
            <a:off x="1223419" y="5204619"/>
            <a:ext cx="84391" cy="84391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Estudio"/>
          <p:cNvSpPr/>
          <p:nvPr/>
        </p:nvSpPr>
        <p:spPr>
          <a:xfrm>
            <a:off x="1267941" y="5152331"/>
            <a:ext cx="91479" cy="91479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Estudio"/>
          <p:cNvSpPr/>
          <p:nvPr/>
        </p:nvSpPr>
        <p:spPr>
          <a:xfrm>
            <a:off x="1137507" y="5173586"/>
            <a:ext cx="75492" cy="75492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Estudio"/>
          <p:cNvSpPr/>
          <p:nvPr/>
        </p:nvSpPr>
        <p:spPr>
          <a:xfrm>
            <a:off x="652516" y="4983545"/>
            <a:ext cx="97195" cy="97195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Estudio"/>
          <p:cNvSpPr/>
          <p:nvPr/>
        </p:nvSpPr>
        <p:spPr>
          <a:xfrm>
            <a:off x="685043" y="4830217"/>
            <a:ext cx="74452" cy="74452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Estudio"/>
          <p:cNvSpPr/>
          <p:nvPr/>
        </p:nvSpPr>
        <p:spPr>
          <a:xfrm>
            <a:off x="674949" y="4930991"/>
            <a:ext cx="71398" cy="71398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Estudio"/>
          <p:cNvSpPr/>
          <p:nvPr/>
        </p:nvSpPr>
        <p:spPr>
          <a:xfrm>
            <a:off x="983221" y="5097232"/>
            <a:ext cx="83388" cy="83388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Estudio"/>
          <p:cNvSpPr/>
          <p:nvPr/>
        </p:nvSpPr>
        <p:spPr>
          <a:xfrm>
            <a:off x="726065" y="5195081"/>
            <a:ext cx="92113" cy="92113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Estudio"/>
          <p:cNvSpPr/>
          <p:nvPr/>
        </p:nvSpPr>
        <p:spPr>
          <a:xfrm>
            <a:off x="680150" y="5120092"/>
            <a:ext cx="82203" cy="82203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Estudio"/>
          <p:cNvSpPr/>
          <p:nvPr/>
        </p:nvSpPr>
        <p:spPr>
          <a:xfrm>
            <a:off x="737727" y="5145266"/>
            <a:ext cx="99212" cy="99212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Estudio"/>
          <p:cNvSpPr/>
          <p:nvPr/>
        </p:nvSpPr>
        <p:spPr>
          <a:xfrm>
            <a:off x="798517" y="4747486"/>
            <a:ext cx="102832" cy="102832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Estudio"/>
          <p:cNvSpPr/>
          <p:nvPr/>
        </p:nvSpPr>
        <p:spPr>
          <a:xfrm>
            <a:off x="739840" y="4940443"/>
            <a:ext cx="92030" cy="92030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Estudio"/>
          <p:cNvSpPr/>
          <p:nvPr/>
        </p:nvSpPr>
        <p:spPr>
          <a:xfrm>
            <a:off x="656421" y="4990223"/>
            <a:ext cx="107474" cy="107474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Estudio"/>
          <p:cNvSpPr/>
          <p:nvPr/>
        </p:nvSpPr>
        <p:spPr>
          <a:xfrm>
            <a:off x="748531" y="5197047"/>
            <a:ext cx="78122" cy="78122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Estudio"/>
          <p:cNvSpPr/>
          <p:nvPr/>
        </p:nvSpPr>
        <p:spPr>
          <a:xfrm>
            <a:off x="811188" y="4923351"/>
            <a:ext cx="66763" cy="66763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Estudio"/>
          <p:cNvSpPr/>
          <p:nvPr/>
        </p:nvSpPr>
        <p:spPr>
          <a:xfrm>
            <a:off x="658039" y="5095300"/>
            <a:ext cx="90227" cy="90227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Estudio"/>
          <p:cNvSpPr/>
          <p:nvPr/>
        </p:nvSpPr>
        <p:spPr>
          <a:xfrm>
            <a:off x="854442" y="5146076"/>
            <a:ext cx="83645" cy="83645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Estudio"/>
          <p:cNvSpPr/>
          <p:nvPr/>
        </p:nvSpPr>
        <p:spPr>
          <a:xfrm>
            <a:off x="1248116" y="4977457"/>
            <a:ext cx="102017" cy="102017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Estudio"/>
          <p:cNvSpPr/>
          <p:nvPr/>
        </p:nvSpPr>
        <p:spPr>
          <a:xfrm>
            <a:off x="731558" y="5193392"/>
            <a:ext cx="70351" cy="70351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Estudio"/>
          <p:cNvSpPr/>
          <p:nvPr/>
        </p:nvSpPr>
        <p:spPr>
          <a:xfrm>
            <a:off x="1228379" y="5161802"/>
            <a:ext cx="71937" cy="71937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Estudio"/>
          <p:cNvSpPr/>
          <p:nvPr/>
        </p:nvSpPr>
        <p:spPr>
          <a:xfrm>
            <a:off x="1095797" y="5080511"/>
            <a:ext cx="105301" cy="105301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Estudio"/>
          <p:cNvSpPr/>
          <p:nvPr/>
        </p:nvSpPr>
        <p:spPr>
          <a:xfrm>
            <a:off x="731008" y="4868959"/>
            <a:ext cx="90327" cy="90327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Estudio"/>
          <p:cNvSpPr/>
          <p:nvPr/>
        </p:nvSpPr>
        <p:spPr>
          <a:xfrm>
            <a:off x="896328" y="5108106"/>
            <a:ext cx="68116" cy="68116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Estudio"/>
          <p:cNvSpPr/>
          <p:nvPr/>
        </p:nvSpPr>
        <p:spPr>
          <a:xfrm>
            <a:off x="620479" y="5080968"/>
            <a:ext cx="94819" cy="94819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Estudio"/>
          <p:cNvSpPr/>
          <p:nvPr/>
        </p:nvSpPr>
        <p:spPr>
          <a:xfrm>
            <a:off x="767531" y="5171994"/>
            <a:ext cx="100114" cy="100114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Estudio"/>
          <p:cNvSpPr/>
          <p:nvPr/>
        </p:nvSpPr>
        <p:spPr>
          <a:xfrm>
            <a:off x="1002647" y="5174987"/>
            <a:ext cx="95520" cy="95520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Estudio"/>
          <p:cNvSpPr/>
          <p:nvPr/>
        </p:nvSpPr>
        <p:spPr>
          <a:xfrm>
            <a:off x="651691" y="5112073"/>
            <a:ext cx="73652" cy="73652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Estudio"/>
          <p:cNvSpPr/>
          <p:nvPr/>
        </p:nvSpPr>
        <p:spPr>
          <a:xfrm>
            <a:off x="986986" y="5071494"/>
            <a:ext cx="75956" cy="75956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Estudio"/>
          <p:cNvSpPr/>
          <p:nvPr/>
        </p:nvSpPr>
        <p:spPr>
          <a:xfrm>
            <a:off x="1234192" y="5025821"/>
            <a:ext cx="72567" cy="72567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Estudio"/>
          <p:cNvSpPr/>
          <p:nvPr/>
        </p:nvSpPr>
        <p:spPr>
          <a:xfrm>
            <a:off x="619623" y="5195949"/>
            <a:ext cx="66187" cy="66187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Estudio"/>
          <p:cNvSpPr/>
          <p:nvPr/>
        </p:nvSpPr>
        <p:spPr>
          <a:xfrm>
            <a:off x="722279" y="5026605"/>
            <a:ext cx="79893" cy="79893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Estudio"/>
          <p:cNvSpPr/>
          <p:nvPr/>
        </p:nvSpPr>
        <p:spPr>
          <a:xfrm>
            <a:off x="982193" y="5089781"/>
            <a:ext cx="103102" cy="103102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Estudio"/>
          <p:cNvSpPr/>
          <p:nvPr/>
        </p:nvSpPr>
        <p:spPr>
          <a:xfrm>
            <a:off x="1267422" y="5085480"/>
            <a:ext cx="92701" cy="92701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Estudio"/>
          <p:cNvSpPr/>
          <p:nvPr/>
        </p:nvSpPr>
        <p:spPr>
          <a:xfrm>
            <a:off x="1082860" y="5137592"/>
            <a:ext cx="65059" cy="65059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Estudio"/>
          <p:cNvSpPr/>
          <p:nvPr/>
        </p:nvSpPr>
        <p:spPr>
          <a:xfrm>
            <a:off x="601642" y="5151759"/>
            <a:ext cx="103959" cy="103959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Estudio"/>
          <p:cNvSpPr/>
          <p:nvPr/>
        </p:nvSpPr>
        <p:spPr>
          <a:xfrm>
            <a:off x="1076186" y="5170986"/>
            <a:ext cx="91778" cy="91778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Estudio"/>
          <p:cNvSpPr/>
          <p:nvPr/>
        </p:nvSpPr>
        <p:spPr>
          <a:xfrm>
            <a:off x="924082" y="5195226"/>
            <a:ext cx="95971" cy="95971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Estudio"/>
          <p:cNvSpPr/>
          <p:nvPr/>
        </p:nvSpPr>
        <p:spPr>
          <a:xfrm>
            <a:off x="816168" y="5139740"/>
            <a:ext cx="87774" cy="87774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Estudio"/>
          <p:cNvSpPr/>
          <p:nvPr/>
        </p:nvSpPr>
        <p:spPr>
          <a:xfrm>
            <a:off x="1095032" y="5199419"/>
            <a:ext cx="103514" cy="103514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Estudio"/>
          <p:cNvSpPr/>
          <p:nvPr/>
        </p:nvSpPr>
        <p:spPr>
          <a:xfrm>
            <a:off x="1094759" y="5112031"/>
            <a:ext cx="104172" cy="104172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Estudio"/>
          <p:cNvSpPr/>
          <p:nvPr/>
        </p:nvSpPr>
        <p:spPr>
          <a:xfrm>
            <a:off x="835660" y="4912847"/>
            <a:ext cx="93955" cy="93955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Estudio"/>
          <p:cNvSpPr/>
          <p:nvPr/>
        </p:nvSpPr>
        <p:spPr>
          <a:xfrm>
            <a:off x="1209824" y="5079284"/>
            <a:ext cx="98639" cy="98639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Estudio"/>
          <p:cNvSpPr/>
          <p:nvPr/>
        </p:nvSpPr>
        <p:spPr>
          <a:xfrm>
            <a:off x="1189039" y="5077952"/>
            <a:ext cx="88961" cy="88961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Estudio"/>
          <p:cNvSpPr/>
          <p:nvPr/>
        </p:nvSpPr>
        <p:spPr>
          <a:xfrm>
            <a:off x="1024666" y="5038680"/>
            <a:ext cx="90564" cy="90564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Estudio"/>
          <p:cNvSpPr/>
          <p:nvPr/>
        </p:nvSpPr>
        <p:spPr>
          <a:xfrm>
            <a:off x="650392" y="5052766"/>
            <a:ext cx="91922" cy="91922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Estudio"/>
          <p:cNvSpPr/>
          <p:nvPr/>
        </p:nvSpPr>
        <p:spPr>
          <a:xfrm>
            <a:off x="1282187" y="5009578"/>
            <a:ext cx="80766" cy="80766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Estudio"/>
          <p:cNvSpPr/>
          <p:nvPr/>
        </p:nvSpPr>
        <p:spPr>
          <a:xfrm>
            <a:off x="1100777" y="5017081"/>
            <a:ext cx="89323" cy="89323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Estudio"/>
          <p:cNvSpPr/>
          <p:nvPr/>
        </p:nvSpPr>
        <p:spPr>
          <a:xfrm>
            <a:off x="895037" y="5165218"/>
            <a:ext cx="96847" cy="96847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Estudio"/>
          <p:cNvSpPr/>
          <p:nvPr/>
        </p:nvSpPr>
        <p:spPr>
          <a:xfrm>
            <a:off x="616666" y="5145388"/>
            <a:ext cx="90227" cy="90227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Estudio"/>
          <p:cNvSpPr/>
          <p:nvPr/>
        </p:nvSpPr>
        <p:spPr>
          <a:xfrm>
            <a:off x="928389" y="5175747"/>
            <a:ext cx="85603" cy="85603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Estudio"/>
          <p:cNvSpPr/>
          <p:nvPr/>
        </p:nvSpPr>
        <p:spPr>
          <a:xfrm>
            <a:off x="1010569" y="4935853"/>
            <a:ext cx="104415" cy="104415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2" name="Estudio"/>
          <p:cNvSpPr/>
          <p:nvPr/>
        </p:nvSpPr>
        <p:spPr>
          <a:xfrm>
            <a:off x="769977" y="5059888"/>
            <a:ext cx="93643" cy="93643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Estudio"/>
          <p:cNvSpPr/>
          <p:nvPr/>
        </p:nvSpPr>
        <p:spPr>
          <a:xfrm>
            <a:off x="744756" y="5205630"/>
            <a:ext cx="71039" cy="71039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Estudio"/>
          <p:cNvSpPr/>
          <p:nvPr/>
        </p:nvSpPr>
        <p:spPr>
          <a:xfrm>
            <a:off x="1210925" y="5100648"/>
            <a:ext cx="103137" cy="103137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Estudio"/>
          <p:cNvSpPr/>
          <p:nvPr/>
        </p:nvSpPr>
        <p:spPr>
          <a:xfrm>
            <a:off x="819030" y="5048556"/>
            <a:ext cx="93099" cy="93099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Estudio"/>
          <p:cNvSpPr/>
          <p:nvPr/>
        </p:nvSpPr>
        <p:spPr>
          <a:xfrm>
            <a:off x="725417" y="4917699"/>
            <a:ext cx="104137" cy="104137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Estudio"/>
          <p:cNvSpPr/>
          <p:nvPr/>
        </p:nvSpPr>
        <p:spPr>
          <a:xfrm>
            <a:off x="1204745" y="5080537"/>
            <a:ext cx="80587" cy="80587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Estudio"/>
          <p:cNvSpPr/>
          <p:nvPr/>
        </p:nvSpPr>
        <p:spPr>
          <a:xfrm>
            <a:off x="998461" y="5171029"/>
            <a:ext cx="85568" cy="85568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Estudio"/>
          <p:cNvSpPr/>
          <p:nvPr/>
        </p:nvSpPr>
        <p:spPr>
          <a:xfrm>
            <a:off x="1164817" y="5116046"/>
            <a:ext cx="101226" cy="101226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Estudio"/>
          <p:cNvSpPr/>
          <p:nvPr/>
        </p:nvSpPr>
        <p:spPr>
          <a:xfrm>
            <a:off x="1093594" y="5084668"/>
            <a:ext cx="71018" cy="71018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1" name="Estudio"/>
          <p:cNvSpPr/>
          <p:nvPr/>
        </p:nvSpPr>
        <p:spPr>
          <a:xfrm>
            <a:off x="912540" y="5170932"/>
            <a:ext cx="75731" cy="75731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2" name="Mancha"/>
          <p:cNvSpPr/>
          <p:nvPr/>
        </p:nvSpPr>
        <p:spPr>
          <a:xfrm>
            <a:off x="1644650" y="4079875"/>
            <a:ext cx="584200" cy="447675"/>
          </a:xfrm>
          <a:prstGeom prst="ellipse">
            <a:avLst/>
          </a:prstGeom>
          <a:solidFill>
            <a:srgbClr val="F8EA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Estudio"/>
          <p:cNvSpPr/>
          <p:nvPr/>
        </p:nvSpPr>
        <p:spPr>
          <a:xfrm>
            <a:off x="1785088" y="4281416"/>
            <a:ext cx="85453" cy="85453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4" name="Estudio"/>
          <p:cNvSpPr/>
          <p:nvPr/>
        </p:nvSpPr>
        <p:spPr>
          <a:xfrm>
            <a:off x="1816007" y="4319542"/>
            <a:ext cx="100799" cy="100799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Estudio"/>
          <p:cNvSpPr/>
          <p:nvPr/>
        </p:nvSpPr>
        <p:spPr>
          <a:xfrm>
            <a:off x="2087956" y="4370333"/>
            <a:ext cx="64900" cy="64900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Estudio"/>
          <p:cNvSpPr/>
          <p:nvPr/>
        </p:nvSpPr>
        <p:spPr>
          <a:xfrm>
            <a:off x="2046126" y="4394938"/>
            <a:ext cx="65344" cy="65344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Estudio"/>
          <p:cNvSpPr/>
          <p:nvPr/>
        </p:nvSpPr>
        <p:spPr>
          <a:xfrm>
            <a:off x="1966897" y="4315332"/>
            <a:ext cx="98683" cy="98683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Estudio"/>
          <p:cNvSpPr/>
          <p:nvPr/>
        </p:nvSpPr>
        <p:spPr>
          <a:xfrm>
            <a:off x="1718762" y="4368738"/>
            <a:ext cx="69540" cy="69540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9" name="Estudio"/>
          <p:cNvSpPr/>
          <p:nvPr/>
        </p:nvSpPr>
        <p:spPr>
          <a:xfrm>
            <a:off x="1882515" y="4224570"/>
            <a:ext cx="74053" cy="74053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Estudio"/>
          <p:cNvSpPr/>
          <p:nvPr/>
        </p:nvSpPr>
        <p:spPr>
          <a:xfrm>
            <a:off x="1767130" y="4378126"/>
            <a:ext cx="65587" cy="65587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1" name="Estudio"/>
          <p:cNvSpPr/>
          <p:nvPr/>
        </p:nvSpPr>
        <p:spPr>
          <a:xfrm>
            <a:off x="1939659" y="4265555"/>
            <a:ext cx="92617" cy="92617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Estudio"/>
          <p:cNvSpPr/>
          <p:nvPr/>
        </p:nvSpPr>
        <p:spPr>
          <a:xfrm>
            <a:off x="2000812" y="4341280"/>
            <a:ext cx="106104" cy="106104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Estudio"/>
          <p:cNvSpPr/>
          <p:nvPr/>
        </p:nvSpPr>
        <p:spPr>
          <a:xfrm>
            <a:off x="1971320" y="4369083"/>
            <a:ext cx="71443" cy="71443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Estudio"/>
          <p:cNvSpPr/>
          <p:nvPr/>
        </p:nvSpPr>
        <p:spPr>
          <a:xfrm>
            <a:off x="1708107" y="4293686"/>
            <a:ext cx="84489" cy="84489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Estudio"/>
          <p:cNvSpPr/>
          <p:nvPr/>
        </p:nvSpPr>
        <p:spPr>
          <a:xfrm>
            <a:off x="1978915" y="4366487"/>
            <a:ext cx="78868" cy="78868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Estudio"/>
          <p:cNvSpPr/>
          <p:nvPr/>
        </p:nvSpPr>
        <p:spPr>
          <a:xfrm>
            <a:off x="1968609" y="4326792"/>
            <a:ext cx="86633" cy="86633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7" name="Estudio"/>
          <p:cNvSpPr/>
          <p:nvPr/>
        </p:nvSpPr>
        <p:spPr>
          <a:xfrm>
            <a:off x="2819400" y="3556000"/>
            <a:ext cx="139700" cy="139700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8" name="Rótulo marcador"/>
          <p:cNvSpPr txBox="1"/>
          <p:nvPr/>
        </p:nvSpPr>
        <p:spPr>
          <a:xfrm>
            <a:off x="508000" y="2921000"/>
            <a:ext cx="1841500" cy="6350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/>
            <a:r>
              <a:rPr sz="2200" b="1" i="0" lang="es-ES">
                <a:solidFill>
                  <a:srgbClr val="AD3B94"/>
                </a:solidFill>
              </a:rPr>
              <a:t>Aprendizaje automático</a:t>
            </a:r>
          </a:p>
        </p:txBody>
      </p:sp>
      <p:cxnSp>
        <p:nvCxnSpPr>
          <p:cNvPr id="109" name="Guía marcador"/>
          <p:cNvCxnSpPr/>
          <p:nvPr/>
        </p:nvCxnSpPr>
        <p:spPr>
          <a:xfrm>
            <a:off x="825500" y="3594100"/>
            <a:ext cx="0" cy="1041400"/>
          </a:xfrm>
          <a:prstGeom prst="line">
            <a:avLst/>
          </a:prstGeom>
          <a:ln w="25400">
            <a:solidFill>
              <a:srgbClr val="AD3B94"/>
            </a:solidFill>
            <a:prstDash val="sysDot"/>
          </a:ln>
        </p:spPr>
      </p:cxnSp>
      <p:sp>
        <p:nvSpPr>
          <p:cNvPr id="110" name="Tarjeta TDM"/>
          <p:cNvSpPr/>
          <p:nvPr/>
        </p:nvSpPr>
        <p:spPr>
          <a:xfrm>
            <a:off x="8060267" y="1879600"/>
            <a:ext cx="3623733" cy="4127500"/>
          </a:xfrm>
          <a:prstGeom prst="roundRect">
            <a:avLst>
              <a:gd name="adj" fmla="val 3154"/>
            </a:avLst>
          </a:prstGeom>
          <a:solidFill>
            <a:srgbClr val="E7F4E9"/>
          </a:solidFill>
          <a:ln w="31750">
            <a:solidFill>
              <a:srgbClr val="5BB46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1" name="Cabecera tarjeta"/>
          <p:cNvSpPr/>
          <p:nvPr/>
        </p:nvSpPr>
        <p:spPr>
          <a:xfrm>
            <a:off x="8060267" y="1879600"/>
            <a:ext cx="3623733" cy="1244600"/>
          </a:xfrm>
          <a:prstGeom prst="roundRect">
            <a:avLst>
              <a:gd name="adj" fmla="val 9183"/>
            </a:avLst>
          </a:prstGeom>
          <a:solidFill>
            <a:srgbClr val="2F85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Cabecera tarjeta (base)"/>
          <p:cNvSpPr/>
          <p:nvPr/>
        </p:nvSpPr>
        <p:spPr>
          <a:xfrm>
            <a:off x="8060267" y="2870200"/>
            <a:ext cx="3623733" cy="254000"/>
          </a:xfrm>
          <a:prstGeom prst="rect">
            <a:avLst/>
          </a:prstGeom>
          <a:solidFill>
            <a:srgbClr val="2F85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263467" y="1981200"/>
            <a:ext cx="3217333" cy="1041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200" b="1" i="0" lang="es-ES">
                <a:solidFill>
                  <a:srgbClr val="FFFFFF"/>
                </a:solidFill>
              </a:rPr>
              <a:t>Dosificación individualizada de antimicrobianos (TDM o MIPD)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263467" y="3225800"/>
            <a:ext cx="3217333" cy="279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1" i="0" lang="es-ES">
                <a:solidFill>
                  <a:srgbClr val="2F8541"/>
                </a:solidFill>
              </a:rPr>
              <a:t>10 ensayos · 1241 pacientes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263467" y="3606800"/>
            <a:ext cx="3217333" cy="685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200" b="0" i="0" lang="es-ES">
                <a:solidFill>
                  <a:srgbClr val="263445"/>
                </a:solidFill>
              </a:rPr>
              <a:t>Fracaso terapéutico </a:t>
            </a:r>
            <a:r>
              <a:rPr sz="2200" b="1" i="0" lang="es-ES">
                <a:solidFill>
                  <a:srgbClr val="263445"/>
                </a:solidFill>
              </a:rPr>
              <a:t>−30 %</a:t>
            </a:r>
            <a:r>
              <a:rPr sz="2200" b="0" i="0" lang="es-ES">
                <a:solidFill>
                  <a:srgbClr val="263445"/>
                </a:solidFill>
              </a:rPr>
              <a:t> (RR 0,70)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8263467" y="4318000"/>
            <a:ext cx="3217333" cy="0"/>
          </a:xfrm>
          <a:prstGeom prst="line">
            <a:avLst/>
          </a:prstGeom>
          <a:ln w="15875">
            <a:solidFill>
              <a:srgbClr val="B9DDBF"/>
            </a:solidFill>
          </a:ln>
        </p:spPr>
      </p:cxnSp>
      <p:sp>
        <p:nvSpPr>
          <p:cNvPr id="117" name="TextBox 116"/>
          <p:cNvSpPr txBox="1"/>
          <p:nvPr/>
        </p:nvSpPr>
        <p:spPr>
          <a:xfrm>
            <a:off x="8263467" y="4381500"/>
            <a:ext cx="3217333" cy="685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200" b="0" i="0" lang="es-ES">
                <a:solidFill>
                  <a:srgbClr val="263445"/>
                </a:solidFill>
              </a:rPr>
              <a:t>Nefrotoxicidad </a:t>
            </a:r>
            <a:r>
              <a:rPr sz="2200" b="1" i="0" lang="es-ES">
                <a:solidFill>
                  <a:srgbClr val="263445"/>
                </a:solidFill>
              </a:rPr>
              <a:t>−45 %</a:t>
            </a:r>
            <a:r>
              <a:rPr sz="2200" b="0" i="0" lang="es-ES">
                <a:solidFill>
                  <a:srgbClr val="263445"/>
                </a:solidFill>
              </a:rPr>
              <a:t> (RR 0,55)</a:t>
            </a:r>
          </a:p>
        </p:txBody>
      </p:sp>
      <p:cxnSp>
        <p:nvCxnSpPr>
          <p:cNvPr id="118" name="Connector 117"/>
          <p:cNvCxnSpPr/>
          <p:nvPr/>
        </p:nvCxnSpPr>
        <p:spPr>
          <a:xfrm>
            <a:off x="8263467" y="5092700"/>
            <a:ext cx="3217333" cy="0"/>
          </a:xfrm>
          <a:prstGeom prst="line">
            <a:avLst/>
          </a:prstGeom>
          <a:ln w="15875">
            <a:solidFill>
              <a:srgbClr val="B9DDBF"/>
            </a:solidFill>
          </a:ln>
        </p:spPr>
      </p:cxnSp>
      <p:sp>
        <p:nvSpPr>
          <p:cNvPr id="119" name="TextBox 118"/>
          <p:cNvSpPr txBox="1"/>
          <p:nvPr/>
        </p:nvSpPr>
        <p:spPr>
          <a:xfrm>
            <a:off x="8263467" y="5156200"/>
            <a:ext cx="3217333" cy="685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200" b="0" i="0" lang="es-ES">
                <a:solidFill>
                  <a:srgbClr val="263445"/>
                </a:solidFill>
              </a:rPr>
              <a:t>Mortalidad: sin cambio significativo</a:t>
            </a:r>
          </a:p>
        </p:txBody>
      </p:sp>
      <p:cxnSp>
        <p:nvCxnSpPr>
          <p:cNvPr id="120" name="Unión peldaño 5"/>
          <p:cNvCxnSpPr/>
          <p:nvPr/>
        </p:nvCxnSpPr>
        <p:spPr>
          <a:xfrm>
            <a:off x="7869767" y="2470150"/>
            <a:ext cx="190500" cy="0"/>
          </a:xfrm>
          <a:prstGeom prst="line">
            <a:avLst/>
          </a:prstGeom>
          <a:ln w="50800">
            <a:solidFill>
              <a:srgbClr val="5BB46C"/>
            </a:solidFill>
          </a:ln>
        </p:spPr>
      </p:cxnSp>
      <p:sp>
        <p:nvSpPr>
          <p:cNvPr id="121" name="Nodo peldaño 5"/>
          <p:cNvSpPr/>
          <p:nvPr/>
        </p:nvSpPr>
        <p:spPr>
          <a:xfrm>
            <a:off x="7793567" y="2393950"/>
            <a:ext cx="152400" cy="152400"/>
          </a:xfrm>
          <a:prstGeom prst="ellipse">
            <a:avLst/>
          </a:prstGeom>
          <a:solidFill>
            <a:srgbClr val="5BB46C"/>
          </a:solidFill>
          <a:ln w="254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2" name="Fuente"/>
          <p:cNvSpPr txBox="1"/>
          <p:nvPr/>
        </p:nvSpPr>
        <p:spPr>
          <a:xfrm>
            <a:off x="508000" y="6337300"/>
            <a:ext cx="11176000" cy="2413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/>
            <a:r>
              <a:rPr sz="1200" b="0" i="0" lang="es-ES">
                <a:solidFill>
                  <a:srgbClr val="5E6B78"/>
                </a:solidFill>
              </a:rPr>
              <a:t>Amooei et al., Pharmaceutics, 2026 · Blasiak et al., NPJ Precis Oncol, 2025 · Sanz-Codina et al., Clin Microbiol Infect, 2023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ular"/>
          <p:cNvSpPr txBox="1"/>
          <p:nvPr/>
        </p:nvSpPr>
        <p:spPr>
          <a:xfrm>
            <a:off x="508000" y="749300"/>
            <a:ext cx="11176000" cy="952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2000"/>
              </a:lnSpc>
            </a:pPr>
            <a:r>
              <a:rPr sz="3200" b="0" i="0" lang="es-ES">
                <a:solidFill>
                  <a:srgbClr val="263445"/>
                </a:solidFill>
              </a:rPr>
              <a:t>El fallo no es de la IA: es de usar una sola pieza.</a:t>
            </a:r>
          </a:p>
        </p:txBody>
      </p:sp>
      <p:pic>
        <p:nvPicPr>
          <p:cNvPr id="3" name="Farmacéutico con pluma" descr="Farmacéutico con plum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7700" y="1875618"/>
            <a:ext cx="736600" cy="6429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78600" y="1841500"/>
            <a:ext cx="45720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 lang="es-ES">
                <a:solidFill>
                  <a:srgbClr val="2F5480"/>
                </a:solidFill>
              </a:rPr>
              <a:t>Farmacéutico</a:t>
            </a:r>
            <a:r>
              <a:rPr sz="2000" b="0" i="0" lang="es-ES">
                <a:solidFill>
                  <a:srgbClr val="263445"/>
                </a:solidFill>
              </a:rPr>
              <a:t> · supervisa y aporta criterio</a:t>
            </a:r>
          </a:p>
          <a:p>
            <a:pPr algn="l"/>
            <a:r>
              <a:rPr sz="2000" b="0" i="0" lang="es-ES">
                <a:solidFill>
                  <a:srgbClr val="5E6B78"/>
                </a:solidFill>
              </a:rPr>
              <a:t>firma del informe</a:t>
            </a:r>
          </a:p>
        </p:txBody>
      </p:sp>
      <p:cxnSp>
        <p:nvCxnSpPr>
          <p:cNvPr id="5" name="Supervisión"/>
          <p:cNvCxnSpPr/>
          <p:nvPr/>
        </p:nvCxnSpPr>
        <p:spPr>
          <a:xfrm>
            <a:off x="6096000" y="2565400"/>
            <a:ext cx="0" cy="101600"/>
          </a:xfrm>
          <a:prstGeom prst="line">
            <a:avLst/>
          </a:prstGeom>
          <a:ln w="25400">
            <a:solidFill>
              <a:srgbClr val="4A73A0"/>
            </a:solidFill>
            <a:prstDash val="sysDot"/>
            <a:tailEnd type="triangle" w="med" len="med"/>
          </a:ln>
        </p:spPr>
      </p:cxnSp>
      <p:sp>
        <p:nvSpPr>
          <p:cNvPr id="6" name="Arnés"/>
          <p:cNvSpPr/>
          <p:nvPr/>
        </p:nvSpPr>
        <p:spPr>
          <a:xfrm>
            <a:off x="1452033" y="2667000"/>
            <a:ext cx="9287933" cy="2895600"/>
          </a:xfrm>
          <a:prstGeom prst="roundRect">
            <a:avLst>
              <a:gd name="adj" fmla="val 5263"/>
            </a:avLst>
          </a:prstGeom>
          <a:noFill/>
          <a:ln w="31750">
            <a:solidFill>
              <a:srgbClr val="263445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ótulo arnés"/>
          <p:cNvSpPr/>
          <p:nvPr/>
        </p:nvSpPr>
        <p:spPr>
          <a:xfrm>
            <a:off x="1617133" y="2514600"/>
            <a:ext cx="4445000" cy="60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t" wrap="square" lIns="88900" tIns="12700" rIns="88900" bIns="0">
            <a:noAutofit/>
          </a:bodyPr>
          <a:lstStyle/>
          <a:p>
            <a:pPr algn="l"/>
            <a:r>
              <a:rPr sz="2000" b="1" i="0" lang="es-ES">
                <a:solidFill>
                  <a:srgbClr val="263445"/>
                </a:solidFill>
              </a:rPr>
              <a:t>Arnés (el protocolo)</a:t>
            </a:r>
          </a:p>
          <a:p>
            <a:pPr algn="l"/>
            <a:r>
              <a:rPr sz="2000" b="0" i="0" lang="es-ES">
                <a:solidFill>
                  <a:srgbClr val="5E6B78"/>
                </a:solidFill>
              </a:rPr>
              <a:t>procedimiento normalizado de trabajo</a:t>
            </a:r>
          </a:p>
        </p:txBody>
      </p:sp>
      <p:sp>
        <p:nvSpPr>
          <p:cNvPr id="8" name="Borde arnés"/>
          <p:cNvSpPr/>
          <p:nvPr/>
        </p:nvSpPr>
        <p:spPr>
          <a:xfrm>
            <a:off x="4699000" y="5422900"/>
            <a:ext cx="2794000" cy="279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/>
            <a:r>
              <a:rPr sz="2000" b="0" i="1" lang="es-ES">
                <a:solidFill>
                  <a:srgbClr val="263445"/>
                </a:solidFill>
              </a:rPr>
              <a:t>reglas · límites · registro</a:t>
            </a:r>
          </a:p>
        </p:txBody>
      </p:sp>
      <p:pic>
        <p:nvPicPr>
          <p:cNvPr id="9" name="Ficha del caso" descr="Ficha del cas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5423" y="3251200"/>
            <a:ext cx="727220" cy="952500"/>
          </a:xfrm>
          <a:prstGeom prst="rect">
            <a:avLst/>
          </a:prstGeom>
        </p:spPr>
      </p:pic>
      <p:pic>
        <p:nvPicPr>
          <p:cNvPr id="10" name="Loro robótico (modelo de lenguaje)" descr="Loro robótico (modelo de lenguaje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7465" y="3200400"/>
            <a:ext cx="512837" cy="1041400"/>
          </a:xfrm>
          <a:prstGeom prst="rect">
            <a:avLst/>
          </a:prstGeom>
        </p:spPr>
      </p:pic>
      <p:pic>
        <p:nvPicPr>
          <p:cNvPr id="11" name="Icono curva" descr="Icono curva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94885" y="3263900"/>
            <a:ext cx="296164" cy="279400"/>
          </a:xfrm>
          <a:prstGeom prst="rect">
            <a:avLst/>
          </a:prstGeom>
        </p:spPr>
      </p:pic>
      <p:pic>
        <p:nvPicPr>
          <p:cNvPr id="12" name="Icono campana" descr="Icono campana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68342" y="3581400"/>
            <a:ext cx="349250" cy="279400"/>
          </a:xfrm>
          <a:prstGeom prst="rect">
            <a:avLst/>
          </a:prstGeom>
        </p:spPr>
      </p:pic>
      <p:pic>
        <p:nvPicPr>
          <p:cNvPr id="13" name="Icono red" descr="Icono red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03267" y="3898900"/>
            <a:ext cx="279400" cy="279400"/>
          </a:xfrm>
          <a:prstGeom prst="rect">
            <a:avLst/>
          </a:prstGeom>
        </p:spPr>
      </p:pic>
      <p:cxnSp>
        <p:nvCxnSpPr>
          <p:cNvPr id="14" name="Contexto → modelo"/>
          <p:cNvCxnSpPr/>
          <p:nvPr/>
        </p:nvCxnSpPr>
        <p:spPr>
          <a:xfrm>
            <a:off x="3420533" y="3727450"/>
            <a:ext cx="2228850" cy="0"/>
          </a:xfrm>
          <a:prstGeom prst="line">
            <a:avLst/>
          </a:prstGeom>
          <a:ln w="31750">
            <a:solidFill>
              <a:srgbClr val="263445"/>
            </a:solidFill>
            <a:tailEnd type="triangle" w="med" len="med"/>
          </a:ln>
        </p:spPr>
      </p:cxnSp>
      <p:cxnSp>
        <p:nvCxnSpPr>
          <p:cNvPr id="15" name="Modelo ↔ herramientas"/>
          <p:cNvCxnSpPr/>
          <p:nvPr/>
        </p:nvCxnSpPr>
        <p:spPr>
          <a:xfrm>
            <a:off x="6538383" y="3727450"/>
            <a:ext cx="2360084" cy="0"/>
          </a:xfrm>
          <a:prstGeom prst="line">
            <a:avLst/>
          </a:prstGeom>
          <a:ln w="31750">
            <a:solidFill>
              <a:srgbClr val="263445"/>
            </a:solidFill>
            <a:headEnd type="triangle" w="med" len="med"/>
            <a:tailEnd type="triangle" w="med" len="med"/>
          </a:ln>
        </p:spPr>
      </p:cxnSp>
      <p:sp>
        <p:nvSpPr>
          <p:cNvPr id="16" name="TextBox 15"/>
          <p:cNvSpPr txBox="1"/>
          <p:nvPr/>
        </p:nvSpPr>
        <p:spPr>
          <a:xfrm>
            <a:off x="1579033" y="4305300"/>
            <a:ext cx="2540000" cy="952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2000" b="1" i="0" lang="es-ES">
                <a:solidFill>
                  <a:srgbClr val="007F7E"/>
                </a:solidFill>
              </a:rPr>
              <a:t>Contexto</a:t>
            </a:r>
            <a:r>
              <a:rPr sz="2000" b="0" i="0" lang="es-ES">
                <a:solidFill>
                  <a:srgbClr val="263445"/>
                </a:solidFill>
              </a:rPr>
              <a:t> · lo que le das del caso</a:t>
            </a:r>
          </a:p>
          <a:p>
            <a:pPr algn="ctr"/>
            <a:r>
              <a:rPr sz="2000" b="0" i="0" lang="es-ES">
                <a:solidFill>
                  <a:srgbClr val="5E6B78"/>
                </a:solidFill>
              </a:rPr>
              <a:t>historia clínica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46033" y="4305300"/>
            <a:ext cx="3695700" cy="952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2000" b="1" i="0" lang="es-ES">
                <a:solidFill>
                  <a:srgbClr val="263445"/>
                </a:solidFill>
              </a:rPr>
              <a:t>Modelo de lenguaje</a:t>
            </a:r>
            <a:r>
              <a:rPr sz="2000" b="0" i="0" lang="es-ES">
                <a:solidFill>
                  <a:srgbClr val="263445"/>
                </a:solidFill>
              </a:rPr>
              <a:t> · predice texto</a:t>
            </a:r>
          </a:p>
          <a:p>
            <a:pPr algn="ctr"/>
            <a:r>
              <a:rPr sz="2000" b="0" i="0" lang="es-ES">
                <a:solidFill>
                  <a:srgbClr val="5E6B78"/>
                </a:solidFill>
              </a:rPr>
              <a:t>lee, llama a la herramienta y redacta el borrador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72967" y="4305300"/>
            <a:ext cx="2540000" cy="952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2000" b="1" i="0" lang="es-ES">
                <a:solidFill>
                  <a:srgbClr val="2F8541"/>
                </a:solidFill>
              </a:rPr>
              <a:t>Herramientas</a:t>
            </a:r>
            <a:r>
              <a:rPr sz="2000" b="0" i="0" lang="es-ES">
                <a:solidFill>
                  <a:srgbClr val="263445"/>
                </a:solidFill>
              </a:rPr>
              <a:t> · código y programas validados</a:t>
            </a:r>
          </a:p>
          <a:p>
            <a:pPr algn="ctr"/>
            <a:r>
              <a:rPr sz="2000" b="0" i="0" lang="es-ES">
                <a:solidFill>
                  <a:srgbClr val="5E6B78"/>
                </a:solidFill>
              </a:rPr>
              <a:t>programa bayesiano</a:t>
            </a:r>
          </a:p>
        </p:txBody>
      </p:sp>
      <p:sp>
        <p:nvSpPr>
          <p:cNvPr id="19" name="Frase de pie"/>
          <p:cNvSpPr txBox="1"/>
          <p:nvPr/>
        </p:nvSpPr>
        <p:spPr>
          <a:xfrm>
            <a:off x="508000" y="5791200"/>
            <a:ext cx="111760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400" b="0" i="0" lang="es-ES">
                <a:solidFill>
                  <a:srgbClr val="263445"/>
                </a:solidFill>
              </a:rPr>
              <a:t>El modelo de lenguaje no da siempre la misma respuesta; </a:t>
            </a:r>
            <a:r>
              <a:rPr sz="2400" b="1" i="0" lang="es-ES">
                <a:solidFill>
                  <a:srgbClr val="2F8541"/>
                </a:solidFill>
              </a:rPr>
              <a:t>la herramienta validada, sí.</a:t>
            </a:r>
          </a:p>
        </p:txBody>
      </p:sp>
      <p:sp>
        <p:nvSpPr>
          <p:cNvPr id="20" name="Fuente"/>
          <p:cNvSpPr txBox="1"/>
          <p:nvPr/>
        </p:nvSpPr>
        <p:spPr>
          <a:xfrm>
            <a:off x="508000" y="6337300"/>
            <a:ext cx="11176000" cy="2413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/>
            <a:r>
              <a:rPr sz="1200" b="0" i="0" lang="es-ES">
                <a:solidFill>
                  <a:srgbClr val="5E6B78"/>
                </a:solidFill>
              </a:rPr>
              <a:t>Pritchard-Bell et al., CPT Pharmacometrics Syst Pharmacol,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ular"/>
          <p:cNvSpPr txBox="1"/>
          <p:nvPr/>
        </p:nvSpPr>
        <p:spPr>
          <a:xfrm>
            <a:off x="508000" y="749300"/>
            <a:ext cx="11176000" cy="952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2000"/>
              </a:lnSpc>
            </a:pPr>
            <a:r>
              <a:rPr sz="3200" b="0" i="0" lang="es-ES">
                <a:solidFill>
                  <a:srgbClr val="263445"/>
                </a:solidFill>
              </a:rPr>
              <a:t>La lección de TDM-AID: cada tarea, a la pieza que mejor la hace.</a:t>
            </a:r>
          </a:p>
        </p:txBody>
      </p:sp>
      <p:sp>
        <p:nvSpPr>
          <p:cNvPr id="3" name="Fondo radiografía"/>
          <p:cNvSpPr/>
          <p:nvPr/>
        </p:nvSpPr>
        <p:spPr>
          <a:xfrm>
            <a:off x="508000" y="1790700"/>
            <a:ext cx="11176000" cy="4445000"/>
          </a:xfrm>
          <a:prstGeom prst="roundRect">
            <a:avLst>
              <a:gd name="adj" fmla="val 2857"/>
            </a:avLst>
          </a:prstGeom>
          <a:solidFill>
            <a:srgbClr val="0E1B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" name="Farmacéutico (radiografía)" descr="Farmacéutico (radiografía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7700" y="1875618"/>
            <a:ext cx="736600" cy="6429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78600" y="1854200"/>
            <a:ext cx="1905000" cy="279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1" i="0" lang="es-ES">
                <a:solidFill>
                  <a:srgbClr val="FFFFFF"/>
                </a:solidFill>
              </a:rPr>
              <a:t>Farmacéutico</a:t>
            </a:r>
          </a:p>
        </p:txBody>
      </p:sp>
      <p:sp>
        <p:nvSpPr>
          <p:cNvPr id="6" name="Estado farmacéutico"/>
          <p:cNvSpPr/>
          <p:nvPr/>
        </p:nvSpPr>
        <p:spPr>
          <a:xfrm>
            <a:off x="6578600" y="2171700"/>
            <a:ext cx="3586401" cy="292100"/>
          </a:xfrm>
          <a:prstGeom prst="roundRect">
            <a:avLst>
              <a:gd name="adj" fmla="val 47826"/>
            </a:avLst>
          </a:prstGeom>
          <a:solidFill>
            <a:srgbClr val="DDE7F0"/>
          </a:solidFill>
          <a:ln>
            <a:noFill/>
          </a:ln>
        </p:spPr>
        <p:txBody>
          <a:bodyPr rtlCol="0" anchor="ctr" wrap="square" lIns="88900" tIns="0" rIns="88900" bIns="0">
            <a:noAutofit/>
          </a:bodyPr>
          <a:lstStyle/>
          <a:p>
            <a:pPr algn="ctr"/>
            <a:r>
              <a:rPr sz="2000" b="1" i="0" lang="es-ES">
                <a:solidFill>
                  <a:srgbClr val="0E1B2C"/>
                </a:solidFill>
              </a:rPr>
              <a:t>borrador + revisión obligatoria</a:t>
            </a:r>
          </a:p>
        </p:txBody>
      </p:sp>
      <p:cxnSp>
        <p:nvCxnSpPr>
          <p:cNvPr id="7" name="Supervisión"/>
          <p:cNvCxnSpPr/>
          <p:nvPr/>
        </p:nvCxnSpPr>
        <p:spPr>
          <a:xfrm>
            <a:off x="6096000" y="2565400"/>
            <a:ext cx="0" cy="101600"/>
          </a:xfrm>
          <a:prstGeom prst="line">
            <a:avLst/>
          </a:prstGeom>
          <a:ln w="25400">
            <a:solidFill>
              <a:srgbClr val="A9DBFF"/>
            </a:solidFill>
            <a:prstDash val="sysDot"/>
            <a:tailEnd type="triangle" w="med" len="med"/>
          </a:ln>
        </p:spPr>
      </p:cxnSp>
      <p:sp>
        <p:nvSpPr>
          <p:cNvPr id="8" name="Arnés"/>
          <p:cNvSpPr/>
          <p:nvPr/>
        </p:nvSpPr>
        <p:spPr>
          <a:xfrm>
            <a:off x="1452033" y="2667000"/>
            <a:ext cx="9287933" cy="2667000"/>
          </a:xfrm>
          <a:prstGeom prst="roundRect">
            <a:avLst>
              <a:gd name="adj" fmla="val 5714"/>
            </a:avLst>
          </a:prstGeom>
          <a:noFill/>
          <a:ln w="38100">
            <a:solidFill>
              <a:srgbClr val="D42A3B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ótulo arnés"/>
          <p:cNvSpPr/>
          <p:nvPr/>
        </p:nvSpPr>
        <p:spPr>
          <a:xfrm>
            <a:off x="1617133" y="2527300"/>
            <a:ext cx="762000" cy="279400"/>
          </a:xfrm>
          <a:prstGeom prst="rect">
            <a:avLst/>
          </a:prstGeom>
          <a:solidFill>
            <a:srgbClr val="0E1B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/>
            <a:r>
              <a:rPr sz="2000" b="1" i="0" lang="es-ES">
                <a:solidFill>
                  <a:srgbClr val="FFFFFF"/>
                </a:solidFill>
              </a:rPr>
              <a:t>Arnés</a:t>
            </a:r>
          </a:p>
        </p:txBody>
      </p:sp>
      <p:sp>
        <p:nvSpPr>
          <p:cNvPr id="10" name="Estado arnés"/>
          <p:cNvSpPr/>
          <p:nvPr/>
        </p:nvSpPr>
        <p:spPr>
          <a:xfrm>
            <a:off x="5532967" y="5435600"/>
            <a:ext cx="5207000" cy="292100"/>
          </a:xfrm>
          <a:prstGeom prst="roundRect">
            <a:avLst>
              <a:gd name="adj" fmla="val 47826"/>
            </a:avLst>
          </a:prstGeom>
          <a:solidFill>
            <a:srgbClr val="D42A3B"/>
          </a:solidFill>
          <a:ln>
            <a:noFill/>
          </a:ln>
        </p:spPr>
        <p:txBody>
          <a:bodyPr rtlCol="0" anchor="ctr" wrap="square" lIns="88900" tIns="0" rIns="88900" bIns="0">
            <a:noAutofit/>
          </a:bodyPr>
          <a:lstStyle/>
          <a:p>
            <a:pPr algn="ctr"/>
            <a:r>
              <a:rPr sz="2000" b="1" i="0" lang="es-ES">
                <a:solidFill>
                  <a:srgbClr val="FFFFFF"/>
                </a:solidFill>
              </a:rPr>
              <a:t>sin tope de dosis · 1 de cada 6 casos &gt; 4 g/día</a:t>
            </a:r>
          </a:p>
        </p:txBody>
      </p:sp>
      <p:pic>
        <p:nvPicPr>
          <p:cNvPr id="11" name="Ficha del caso" descr="Ficha del cas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5423" y="2844800"/>
            <a:ext cx="727220" cy="952500"/>
          </a:xfrm>
          <a:prstGeom prst="rect">
            <a:avLst/>
          </a:prstGeom>
        </p:spPr>
      </p:pic>
      <p:pic>
        <p:nvPicPr>
          <p:cNvPr id="12" name="Loro robótico (modelo de lenguaje)" descr="Loro robótico (modelo de lenguaje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7465" y="2794000"/>
            <a:ext cx="512837" cy="1041400"/>
          </a:xfrm>
          <a:prstGeom prst="rect">
            <a:avLst/>
          </a:prstGeom>
        </p:spPr>
      </p:pic>
      <p:pic>
        <p:nvPicPr>
          <p:cNvPr id="13" name="Icono curva" descr="Icono curva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94885" y="2857500"/>
            <a:ext cx="296164" cy="279400"/>
          </a:xfrm>
          <a:prstGeom prst="rect">
            <a:avLst/>
          </a:prstGeom>
        </p:spPr>
      </p:pic>
      <p:pic>
        <p:nvPicPr>
          <p:cNvPr id="14" name="Icono campana" descr="Icono campana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68342" y="3175000"/>
            <a:ext cx="349250" cy="279400"/>
          </a:xfrm>
          <a:prstGeom prst="rect">
            <a:avLst/>
          </a:prstGeom>
        </p:spPr>
      </p:pic>
      <p:pic>
        <p:nvPicPr>
          <p:cNvPr id="15" name="Icono red" descr="Icono red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03267" y="3492500"/>
            <a:ext cx="279400" cy="279400"/>
          </a:xfrm>
          <a:prstGeom prst="rect">
            <a:avLst/>
          </a:prstGeom>
        </p:spPr>
      </p:pic>
      <p:cxnSp>
        <p:nvCxnSpPr>
          <p:cNvPr id="16" name="Contexto → modelo"/>
          <p:cNvCxnSpPr/>
          <p:nvPr/>
        </p:nvCxnSpPr>
        <p:spPr>
          <a:xfrm>
            <a:off x="3420533" y="3321050"/>
            <a:ext cx="2228850" cy="0"/>
          </a:xfrm>
          <a:prstGeom prst="line">
            <a:avLst/>
          </a:prstGeom>
          <a:ln w="31750">
            <a:solidFill>
              <a:srgbClr val="A9DBFF"/>
            </a:solidFill>
            <a:tailEnd type="triangle" w="med" len="med"/>
          </a:ln>
        </p:spPr>
      </p:cxnSp>
      <p:cxnSp>
        <p:nvCxnSpPr>
          <p:cNvPr id="17" name="Modelo ↔ herramientas"/>
          <p:cNvCxnSpPr/>
          <p:nvPr/>
        </p:nvCxnSpPr>
        <p:spPr>
          <a:xfrm>
            <a:off x="6538383" y="3321050"/>
            <a:ext cx="2360084" cy="0"/>
          </a:xfrm>
          <a:prstGeom prst="line">
            <a:avLst/>
          </a:prstGeom>
          <a:ln w="31750">
            <a:solidFill>
              <a:srgbClr val="A9DBFF"/>
            </a:solidFill>
            <a:headEnd type="triangle" w="med" len="med"/>
            <a:tailEnd type="triangle" w="med" len="med"/>
          </a:ln>
        </p:spPr>
      </p:cxnSp>
      <p:sp>
        <p:nvSpPr>
          <p:cNvPr id="18" name="TextBox 17"/>
          <p:cNvSpPr txBox="1"/>
          <p:nvPr/>
        </p:nvSpPr>
        <p:spPr>
          <a:xfrm>
            <a:off x="1579033" y="3886200"/>
            <a:ext cx="2540000" cy="279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2000" b="1" i="0" lang="es-ES">
                <a:solidFill>
                  <a:srgbClr val="FFFFFF"/>
                </a:solidFill>
              </a:rPr>
              <a:t>Contexto</a:t>
            </a:r>
          </a:p>
        </p:txBody>
      </p:sp>
      <p:sp>
        <p:nvSpPr>
          <p:cNvPr id="19" name="Estado contexto"/>
          <p:cNvSpPr/>
          <p:nvPr/>
        </p:nvSpPr>
        <p:spPr>
          <a:xfrm>
            <a:off x="1706033" y="4216400"/>
            <a:ext cx="2286000" cy="533400"/>
          </a:xfrm>
          <a:prstGeom prst="roundRect">
            <a:avLst>
              <a:gd name="adj" fmla="val 26190"/>
            </a:avLst>
          </a:prstGeom>
          <a:solidFill>
            <a:srgbClr val="DDE7F0"/>
          </a:solidFill>
          <a:ln>
            <a:noFill/>
          </a:ln>
        </p:spPr>
        <p:txBody>
          <a:bodyPr rtlCol="0" anchor="ctr" wrap="square" lIns="88900" tIns="0" rIns="88900" bIns="0">
            <a:noAutofit/>
          </a:bodyPr>
          <a:lstStyle/>
          <a:p>
            <a:pPr algn="ctr"/>
            <a:r>
              <a:rPr sz="2000" b="1" i="0" lang="es-ES">
                <a:solidFill>
                  <a:srgbClr val="0E1B2C"/>
                </a:solidFill>
              </a:rPr>
              <a:t>guías locales recuperadas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46033" y="3886200"/>
            <a:ext cx="3695700" cy="279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2000" b="1" i="0" lang="es-ES">
                <a:solidFill>
                  <a:srgbClr val="FFFFFF"/>
                </a:solidFill>
              </a:rPr>
              <a:t>Modelo (GPT-4o)</a:t>
            </a:r>
          </a:p>
        </p:txBody>
      </p:sp>
      <p:sp>
        <p:nvSpPr>
          <p:cNvPr id="21" name="Estado modelo"/>
          <p:cNvSpPr/>
          <p:nvPr/>
        </p:nvSpPr>
        <p:spPr>
          <a:xfrm>
            <a:off x="5059434" y="4216400"/>
            <a:ext cx="2068899" cy="292100"/>
          </a:xfrm>
          <a:prstGeom prst="roundRect">
            <a:avLst>
              <a:gd name="adj" fmla="val 47826"/>
            </a:avLst>
          </a:prstGeom>
          <a:solidFill>
            <a:srgbClr val="F0A500"/>
          </a:solidFill>
          <a:ln>
            <a:noFill/>
          </a:ln>
        </p:spPr>
        <p:txBody>
          <a:bodyPr rtlCol="0" anchor="ctr" wrap="square" lIns="88900" tIns="0" rIns="88900" bIns="0">
            <a:noAutofit/>
          </a:bodyPr>
          <a:lstStyle/>
          <a:p>
            <a:pPr algn="ctr"/>
            <a:r>
              <a:rPr sz="2000" b="1" i="0" lang="es-ES">
                <a:solidFill>
                  <a:srgbClr val="0E1B2C"/>
                </a:solidFill>
              </a:rPr>
              <a:t>interpreta: 83 %</a:t>
            </a:r>
          </a:p>
        </p:txBody>
      </p:sp>
      <p:sp>
        <p:nvSpPr>
          <p:cNvPr id="22" name="Fallo 1"/>
          <p:cNvSpPr/>
          <p:nvPr/>
        </p:nvSpPr>
        <p:spPr>
          <a:xfrm>
            <a:off x="4311165" y="4559300"/>
            <a:ext cx="3565436" cy="292100"/>
          </a:xfrm>
          <a:prstGeom prst="roundRect">
            <a:avLst>
              <a:gd name="adj" fmla="val 47826"/>
            </a:avLst>
          </a:prstGeom>
          <a:solidFill>
            <a:srgbClr val="D42A3B"/>
          </a:solidFill>
          <a:ln>
            <a:noFill/>
          </a:ln>
        </p:spPr>
        <p:txBody>
          <a:bodyPr rtlCol="0" anchor="ctr" wrap="square" lIns="88900" tIns="0" rIns="88900" bIns="0">
            <a:noAutofit/>
          </a:bodyPr>
          <a:lstStyle/>
          <a:p>
            <a:pPr algn="ctr"/>
            <a:r>
              <a:rPr sz="2000" b="1" i="0" lang="es-ES">
                <a:solidFill>
                  <a:srgbClr val="FFFFFF"/>
                </a:solidFill>
              </a:rPr>
              <a:t>predice concentraciones: 58 %</a:t>
            </a:r>
          </a:p>
        </p:txBody>
      </p:sp>
      <p:sp>
        <p:nvSpPr>
          <p:cNvPr id="23" name="Fallo 2"/>
          <p:cNvSpPr/>
          <p:nvPr/>
        </p:nvSpPr>
        <p:spPr>
          <a:xfrm>
            <a:off x="4661244" y="4902200"/>
            <a:ext cx="2865279" cy="292100"/>
          </a:xfrm>
          <a:prstGeom prst="roundRect">
            <a:avLst>
              <a:gd name="adj" fmla="val 47826"/>
            </a:avLst>
          </a:prstGeom>
          <a:solidFill>
            <a:srgbClr val="D42A3B"/>
          </a:solidFill>
          <a:ln>
            <a:noFill/>
          </a:ln>
        </p:spPr>
        <p:txBody>
          <a:bodyPr rtlCol="0" anchor="ctr" wrap="square" lIns="88900" tIns="0" rIns="88900" bIns="0">
            <a:noAutofit/>
          </a:bodyPr>
          <a:lstStyle/>
          <a:p>
            <a:pPr algn="ctr"/>
            <a:r>
              <a:rPr sz="2000" b="1" i="0" lang="es-ES">
                <a:solidFill>
                  <a:srgbClr val="FFFFFF"/>
                </a:solidFill>
              </a:rPr>
              <a:t>cuándo extraer: 0 de 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72967" y="3886200"/>
            <a:ext cx="254000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2000" b="1" i="0" lang="es-ES">
                <a:solidFill>
                  <a:srgbClr val="FFFFFF"/>
                </a:solidFill>
              </a:rPr>
              <a:t>Herramienta</a:t>
            </a:r>
          </a:p>
          <a:p>
            <a:pPr algn="ctr"/>
            <a:r>
              <a:rPr sz="2000" b="0" i="0" lang="es-ES">
                <a:solidFill>
                  <a:srgbClr val="C9D6E2"/>
                </a:solidFill>
              </a:rPr>
              <a:t>(motor de ecuaciones de primer orden)</a:t>
            </a:r>
          </a:p>
        </p:txBody>
      </p:sp>
      <p:sp>
        <p:nvSpPr>
          <p:cNvPr id="25" name="Estado herramienta"/>
          <p:cNvSpPr/>
          <p:nvPr/>
        </p:nvSpPr>
        <p:spPr>
          <a:xfrm>
            <a:off x="8148016" y="4851400"/>
            <a:ext cx="2389902" cy="292100"/>
          </a:xfrm>
          <a:prstGeom prst="roundRect">
            <a:avLst>
              <a:gd name="adj" fmla="val 47826"/>
            </a:avLst>
          </a:prstGeom>
          <a:solidFill>
            <a:srgbClr val="5BB46C"/>
          </a:solidFill>
          <a:ln>
            <a:noFill/>
          </a:ln>
        </p:spPr>
        <p:txBody>
          <a:bodyPr rtlCol="0" anchor="ctr" wrap="square" lIns="88900" tIns="0" rIns="88900" bIns="0">
            <a:noAutofit/>
          </a:bodyPr>
          <a:lstStyle/>
          <a:p>
            <a:pPr algn="ctr"/>
            <a:r>
              <a:rPr sz="2000" b="1" i="0" lang="es-ES">
                <a:solidFill>
                  <a:srgbClr val="0E1B2C"/>
                </a:solidFill>
              </a:rPr>
              <a:t>cálculos sin errores</a:t>
            </a:r>
          </a:p>
        </p:txBody>
      </p:sp>
      <p:sp>
        <p:nvSpPr>
          <p:cNvPr id="26" name="Flecha curva"/>
          <p:cNvSpPr/>
          <p:nvPr/>
        </p:nvSpPr>
        <p:spPr>
          <a:xfrm>
            <a:off x="7914701" y="3543300"/>
            <a:ext cx="1009165" cy="1155700"/>
          </a:xfrm>
          <a:custGeom>
            <a:avLst/>
            <a:gdLst/>
            <a:ahLst/>
            <a:cxnLst/>
            <a:rect l="0" t="0" r="r" b="b"/>
            <a:pathLst>
              <a:path w="1009165" h="1155700" fill="none">
                <a:moveTo>
                  <a:pt x="0" y="1155700"/>
                </a:moveTo>
                <a:cubicBezTo>
                  <a:pt x="215900" y="711200"/>
                  <a:pt x="279400" y="63500"/>
                  <a:pt x="1009165" y="0"/>
                </a:cubicBezTo>
              </a:path>
            </a:pathLst>
          </a:custGeom>
          <a:noFill/>
          <a:ln w="31750" cap="rnd">
            <a:solidFill>
              <a:srgbClr val="FFFFFF"/>
            </a:solidFill>
            <a:round/>
            <a:tailEnd type="triangle" w="med" len="med"/>
          </a:ln>
        </p:spPr>
      </p:sp>
      <p:sp>
        <p:nvSpPr>
          <p:cNvPr id="27" name="Rótulo cálculo"/>
          <p:cNvSpPr txBox="1"/>
          <p:nvPr/>
        </p:nvSpPr>
        <p:spPr>
          <a:xfrm>
            <a:off x="6487583" y="3594100"/>
            <a:ext cx="1587500" cy="279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0" i="1" lang="es-ES">
                <a:solidFill>
                  <a:srgbClr val="FFFFFF"/>
                </a:solidFill>
              </a:rPr>
              <a:t>esto es cálculo</a:t>
            </a:r>
          </a:p>
        </p:txBody>
      </p:sp>
      <p:sp>
        <p:nvSpPr>
          <p:cNvPr id="28" name="Flecha curva"/>
          <p:cNvSpPr/>
          <p:nvPr/>
        </p:nvSpPr>
        <p:spPr>
          <a:xfrm>
            <a:off x="10587566" y="4254500"/>
            <a:ext cx="533400" cy="1181100"/>
          </a:xfrm>
          <a:custGeom>
            <a:avLst/>
            <a:gdLst/>
            <a:ahLst/>
            <a:cxnLst/>
            <a:rect l="0" t="0" r="r" b="b"/>
            <a:pathLst>
              <a:path w="533400" h="1181100" fill="none">
                <a:moveTo>
                  <a:pt x="0" y="1181100"/>
                </a:moveTo>
                <a:cubicBezTo>
                  <a:pt x="406400" y="1016000"/>
                  <a:pt x="533400" y="317500"/>
                  <a:pt x="177800" y="0"/>
                </a:cubicBezTo>
              </a:path>
            </a:pathLst>
          </a:custGeom>
          <a:noFill/>
          <a:ln w="31750" cap="rnd">
            <a:solidFill>
              <a:srgbClr val="FFFFFF"/>
            </a:solidFill>
            <a:round/>
            <a:tailEnd type="triangle" w="med" len="med"/>
          </a:ln>
        </p:spPr>
      </p:sp>
      <p:sp>
        <p:nvSpPr>
          <p:cNvPr id="29" name="Rótulo límite"/>
          <p:cNvSpPr txBox="1"/>
          <p:nvPr/>
        </p:nvSpPr>
        <p:spPr>
          <a:xfrm>
            <a:off x="10828867" y="3429000"/>
            <a:ext cx="889000" cy="635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0" i="1" lang="es-ES">
                <a:solidFill>
                  <a:srgbClr val="FFFFFF"/>
                </a:solidFill>
              </a:rPr>
              <a:t>esto es un límite</a:t>
            </a:r>
          </a:p>
        </p:txBody>
      </p:sp>
      <p:sp>
        <p:nvSpPr>
          <p:cNvPr id="30" name="Franja"/>
          <p:cNvSpPr txBox="1"/>
          <p:nvPr/>
        </p:nvSpPr>
        <p:spPr>
          <a:xfrm>
            <a:off x="762000" y="5842000"/>
            <a:ext cx="8890000" cy="2921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 lang="es-ES">
                <a:solidFill>
                  <a:srgbClr val="F0A500"/>
                </a:solidFill>
              </a:rPr>
              <a:t>Prepublicación · 30 casos retrospectivos · función renal estable</a:t>
            </a:r>
          </a:p>
        </p:txBody>
      </p:sp>
      <p:sp>
        <p:nvSpPr>
          <p:cNvPr id="31" name="Fuente"/>
          <p:cNvSpPr txBox="1"/>
          <p:nvPr/>
        </p:nvSpPr>
        <p:spPr>
          <a:xfrm>
            <a:off x="508000" y="6337300"/>
            <a:ext cx="11176000" cy="2413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/>
            <a:r>
              <a:rPr sz="1200" b="0" i="0" lang="es-ES">
                <a:solidFill>
                  <a:srgbClr val="5E6B78"/>
                </a:solidFill>
              </a:rPr>
              <a:t>Hassan et al., medRxiv, 2026 (prepublicación)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ular"/>
          <p:cNvSpPr txBox="1"/>
          <p:nvPr/>
        </p:nvSpPr>
        <p:spPr>
          <a:xfrm>
            <a:off x="508000" y="749300"/>
            <a:ext cx="11176000" cy="952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2000"/>
              </a:lnSpc>
            </a:pPr>
            <a:r>
              <a:rPr sz="3200" b="0" i="0" lang="es-ES">
                <a:solidFill>
                  <a:srgbClr val="263445"/>
                </a:solidFill>
              </a:rPr>
              <a:t>Leemos la ficha técnica de lo que dispensamos; leamos también la de la IA que usamos.</a:t>
            </a:r>
          </a:p>
        </p:txBody>
      </p:sp>
      <p:sp>
        <p:nvSpPr>
          <p:cNvPr id="3" name="Caja: tapa"/>
          <p:cNvSpPr/>
          <p:nvPr/>
        </p:nvSpPr>
        <p:spPr>
          <a:xfrm>
            <a:off x="609600" y="2184400"/>
            <a:ext cx="3759200" cy="482600"/>
          </a:xfrm>
          <a:custGeom>
            <a:avLst/>
            <a:gdLst/>
            <a:ahLst/>
            <a:cxnLst/>
            <a:rect l="l" t="t" r="r" b="b"/>
            <a:pathLst>
              <a:path w="3759200" h="482600">
                <a:moveTo>
                  <a:pt x="0" y="482600"/>
                </a:moveTo>
                <a:lnTo>
                  <a:pt x="711200" y="0"/>
                </a:lnTo>
                <a:lnTo>
                  <a:pt x="3759200" y="0"/>
                </a:lnTo>
                <a:lnTo>
                  <a:pt x="3048000" y="482600"/>
                </a:lnTo>
                <a:close/>
              </a:path>
            </a:pathLst>
          </a:custGeom>
          <a:solidFill>
            <a:srgbClr val="E9EEF2"/>
          </a:solidFill>
          <a:ln w="31750">
            <a:solidFill>
              <a:srgbClr val="26344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Caja: lateral"/>
          <p:cNvSpPr/>
          <p:nvPr/>
        </p:nvSpPr>
        <p:spPr>
          <a:xfrm>
            <a:off x="3657600" y="2184400"/>
            <a:ext cx="711200" cy="3657600"/>
          </a:xfrm>
          <a:custGeom>
            <a:avLst/>
            <a:gdLst/>
            <a:ahLst/>
            <a:cxnLst/>
            <a:rect l="l" t="t" r="r" b="b"/>
            <a:pathLst>
              <a:path w="711200" h="3657600">
                <a:moveTo>
                  <a:pt x="0" y="482600"/>
                </a:moveTo>
                <a:lnTo>
                  <a:pt x="711200" y="0"/>
                </a:lnTo>
                <a:lnTo>
                  <a:pt x="711200" y="3175000"/>
                </a:lnTo>
                <a:lnTo>
                  <a:pt x="0" y="3657600"/>
                </a:lnTo>
                <a:close/>
              </a:path>
            </a:pathLst>
          </a:custGeom>
          <a:solidFill>
            <a:srgbClr val="D5DDE4"/>
          </a:solidFill>
          <a:ln w="31750">
            <a:solidFill>
              <a:srgbClr val="26344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Caja: texto lateral"/>
          <p:cNvSpPr txBox="1"/>
          <p:nvPr/>
        </p:nvSpPr>
        <p:spPr>
          <a:xfrm rot="16200000">
            <a:off x="2743200" y="3708400"/>
            <a:ext cx="2540000" cy="609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000" b="1" i="0" lang="es-ES">
                <a:solidFill>
                  <a:srgbClr val="263445"/>
                </a:solidFill>
              </a:rPr>
              <a:t>Lea la ficha técnica antes de usar</a:t>
            </a:r>
          </a:p>
        </p:txBody>
      </p:sp>
      <p:sp>
        <p:nvSpPr>
          <p:cNvPr id="6" name="Caja: frontal"/>
          <p:cNvSpPr/>
          <p:nvPr/>
        </p:nvSpPr>
        <p:spPr>
          <a:xfrm>
            <a:off x="609600" y="2667000"/>
            <a:ext cx="3048000" cy="3175000"/>
          </a:xfrm>
          <a:prstGeom prst="rect">
            <a:avLst/>
          </a:prstGeom>
          <a:solidFill>
            <a:srgbClr val="FFFFFF"/>
          </a:solidFill>
          <a:ln w="31750">
            <a:solidFill>
              <a:srgbClr val="26344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Caja: banda"/>
          <p:cNvSpPr/>
          <p:nvPr/>
        </p:nvSpPr>
        <p:spPr>
          <a:xfrm>
            <a:off x="619125" y="2857500"/>
            <a:ext cx="3028950" cy="114300"/>
          </a:xfrm>
          <a:prstGeom prst="rect">
            <a:avLst/>
          </a:prstGeom>
          <a:solidFill>
            <a:srgbClr val="00B3B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Caja: banda fina"/>
          <p:cNvSpPr/>
          <p:nvPr/>
        </p:nvSpPr>
        <p:spPr>
          <a:xfrm>
            <a:off x="619125" y="3009900"/>
            <a:ext cx="3028950" cy="38100"/>
          </a:xfrm>
          <a:prstGeom prst="rect">
            <a:avLst/>
          </a:prstGeom>
          <a:solidFill>
            <a:srgbClr val="C3BF2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Caja: nombre"/>
          <p:cNvSpPr txBox="1"/>
          <p:nvPr/>
        </p:nvSpPr>
        <p:spPr>
          <a:xfrm>
            <a:off x="812800" y="3200400"/>
            <a:ext cx="2641600" cy="571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4400" b="1" i="0" lang="es-ES">
                <a:solidFill>
                  <a:srgbClr val="263445"/>
                </a:solidFill>
              </a:rPr>
              <a:t>Dosifica-IA</a:t>
            </a:r>
          </a:p>
        </p:txBody>
      </p:sp>
      <p:sp>
        <p:nvSpPr>
          <p:cNvPr id="10" name="Caja: contenido"/>
          <p:cNvSpPr txBox="1"/>
          <p:nvPr/>
        </p:nvSpPr>
        <p:spPr>
          <a:xfrm>
            <a:off x="812800" y="3810000"/>
            <a:ext cx="2641600" cy="698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 i="0" lang="es-ES">
                <a:solidFill>
                  <a:srgbClr val="263445"/>
                </a:solidFill>
              </a:rPr>
              <a:t>Contiene: 1 modelo de lenguaje</a:t>
            </a:r>
          </a:p>
        </p:txBody>
      </p:sp>
      <p:sp>
        <p:nvSpPr>
          <p:cNvPr id="11" name="Caja: fondo pictograma"/>
          <p:cNvSpPr/>
          <p:nvPr/>
        </p:nvSpPr>
        <p:spPr>
          <a:xfrm>
            <a:off x="2590800" y="4648200"/>
            <a:ext cx="889000" cy="889000"/>
          </a:xfrm>
          <a:prstGeom prst="ellipse">
            <a:avLst/>
          </a:prstGeom>
          <a:solidFill>
            <a:srgbClr val="E0F5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Pictograma: loro" descr="Pictograma: lor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1598" y="4699000"/>
            <a:ext cx="387405" cy="787400"/>
          </a:xfrm>
          <a:prstGeom prst="rect">
            <a:avLst/>
          </a:prstGeom>
        </p:spPr>
      </p:pic>
      <p:sp>
        <p:nvSpPr>
          <p:cNvPr id="13" name="Caja: línea"/>
          <p:cNvSpPr/>
          <p:nvPr/>
        </p:nvSpPr>
        <p:spPr>
          <a:xfrm>
            <a:off x="812800" y="5080000"/>
            <a:ext cx="1333500" cy="12700"/>
          </a:xfrm>
          <a:prstGeom prst="rect">
            <a:avLst/>
          </a:prstGeom>
          <a:solidFill>
            <a:srgbClr val="C9D2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Caja: línea"/>
          <p:cNvSpPr/>
          <p:nvPr/>
        </p:nvSpPr>
        <p:spPr>
          <a:xfrm>
            <a:off x="812800" y="5219700"/>
            <a:ext cx="952500" cy="12700"/>
          </a:xfrm>
          <a:prstGeom prst="rect">
            <a:avLst/>
          </a:prstGeom>
          <a:solidFill>
            <a:srgbClr val="C9D2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icha: sombra"/>
          <p:cNvSpPr/>
          <p:nvPr/>
        </p:nvSpPr>
        <p:spPr>
          <a:xfrm>
            <a:off x="5291667" y="1955800"/>
            <a:ext cx="6392333" cy="4254500"/>
          </a:xfrm>
          <a:prstGeom prst="roundRect">
            <a:avLst>
              <a:gd name="adj" fmla="val 1194"/>
            </a:avLst>
          </a:prstGeom>
          <a:solidFill>
            <a:srgbClr val="E3E8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Ficha técnica"/>
          <p:cNvSpPr/>
          <p:nvPr/>
        </p:nvSpPr>
        <p:spPr>
          <a:xfrm>
            <a:off x="5228167" y="1892300"/>
            <a:ext cx="6392333" cy="4254500"/>
          </a:xfrm>
          <a:prstGeom prst="roundRect">
            <a:avLst>
              <a:gd name="adj" fmla="val 1194"/>
            </a:avLst>
          </a:prstGeom>
          <a:solidFill>
            <a:srgbClr val="FFFFFF"/>
          </a:solidFill>
          <a:ln w="19050">
            <a:solidFill>
              <a:srgbClr val="C9D2D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Icono Composición" descr="Icono Composició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4067" y="2118505"/>
            <a:ext cx="584200" cy="48739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180667" y="2070100"/>
            <a:ext cx="5223933" cy="1587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2200" b="1" i="0" lang="es-ES">
                <a:solidFill>
                  <a:srgbClr val="007F7E"/>
                </a:solidFill>
              </a:rPr>
              <a:t>Composición</a:t>
            </a:r>
          </a:p>
          <a:p>
            <a:pPr algn="l"/>
            <a:r>
              <a:rPr sz="2000" b="1" i="0" lang="es-ES">
                <a:solidFill>
                  <a:srgbClr val="263445"/>
                </a:solidFill>
              </a:rPr>
              <a:t>¿Qué hay dentro?</a:t>
            </a:r>
            <a:r>
              <a:rPr sz="2000" b="0" i="0" lang="es-ES">
                <a:solidFill>
                  <a:srgbClr val="263445"/>
                </a:solidFill>
              </a:rPr>
              <a:t> Estadística con modelo, aprendizaje automático o modelo de lenguaje.</a:t>
            </a:r>
          </a:p>
        </p:txBody>
      </p:sp>
      <p:cxnSp>
        <p:nvCxnSpPr>
          <p:cNvPr id="19" name="Pliegue"/>
          <p:cNvCxnSpPr/>
          <p:nvPr/>
        </p:nvCxnSpPr>
        <p:spPr>
          <a:xfrm>
            <a:off x="5380567" y="3136900"/>
            <a:ext cx="6087533" cy="0"/>
          </a:xfrm>
          <a:prstGeom prst="line">
            <a:avLst/>
          </a:prstGeom>
          <a:ln w="15875">
            <a:solidFill>
              <a:srgbClr val="E2E7EC"/>
            </a:solidFill>
            <a:prstDash val="dash"/>
          </a:ln>
        </p:spPr>
      </p:cxnSp>
      <p:pic>
        <p:nvPicPr>
          <p:cNvPr id="20" name="Icono Mecanismo de acción" descr="Icono Mecanismo de acció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5218" y="3289300"/>
            <a:ext cx="521897" cy="508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180667" y="3251200"/>
            <a:ext cx="5223933" cy="1587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2200" b="1" i="0" lang="es-ES">
                <a:solidFill>
                  <a:srgbClr val="007F7E"/>
                </a:solidFill>
              </a:rPr>
              <a:t>Mecanismo de acción</a:t>
            </a:r>
          </a:p>
          <a:p>
            <a:pPr algn="l"/>
            <a:r>
              <a:rPr sz="2000" b="1" i="0" lang="es-ES">
                <a:solidFill>
                  <a:srgbClr val="263445"/>
                </a:solidFill>
              </a:rPr>
              <a:t>¿Quién hace el cálculo?</a:t>
            </a:r>
            <a:r>
              <a:rPr sz="2000" b="0" i="0" lang="es-ES">
                <a:solidFill>
                  <a:srgbClr val="263445"/>
                </a:solidFill>
              </a:rPr>
              <a:t> Una herramienta validada o el modelo de lenguaje.</a:t>
            </a:r>
          </a:p>
        </p:txBody>
      </p:sp>
      <p:cxnSp>
        <p:nvCxnSpPr>
          <p:cNvPr id="22" name="Pliegue"/>
          <p:cNvCxnSpPr/>
          <p:nvPr/>
        </p:nvCxnSpPr>
        <p:spPr>
          <a:xfrm>
            <a:off x="5380567" y="4318000"/>
            <a:ext cx="6087533" cy="0"/>
          </a:xfrm>
          <a:prstGeom prst="line">
            <a:avLst/>
          </a:prstGeom>
          <a:ln w="15875">
            <a:solidFill>
              <a:srgbClr val="E2E7EC"/>
            </a:solidFill>
            <a:prstDash val="dash"/>
          </a:ln>
        </p:spPr>
      </p:cxnSp>
      <p:pic>
        <p:nvPicPr>
          <p:cNvPr id="23" name="Icono Eficacia clínica y seguridad" descr="Icono Eficacia clínica y segurida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44067" y="4476391"/>
            <a:ext cx="584200" cy="496019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180667" y="4432300"/>
            <a:ext cx="5223933" cy="1587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2200" b="1" i="0" lang="es-ES">
                <a:solidFill>
                  <a:srgbClr val="007F7E"/>
                </a:solidFill>
              </a:rPr>
              <a:t>Eficacia clínica y seguridad</a:t>
            </a:r>
          </a:p>
          <a:p>
            <a:pPr algn="l"/>
            <a:r>
              <a:rPr sz="2000" b="1" i="0" lang="es-ES">
                <a:solidFill>
                  <a:srgbClr val="263445"/>
                </a:solidFill>
              </a:rPr>
              <a:t>¿Qué ha demostrado, y frente a qué?</a:t>
            </a:r>
            <a:r>
              <a:rPr sz="2000" b="0" i="0" lang="es-ES">
                <a:solidFill>
                  <a:srgbClr val="263445"/>
                </a:solidFill>
              </a:rPr>
              <a:t> Aciertos en una base de datos o resultados en pacientes; frente a un bayesiano con concentraciones o frente a un rival débil.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ular"/>
          <p:cNvSpPr txBox="1"/>
          <p:nvPr/>
        </p:nvSpPr>
        <p:spPr>
          <a:xfrm>
            <a:off x="508000" y="749300"/>
            <a:ext cx="11176000" cy="952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2000"/>
              </a:lnSpc>
            </a:pPr>
            <a:r>
              <a:rPr sz="3600" b="0" i="0" lang="es-ES">
                <a:solidFill>
                  <a:srgbClr val="263445"/>
                </a:solidFill>
              </a:rPr>
              <a:t>La </a:t>
            </a:r>
            <a:r>
              <a:rPr sz="3600" b="1" i="0" lang="es-ES">
                <a:solidFill>
                  <a:srgbClr val="2F8541"/>
                </a:solidFill>
              </a:rPr>
              <a:t>herramienta</a:t>
            </a:r>
            <a:r>
              <a:rPr sz="3600" b="0" i="0" lang="es-ES">
                <a:solidFill>
                  <a:srgbClr val="263445"/>
                </a:solidFill>
              </a:rPr>
              <a:t> calcula, el </a:t>
            </a:r>
            <a:r>
              <a:rPr sz="3600" b="1" i="0" lang="es-ES">
                <a:solidFill>
                  <a:srgbClr val="AD3B94"/>
                </a:solidFill>
              </a:rPr>
              <a:t>modelo</a:t>
            </a:r>
            <a:r>
              <a:rPr sz="3600" b="0" i="0" lang="es-ES">
                <a:solidFill>
                  <a:srgbClr val="263445"/>
                </a:solidFill>
              </a:rPr>
              <a:t> explica</a:t>
            </a:r>
          </a:p>
          <a:p>
            <a:pPr algn="ctr">
              <a:lnSpc>
                <a:spcPct val="92000"/>
              </a:lnSpc>
            </a:pPr>
            <a:r>
              <a:rPr sz="3600" b="0" i="0" lang="es-ES">
                <a:solidFill>
                  <a:srgbClr val="263445"/>
                </a:solidFill>
              </a:rPr>
              <a:t>y el </a:t>
            </a:r>
            <a:r>
              <a:rPr sz="3600" b="1" i="0" lang="es-ES">
                <a:solidFill>
                  <a:srgbClr val="2F5480"/>
                </a:solidFill>
              </a:rPr>
              <a:t>farmacéutico</a:t>
            </a:r>
            <a:r>
              <a:rPr sz="3600" b="0" i="0" lang="es-ES">
                <a:solidFill>
                  <a:srgbClr val="263445"/>
                </a:solidFill>
              </a:rPr>
              <a:t> decide.</a:t>
            </a:r>
          </a:p>
        </p:txBody>
      </p:sp>
      <p:pic>
        <p:nvPicPr>
          <p:cNvPr id="3" name="Farmacéutico con pluma (a todo color)" descr="Farmacéutico con pluma (a todo color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9750" y="1924265"/>
            <a:ext cx="952500" cy="831419"/>
          </a:xfrm>
          <a:prstGeom prst="rect">
            <a:avLst/>
          </a:prstGeom>
        </p:spPr>
      </p:pic>
      <p:cxnSp>
        <p:nvCxnSpPr>
          <p:cNvPr id="4" name="Supervisión"/>
          <p:cNvCxnSpPr/>
          <p:nvPr/>
        </p:nvCxnSpPr>
        <p:spPr>
          <a:xfrm>
            <a:off x="6096000" y="2813050"/>
            <a:ext cx="0" cy="171450"/>
          </a:xfrm>
          <a:prstGeom prst="line">
            <a:avLst/>
          </a:prstGeom>
          <a:ln w="28575">
            <a:solidFill>
              <a:srgbClr val="4A73A0"/>
            </a:solidFill>
            <a:prstDash val="sysDot"/>
            <a:tailEnd type="triangle" w="med" len="med"/>
          </a:ln>
        </p:spPr>
      </p:cxnSp>
      <p:sp>
        <p:nvSpPr>
          <p:cNvPr id="5" name="Arnés (gris)"/>
          <p:cNvSpPr/>
          <p:nvPr/>
        </p:nvSpPr>
        <p:spPr>
          <a:xfrm>
            <a:off x="2396067" y="2984500"/>
            <a:ext cx="7399867" cy="2413000"/>
          </a:xfrm>
          <a:prstGeom prst="roundRect">
            <a:avLst>
              <a:gd name="adj" fmla="val 5263"/>
            </a:avLst>
          </a:prstGeom>
          <a:noFill/>
          <a:ln w="28575">
            <a:solidFill>
              <a:srgbClr val="C3CBD3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ficha-caso-gray" descr="ficha-caso-gra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1082" y="3525630"/>
            <a:ext cx="1016000" cy="1330739"/>
          </a:xfrm>
          <a:prstGeom prst="rect">
            <a:avLst/>
          </a:prstGeom>
        </p:spPr>
      </p:pic>
      <p:pic>
        <p:nvPicPr>
          <p:cNvPr id="7" name="loro-gray" descr="loro-gray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87796" y="3365500"/>
            <a:ext cx="813034" cy="1651000"/>
          </a:xfrm>
          <a:prstGeom prst="rect">
            <a:avLst/>
          </a:prstGeom>
        </p:spPr>
      </p:pic>
      <p:pic>
        <p:nvPicPr>
          <p:cNvPr id="8" name="icono-curva-gray" descr="icono-curva-gray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40602" y="3441700"/>
            <a:ext cx="484632" cy="457200"/>
          </a:xfrm>
          <a:prstGeom prst="rect">
            <a:avLst/>
          </a:prstGeom>
        </p:spPr>
      </p:pic>
      <p:pic>
        <p:nvPicPr>
          <p:cNvPr id="9" name="icono-campana-gray" descr="icono-campana-gray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97168" y="3949700"/>
            <a:ext cx="571500" cy="457200"/>
          </a:xfrm>
          <a:prstGeom prst="rect">
            <a:avLst/>
          </a:prstGeom>
        </p:spPr>
      </p:pic>
      <p:pic>
        <p:nvPicPr>
          <p:cNvPr id="10" name="icono-red-gray" descr="icono-red-gray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54318" y="4457700"/>
            <a:ext cx="457200" cy="457200"/>
          </a:xfrm>
          <a:prstGeom prst="rect">
            <a:avLst/>
          </a:prstGeom>
        </p:spPr>
      </p:pic>
      <p:cxnSp>
        <p:nvCxnSpPr>
          <p:cNvPr id="11" name="Connector 10"/>
          <p:cNvCxnSpPr/>
          <p:nvPr/>
        </p:nvCxnSpPr>
        <p:spPr>
          <a:xfrm>
            <a:off x="4144082" y="4191000"/>
            <a:ext cx="1442232" cy="0"/>
          </a:xfrm>
          <a:prstGeom prst="line">
            <a:avLst/>
          </a:prstGeom>
          <a:ln w="28575">
            <a:solidFill>
              <a:srgbClr val="C3CBD3"/>
            </a:solidFill>
            <a:tailEnd type="triangle" w="med" len="med"/>
          </a:ln>
        </p:spPr>
      </p:cxnSp>
      <p:cxnSp>
        <p:nvCxnSpPr>
          <p:cNvPr id="12" name="Connector 11"/>
          <p:cNvCxnSpPr/>
          <p:nvPr/>
        </p:nvCxnSpPr>
        <p:spPr>
          <a:xfrm>
            <a:off x="6602314" y="4191000"/>
            <a:ext cx="1572604" cy="0"/>
          </a:xfrm>
          <a:prstGeom prst="line">
            <a:avLst/>
          </a:prstGeom>
          <a:ln w="28575">
            <a:solidFill>
              <a:srgbClr val="C3CBD3"/>
            </a:solidFill>
            <a:headEnd type="triangle" w="med" len="med"/>
            <a:tailEnd type="triangle" w="med" len="med"/>
          </a:ln>
        </p:spPr>
      </p:cxnSp>
      <p:sp>
        <p:nvSpPr>
          <p:cNvPr id="13" name="Relevo"/>
          <p:cNvSpPr/>
          <p:nvPr/>
        </p:nvSpPr>
        <p:spPr>
          <a:xfrm>
            <a:off x="508000" y="5588000"/>
            <a:ext cx="11176000" cy="635000"/>
          </a:xfrm>
          <a:prstGeom prst="roundRect">
            <a:avLst>
              <a:gd name="adj" fmla="val 16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 wrap="square" lIns="177800" tIns="25400" rIns="177800" bIns="25400">
            <a:noAutofit/>
          </a:bodyPr>
          <a:lstStyle/>
          <a:p>
            <a:pPr algn="l"/>
            <a:r>
              <a:rPr sz="2000" b="1" i="0" lang="es-ES">
                <a:solidFill>
                  <a:srgbClr val="007F7E"/>
                </a:solidFill>
              </a:rPr>
              <a:t>A continuación: </a:t>
            </a:r>
            <a:r>
              <a:rPr sz="2000" b="1" i="0" lang="es-ES">
                <a:solidFill>
                  <a:srgbClr val="263445"/>
                </a:solidFill>
              </a:rPr>
              <a:t>Emilio Monte Boquet</a:t>
            </a:r>
            <a:r>
              <a:rPr sz="2000" b="0" i="0" lang="es-ES">
                <a:solidFill>
                  <a:srgbClr val="263445"/>
                </a:solidFill>
              </a:rPr>
              <a:t> · Competencias y habilidades en IA para el farmacéutico hospitalario: de usuario a supervisor experto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DE64AEEDD9B7A4D93545ACBE97D4615" ma:contentTypeVersion="2" ma:contentTypeDescription="Create a new document." ma:contentTypeScope="" ma:versionID="f49002b78e3a4a71b814eef46a983816">
  <xsd:schema xmlns:xsd="http://www.w3.org/2001/XMLSchema" xmlns:xs="http://www.w3.org/2001/XMLSchema" xmlns:p="http://schemas.microsoft.com/office/2006/metadata/properties" xmlns:ns2="http://schemas.microsoft.com/sharepoint/v3/fields" targetNamespace="http://schemas.microsoft.com/office/2006/metadata/properties" ma:root="true" ma:fieldsID="38f6db2dd0d9a0cf6a8dc37be32b365b" ns2:_="">
    <xsd:import namespace="http://schemas.microsoft.com/sharepoint/v3/fields"/>
    <xsd:element name="properties">
      <xsd:complexType>
        <xsd:sequence>
          <xsd:element name="documentManagement">
            <xsd:complexType>
              <xsd:all>
                <xsd:element ref="ns2:_Status" minOccurs="0"/>
                <xsd:element ref="ns2:_Vers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/fields" elementFormDefault="qualified">
    <xsd:import namespace="http://schemas.microsoft.com/office/2006/documentManagement/types"/>
    <xsd:import namespace="http://schemas.microsoft.com/office/infopath/2007/PartnerControls"/>
    <xsd:element name="_Status" ma:index="8" nillable="true" ma:displayName="Status" ma:default="Not Started" ma:internalName="_Status">
      <xsd:simpleType>
        <xsd:union memberTypes="dms:Text">
          <xsd:simpleType>
            <xsd:restriction base="dms:Choice">
              <xsd:enumeration value="Not Started"/>
              <xsd:enumeration value="Draft"/>
              <xsd:enumeration value="Reviewed"/>
              <xsd:enumeration value="Scheduled"/>
              <xsd:enumeration value="Published"/>
              <xsd:enumeration value="Final"/>
              <xsd:enumeration value="Expired"/>
            </xsd:restriction>
          </xsd:simpleType>
        </xsd:union>
      </xsd:simpleType>
    </xsd:element>
    <xsd:element name="_Version" ma:index="9" nillable="true" ma:displayName="Version" ma:internalName="_Version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 ma:displayName="Status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Version xmlns="http://schemas.microsoft.com/sharepoint/v3/fields" xsi:nil="true"/>
    <_Status xmlns="http://schemas.microsoft.com/sharepoint/v3/fields">Not Started</_Status>
  </documentManagement>
</p:properties>
</file>

<file path=customXml/itemProps1.xml><?xml version="1.0" encoding="utf-8"?>
<ds:datastoreItem xmlns:ds="http://schemas.openxmlformats.org/officeDocument/2006/customXml" ds:itemID="{E4214858-785C-42F7-BE66-6D0E79395FC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/field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7D2A1B0-FF3E-4009-940D-AED0EB70AA2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B6F2769-7194-4217-93D3-3AF3A4742282}">
  <ds:schemaRefs>
    <ds:schemaRef ds:uri="http://schemas.microsoft.com/office/2006/documentManagement/types"/>
    <ds:schemaRef ds:uri="http://purl.org/dc/elements/1.1/"/>
    <ds:schemaRef ds:uri="http://www.w3.org/XML/1998/namespace"/>
    <ds:schemaRef ds:uri="http://purl.org/dc/terms/"/>
    <ds:schemaRef ds:uri="http://schemas.microsoft.com/office/infopath/2007/PartnerControls"/>
    <ds:schemaRef ds:uri="http://purl.org/dc/dcmitype/"/>
    <ds:schemaRef ds:uri="http://schemas.openxmlformats.org/package/2006/metadata/core-properties"/>
    <ds:schemaRef ds:uri="http://schemas.microsoft.com/sharepoint/v3/fields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FNEMasterTemplateForThemePreview.pptx</Template>
  <TotalTime>540</TotalTime>
  <Words>35</Words>
  <Application>Microsoft Office PowerPoint</Application>
  <PresentationFormat>Presentación en pantalla (16:9)</PresentationFormat>
  <Paragraphs>4</Paragraphs>
  <Slides>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FileNewTemplate</dc:title>
  <dc:creator>Diana</dc:creator>
  <cp:lastModifiedBy>ernes</cp:lastModifiedBy>
  <cp:revision>72</cp:revision>
  <dcterms:created xsi:type="dcterms:W3CDTF">2010-04-12T23:12:02Z</dcterms:created>
  <dcterms:modified xsi:type="dcterms:W3CDTF">2026-03-18T16:05:13Z</dcterms:modified>
  <cp:contentStatus>Draft</cp:contentStatus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0x0101000DE64AEEDD9B7A4D93545ACBE97D4615</vt:lpwstr>
  </property>
</Properties>
</file>