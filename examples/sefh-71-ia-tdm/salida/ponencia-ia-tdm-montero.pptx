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93455" r:id="rId4"/>
  </p:sldMasterIdLst>
  <p:notesMasterIdLst>
    <p:notesMasterId r:id="rId9"/>
  </p:notesMasterIdLst>
  <p:sldIdLst>
    <p:sldId id="256" r:id="rId5"/>
    <p:sldId id="257" r:id="rId8"/>
    <p:sldId id="258" r:id="rId7"/>
    <p:sldId id="259" r:id="rId6"/>
    <p:sldId id="260" r:id="rId14"/>
    <p:sldId id="261" r:id="rId15"/>
    <p:sldId id="262" r:id="rId16"/>
    <p:sldId id="263" r:id="rId17"/>
    <p:sldId id="264" r:id="rId18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3B94"/>
    <a:srgbClr val="00B3B2"/>
    <a:srgbClr val="E8D490"/>
    <a:srgbClr val="5E6770"/>
    <a:srgbClr val="D60093"/>
    <a:srgbClr val="9E4798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0" autoAdjust="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14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F996AB-B351-4157-A103-5D37C46B0366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5F6724-1614-4E0F-920D-1DFB1C77DAF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1909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3843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3456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2">
            <a:extLst>
              <a:ext uri="{FF2B5EF4-FFF2-40B4-BE49-F238E27FC236}">
                <a16:creationId xmlns:a16="http://schemas.microsoft.com/office/drawing/2014/main" id="{516794C2-C094-DF2D-4F05-545C33DDF7F8}"/>
              </a:ext>
            </a:extLst>
          </p:cNvPr>
          <p:cNvSpPr txBox="1"/>
          <p:nvPr/>
        </p:nvSpPr>
        <p:spPr>
          <a:xfrm>
            <a:off x="635000" y="2286000"/>
            <a:ext cx="10922000" cy="355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ES" sz="2000" dirty="0" b="1">
                <a:ln w="0"/>
                <a:solidFill>
                  <a:srgbClr val="AD3B9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CURSO PRECONGRESO · INTELIGENCIA ARTIFICIAL APLICADA A LA FARMACOCINÉTICA CLÍNICA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C13E27A-34E3-F508-B62E-7AF8A7587993}"/>
              </a:ext>
            </a:extLst>
          </p:cNvPr>
          <p:cNvSpPr txBox="1"/>
          <p:nvPr/>
        </p:nvSpPr>
        <p:spPr>
          <a:xfrm>
            <a:off x="1270000" y="2794000"/>
            <a:ext cx="96520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>
              <a:lnSpc>
                <a:spcPct val="95000"/>
              </a:lnSpc>
            </a:pPr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«Qué puede aportar realmente la IA</a:t>
            </a:r>
            <a:br/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la TDM y a la farmacocinética clínica»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2C28D68A-92C6-7D7A-8CA3-921D13A1D51F}"/>
              </a:ext>
            </a:extLst>
          </p:cNvPr>
          <p:cNvSpPr txBox="1"/>
          <p:nvPr/>
        </p:nvSpPr>
        <p:spPr>
          <a:xfrm>
            <a:off x="1651000" y="4381500"/>
            <a:ext cx="8890000" cy="317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dirty="0" sz="2400" b="1">
                <a:solidFill>
                  <a:srgbClr val="263445"/>
                </a:solidFill>
              </a:rPr>
              <a:t>ALFREDO MONTERO DELGADO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0C49BE9B-1536-E450-23AE-8524F580145D}"/>
              </a:ext>
            </a:extLst>
          </p:cNvPr>
          <p:cNvSpPr txBox="1"/>
          <p:nvPr/>
        </p:nvSpPr>
        <p:spPr>
          <a:xfrm>
            <a:off x="1270000" y="4775200"/>
            <a:ext cx="9652000" cy="698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sz="2000" i="1" dirty="0">
                <a:solidFill>
                  <a:srgbClr val="5E6B78"/>
                </a:solidFill>
              </a:rPr>
              <a:t>Farmacéutico especialista en Farmacia Hospitalaria ·</a:t>
            </a:r>
            <a:br/>
            <a:r>
              <a:rPr lang="es-ES" sz="2000" i="1" dirty="0">
                <a:solidFill>
                  <a:srgbClr val="5E6B78"/>
                </a:solidFill>
              </a:rPr>
              <a:t>Hospital Universitario Nuestra Señora de Candelaria · Grupo DIGIFHAR (SEFH)</a:t>
            </a:r>
          </a:p>
        </p:txBody>
      </p:sp>
    </p:spTree>
    <p:extLst>
      <p:ext uri="{BB962C8B-B14F-4D97-AF65-F5344CB8AC3E}">
        <p14:creationId xmlns:p14="http://schemas.microsoft.com/office/powerpoint/2010/main" val="411237627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ChatGPT sabe hablar de farmacocinética,</a:t>
            </a:r>
            <a:br/>
            <a:r>
              <a:rPr sz="3200" b="0" i="0" lang="es-ES">
                <a:solidFill>
                  <a:srgbClr val="263445"/>
                </a:solidFill>
              </a:rPr>
              <a:t>pero no </a:t>
            </a:r>
            <a:r>
              <a:rPr sz="3200" b="1" i="0" lang="es-ES">
                <a:solidFill>
                  <a:srgbClr val="007A79"/>
                </a:solidFill>
              </a:rPr>
              <a:t>hacer</a:t>
            </a:r>
            <a:r>
              <a:rPr sz="3200" b="0" i="0" lang="es-ES">
                <a:solidFill>
                  <a:srgbClr val="263445"/>
                </a:solidFill>
              </a:rPr>
              <a:t> farmacocinética.</a:t>
            </a:r>
          </a:p>
        </p:txBody>
      </p:sp>
      <p:cxnSp>
        <p:nvCxnSpPr>
          <p:cNvPr id="3" name="Suelo"/>
          <p:cNvCxnSpPr/>
          <p:nvPr/>
        </p:nvCxnSpPr>
        <p:spPr>
          <a:xfrm>
            <a:off x="571500" y="6172200"/>
            <a:ext cx="6392482" cy="0"/>
          </a:xfrm>
          <a:prstGeom prst="line">
            <a:avLst/>
          </a:prstGeom>
          <a:ln w="19050">
            <a:solidFill>
              <a:srgbClr val="C9D2DB"/>
            </a:solidFill>
          </a:ln>
        </p:spPr>
      </p:cxnSp>
      <p:sp>
        <p:nvSpPr>
          <p:cNvPr id="4" name="Pizarra"/>
          <p:cNvSpPr/>
          <p:nvPr/>
        </p:nvSpPr>
        <p:spPr>
          <a:xfrm>
            <a:off x="3048000" y="1905000"/>
            <a:ext cx="3873500" cy="2019300"/>
          </a:xfrm>
          <a:prstGeom prst="roundRect">
            <a:avLst>
              <a:gd name="adj" fmla="val 5031"/>
            </a:avLst>
          </a:prstGeom>
          <a:solidFill>
            <a:srgbClr val="31454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pisa"/>
          <p:cNvSpPr/>
          <p:nvPr/>
        </p:nvSpPr>
        <p:spPr>
          <a:xfrm>
            <a:off x="3302000" y="3924300"/>
            <a:ext cx="3365500" cy="76200"/>
          </a:xfrm>
          <a:prstGeom prst="rect">
            <a:avLst/>
          </a:prstGeom>
          <a:solidFill>
            <a:srgbClr val="B9C3CD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za"/>
          <p:cNvSpPr/>
          <p:nvPr/>
        </p:nvSpPr>
        <p:spPr>
          <a:xfrm>
            <a:off x="5778500" y="3860800"/>
            <a:ext cx="241300" cy="63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órmulas"/>
          <p:cNvSpPr txBox="1"/>
          <p:nvPr/>
        </p:nvSpPr>
        <p:spPr>
          <a:xfrm>
            <a:off x="3365500" y="2057400"/>
            <a:ext cx="3302000" cy="176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CL =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· 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t½ = 0,693 /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  <a:r>
              <a:rPr sz="2600" b="0" i="1" lang="es-ES">
                <a:solidFill>
                  <a:srgbClr val="F4F1E6"/>
                </a:solidFill>
              </a:rPr>
              <a:t> = Dosis / C</a:t>
            </a:r>
            <a:r>
              <a:rPr sz="2600" b="0" i="1" lang="es-ES" baseline="-25000">
                <a:solidFill>
                  <a:srgbClr val="F4F1E6"/>
                </a:solidFill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= ln(C</a:t>
            </a:r>
            <a:r>
              <a:rPr sz="2600" b="0" i="1" lang="es-ES" baseline="-25000">
                <a:solidFill>
                  <a:srgbClr val="F4F1E6"/>
                </a:solidFill>
              </a:rPr>
              <a:t>1</a:t>
            </a:r>
            <a:r>
              <a:rPr sz="2600" b="0" i="1" lang="es-ES">
                <a:solidFill>
                  <a:srgbClr val="F4F1E6"/>
                </a:solidFill>
              </a:rPr>
              <a:t> / C</a:t>
            </a:r>
            <a:r>
              <a:rPr sz="2600" b="0" i="1" lang="es-ES" baseline="-25000">
                <a:solidFill>
                  <a:srgbClr val="F4F1E6"/>
                </a:solidFill>
              </a:rPr>
              <a:t>2</a:t>
            </a:r>
            <a:r>
              <a:rPr sz="2600" b="0" i="1" lang="es-ES">
                <a:solidFill>
                  <a:srgbClr val="F4F1E6"/>
                </a:solidFill>
              </a:rPr>
              <a:t>) / Δt</a:t>
            </a:r>
          </a:p>
        </p:txBody>
      </p:sp>
      <p:pic>
        <p:nvPicPr>
          <p:cNvPr id="8" name="Loro robótico con bata señalando la pizarra" descr="Loro robótico con bata señalando la pizarr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05" y="2489200"/>
            <a:ext cx="2253390" cy="3721100"/>
          </a:xfrm>
          <a:prstGeom prst="rect">
            <a:avLst/>
          </a:prstGeom>
        </p:spPr>
      </p:pic>
      <p:sp>
        <p:nvSpPr>
          <p:cNvPr id="9" name="Bocadillo"/>
          <p:cNvSpPr/>
          <p:nvPr/>
        </p:nvSpPr>
        <p:spPr>
          <a:xfrm>
            <a:off x="3048000" y="4127500"/>
            <a:ext cx="3556000" cy="825500"/>
          </a:xfrm>
          <a:prstGeom prst="wedgeRoundRectCallout">
            <a:avLst>
              <a:gd name="adj1" fmla="val -56071"/>
              <a:gd name="adj2" fmla="val -70000"/>
              <a:gd name="adj3" fmla="val 16667"/>
            </a:avLst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 wrap="square" lIns="177800" tIns="63500" rIns="177800" bIns="63500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aclaramiento… volumen de distribución… semivida…</a:t>
            </a:r>
          </a:p>
        </p:txBody>
      </p:sp>
      <p:pic>
        <p:nvPicPr>
          <p:cNvPr id="10" name="Calculadora boca abajo en el suelo" descr="Calculadora boca abajo en el sue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00">
            <a:off x="3390900" y="5473700"/>
            <a:ext cx="520700" cy="698500"/>
          </a:xfrm>
          <a:prstGeom prst="rect">
            <a:avLst/>
          </a:prstGeom>
        </p:spPr>
      </p:pic>
      <p:sp>
        <p:nvSpPr>
          <p:cNvPr id="11" name="Tarjeta dato"/>
          <p:cNvSpPr/>
          <p:nvPr/>
        </p:nvSpPr>
        <p:spPr>
          <a:xfrm>
            <a:off x="7116382" y="2143125"/>
            <a:ext cx="4567873" cy="3810000"/>
          </a:xfrm>
          <a:prstGeom prst="roundRect">
            <a:avLst>
              <a:gd name="adj" fmla="val 2666"/>
            </a:avLst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ifra"/>
          <p:cNvSpPr txBox="1"/>
          <p:nvPr/>
        </p:nvSpPr>
        <p:spPr>
          <a:xfrm>
            <a:off x="7421182" y="2295525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0" b="1" i="0" lang="es-ES">
                <a:solidFill>
                  <a:srgbClr val="AD3B94"/>
                </a:solidFill>
              </a:rPr>
              <a:t>37 %</a:t>
            </a:r>
          </a:p>
        </p:txBody>
      </p:sp>
      <p:sp>
        <p:nvSpPr>
          <p:cNvPr id="13" name="Lectura"/>
          <p:cNvSpPr txBox="1"/>
          <p:nvPr/>
        </p:nvSpPr>
        <p:spPr>
          <a:xfrm>
            <a:off x="7421182" y="3730625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de las predicciones de valle de vancomicina de ChatGPT quedaron a ±2 mg/L del valor medido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21182" y="5153025"/>
            <a:ext cx="3958272" cy="0"/>
          </a:xfrm>
          <a:prstGeom prst="line">
            <a:avLst/>
          </a:prstGeom>
          <a:ln w="19050">
            <a:solidFill>
              <a:srgbClr val="E9C3DF"/>
            </a:solidFill>
          </a:ln>
        </p:spPr>
      </p:cxnSp>
      <p:sp>
        <p:nvSpPr>
          <p:cNvPr id="15" name="Detalle"/>
          <p:cNvSpPr txBox="1"/>
          <p:nvPr/>
        </p:nvSpPr>
        <p:spPr>
          <a:xfrm>
            <a:off x="7421182" y="5254625"/>
            <a:ext cx="3958273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s-ES">
                <a:solidFill>
                  <a:srgbClr val="5E6B78"/>
                </a:solidFill>
              </a:rPr>
              <a:t>717 predicciones · 239 ingresos en UCI · Grok: 29 %</a:t>
            </a:r>
          </a:p>
        </p:txBody>
      </p:sp>
      <p:sp>
        <p:nvSpPr>
          <p:cNvPr id="16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Ishaqui et al., Expert Rev Anti Infect Ther,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No todo lo que calcula es inteligencia artificial.</a:t>
            </a:r>
          </a:p>
        </p:txBody>
      </p:sp>
      <p:sp>
        <p:nvSpPr>
          <p:cNvPr id="3" name="Pregunta guía"/>
          <p:cNvSpPr/>
          <p:nvPr/>
        </p:nvSpPr>
        <p:spPr>
          <a:xfrm>
            <a:off x="508000" y="1828800"/>
            <a:ext cx="11176000" cy="444500"/>
          </a:xfrm>
          <a:prstGeom prst="roundRect">
            <a:avLst>
              <a:gd name="adj" fmla="val 50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400" b="1" i="0" lang="es-ES">
                <a:solidFill>
                  <a:srgbClr val="007A79"/>
                </a:solidFill>
              </a:rPr>
              <a:t>¿Quién decide la forma del modelo: una persona o los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La decide una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327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La aprenden los datos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6096000" y="2489200"/>
            <a:ext cx="0" cy="3638550"/>
          </a:xfrm>
          <a:prstGeom prst="line">
            <a:avLst/>
          </a:prstGeom>
          <a:ln w="19050">
            <a:solidFill>
              <a:srgbClr val="C9D2DB"/>
            </a:solidFill>
            <a:prstDash val="dash"/>
          </a:ln>
        </p:spPr>
      </p:cxnSp>
      <p:sp>
        <p:nvSpPr>
          <p:cNvPr id="7" name="Tarjeta 1"/>
          <p:cNvSpPr/>
          <p:nvPr/>
        </p:nvSpPr>
        <p:spPr>
          <a:xfrm>
            <a:off x="508000" y="28575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ndo icono-curva-color"/>
          <p:cNvSpPr/>
          <p:nvPr/>
        </p:nvSpPr>
        <p:spPr>
          <a:xfrm>
            <a:off x="711200" y="29527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cono-curva-color" descr="icono-curva-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3142052"/>
            <a:ext cx="406400" cy="3833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76400" y="28575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Modelos poblacionales y estimación bayesiana</a:t>
            </a:r>
          </a:p>
        </p:txBody>
      </p:sp>
      <p:sp>
        <p:nvSpPr>
          <p:cNvPr id="11" name="Tarjeta 2"/>
          <p:cNvSpPr/>
          <p:nvPr/>
        </p:nvSpPr>
        <p:spPr>
          <a:xfrm>
            <a:off x="508000" y="39624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ndo icono-calculadora"/>
          <p:cNvSpPr/>
          <p:nvPr/>
        </p:nvSpPr>
        <p:spPr>
          <a:xfrm>
            <a:off x="711200" y="40576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icono-calculadora" descr="icono-calculado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24" y="4235450"/>
            <a:ext cx="302953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76400" y="39624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Calculadoras y nomogramas</a:t>
            </a:r>
          </a:p>
        </p:txBody>
      </p:sp>
      <p:sp>
        <p:nvSpPr>
          <p:cNvPr id="15" name="Tarjeta 3"/>
          <p:cNvSpPr/>
          <p:nvPr/>
        </p:nvSpPr>
        <p:spPr>
          <a:xfrm>
            <a:off x="508000" y="50673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ndo icono-engranaje"/>
          <p:cNvSpPr/>
          <p:nvPr/>
        </p:nvSpPr>
        <p:spPr>
          <a:xfrm>
            <a:off x="711200" y="51625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-engranaje" descr="icono-engrana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389572"/>
            <a:ext cx="406400" cy="3079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76400" y="50673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Automatizaciones por reglas</a:t>
            </a:r>
          </a:p>
        </p:txBody>
      </p:sp>
      <p:sp>
        <p:nvSpPr>
          <p:cNvPr id="19" name="Círculo"/>
          <p:cNvSpPr/>
          <p:nvPr/>
        </p:nvSpPr>
        <p:spPr>
          <a:xfrm>
            <a:off x="6172327" y="3111500"/>
            <a:ext cx="2819400" cy="2819400"/>
          </a:xfrm>
          <a:prstGeom prst="ellipse">
            <a:avLst/>
          </a:prstGeom>
          <a:solidFill>
            <a:srgbClr val="E9C3DF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Círculo"/>
          <p:cNvSpPr/>
          <p:nvPr/>
        </p:nvSpPr>
        <p:spPr>
          <a:xfrm>
            <a:off x="6629527" y="3568700"/>
            <a:ext cx="1905000" cy="1905000"/>
          </a:xfrm>
          <a:prstGeom prst="ellipse">
            <a:avLst/>
          </a:prstGeom>
          <a:solidFill>
            <a:srgbClr val="C97AB5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írculo"/>
          <p:cNvSpPr/>
          <p:nvPr/>
        </p:nvSpPr>
        <p:spPr>
          <a:xfrm>
            <a:off x="7074027" y="4013200"/>
            <a:ext cx="1016000" cy="1016000"/>
          </a:xfrm>
          <a:prstGeom prst="ellipse">
            <a:avLst/>
          </a:prstGeom>
          <a:solidFill>
            <a:srgbClr val="AD3B94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Marca"/>
          <p:cNvSpPr/>
          <p:nvPr/>
        </p:nvSpPr>
        <p:spPr>
          <a:xfrm>
            <a:off x="8286877" y="3575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01177" y="3632200"/>
            <a:ext cx="56515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042527" y="33020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Aprendizaje automático</a:t>
            </a:r>
          </a:p>
        </p:txBody>
      </p:sp>
      <p:sp>
        <p:nvSpPr>
          <p:cNvPr id="25" name="Marca"/>
          <p:cNvSpPr/>
          <p:nvPr/>
        </p:nvSpPr>
        <p:spPr>
          <a:xfrm>
            <a:off x="8255127" y="44259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369427" y="4483100"/>
            <a:ext cx="5969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9042527" y="41529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Aprendizaje profundo</a:t>
            </a:r>
            <a:br/>
            <a:r>
              <a:rPr sz="2000" b="1" i="0" lang="es-ES">
                <a:solidFill>
                  <a:srgbClr val="8E2F79"/>
                </a:solidFill>
              </a:rPr>
              <a:t>(redes neuronales)</a:t>
            </a:r>
          </a:p>
        </p:txBody>
      </p:sp>
      <p:sp>
        <p:nvSpPr>
          <p:cNvPr id="28" name="Marca"/>
          <p:cNvSpPr/>
          <p:nvPr/>
        </p:nvSpPr>
        <p:spPr>
          <a:xfrm>
            <a:off x="7715377" y="4718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810627" y="4813300"/>
            <a:ext cx="787400" cy="57150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598027" y="5384800"/>
            <a:ext cx="3683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9042527" y="50546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Modelos de lenguaje</a:t>
            </a:r>
            <a:br/>
            <a:r>
              <a:rPr sz="2000" b="1" i="0" lang="es-ES">
                <a:solidFill>
                  <a:srgbClr val="8E2F79"/>
                </a:solidFill>
              </a:rPr>
              <a:t>(IA generativa)</a:t>
            </a:r>
          </a:p>
        </p:txBody>
      </p:sp>
      <p:sp>
        <p:nvSpPr>
          <p:cNvPr id="32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Keutzer et al., Pharmaceutics,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Treinta años de estudios: predice parecido al bayesiano,</a:t>
            </a:r>
            <a:br/>
            <a:r>
              <a:rPr sz="3200" b="0" i="0" lang="es-ES">
                <a:solidFill>
                  <a:srgbClr val="263445"/>
                </a:solidFill>
              </a:rPr>
              <a:t>pero apenas ha llegado al día a día.</a:t>
            </a:r>
          </a:p>
        </p:txBody>
      </p:sp>
      <p:cxnSp>
        <p:nvCxnSpPr>
          <p:cNvPr id="3" name="Línea de tiempo"/>
          <p:cNvCxnSpPr/>
          <p:nvPr/>
        </p:nvCxnSpPr>
        <p:spPr>
          <a:xfrm>
            <a:off x="508000" y="1981200"/>
            <a:ext cx="1117600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sp>
        <p:nvSpPr>
          <p:cNvPr id="4" name="Hito 1995"/>
          <p:cNvSpPr/>
          <p:nvPr/>
        </p:nvSpPr>
        <p:spPr>
          <a:xfrm>
            <a:off x="508000" y="18986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o 1995"/>
          <p:cNvSpPr txBox="1"/>
          <p:nvPr/>
        </p:nvSpPr>
        <p:spPr>
          <a:xfrm>
            <a:off x="508000" y="2146300"/>
            <a:ext cx="5359527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1995</a:t>
            </a:r>
            <a:r>
              <a:rPr sz="2000" b="0" i="0" lang="es-ES">
                <a:solidFill>
                  <a:srgbClr val="263445"/>
                </a:solidFill>
              </a:rPr>
              <a:t> · Red neuronal frente a NONMEM (gentamicina, 111 pacientes)</a:t>
            </a:r>
          </a:p>
        </p:txBody>
      </p:sp>
      <p:sp>
        <p:nvSpPr>
          <p:cNvPr id="6" name="Hito 2025"/>
          <p:cNvSpPr/>
          <p:nvPr/>
        </p:nvSpPr>
        <p:spPr>
          <a:xfrm>
            <a:off x="6172327" y="18986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 2025"/>
          <p:cNvSpPr txBox="1"/>
          <p:nvPr/>
        </p:nvSpPr>
        <p:spPr>
          <a:xfrm>
            <a:off x="6172327" y="2146300"/>
            <a:ext cx="5359527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2025</a:t>
            </a:r>
            <a:r>
              <a:rPr sz="2000" b="0" i="0" lang="es-ES">
                <a:solidFill>
                  <a:srgbClr val="263445"/>
                </a:solidFill>
              </a:rPr>
              <a:t> · 58 estudios: el aprendizaje automático rinde igual o mejor que los modelos poblacionales</a:t>
            </a:r>
          </a:p>
        </p:txBody>
      </p:sp>
      <p:sp>
        <p:nvSpPr>
          <p:cNvPr id="8" name="Tarjeta Sin concentraciones del paciente"/>
          <p:cNvSpPr/>
          <p:nvPr/>
        </p:nvSpPr>
        <p:spPr>
          <a:xfrm>
            <a:off x="508000" y="2984500"/>
            <a:ext cx="5511927" cy="2286000"/>
          </a:xfrm>
          <a:prstGeom prst="roundRect">
            <a:avLst>
              <a:gd name="adj" fmla="val 4444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Gotero vacío" descr="Gotero vací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33" y="3187700"/>
            <a:ext cx="256134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9200" y="3187700"/>
            <a:ext cx="4597527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Sin concentraciones del paciente</a:t>
            </a:r>
          </a:p>
        </p:txBody>
      </p:sp>
      <p:sp>
        <p:nvSpPr>
          <p:cNvPr id="11" name="Tarjeta Con concentraciones del paciente"/>
          <p:cNvSpPr/>
          <p:nvPr/>
        </p:nvSpPr>
        <p:spPr>
          <a:xfrm>
            <a:off x="6172327" y="2984500"/>
            <a:ext cx="5511927" cy="2286000"/>
          </a:xfrm>
          <a:prstGeom prst="roundRect">
            <a:avLst>
              <a:gd name="adj" fmla="val 4444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Tubo de análisis" descr="Tubo de análisi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56" y="3187700"/>
            <a:ext cx="268941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83527" y="3187700"/>
            <a:ext cx="4597527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Con concentraciones del paciente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3937000"/>
            <a:ext cx="5105527" cy="1130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El modelo híbrido mejora un </a:t>
            </a:r>
            <a:r>
              <a:rPr sz="2200" b="1" i="0" lang="es-ES">
                <a:solidFill>
                  <a:srgbClr val="AD3B94"/>
                </a:solidFill>
              </a:rPr>
              <a:t>17 %</a:t>
            </a:r>
            <a:r>
              <a:rPr sz="2200" b="0" i="0" lang="es-ES">
                <a:solidFill>
                  <a:srgbClr val="263445"/>
                </a:solidFill>
              </a:rPr>
              <a:t> el error del bayesiano · vancomicina en sepsis, 4059 pacientes</a:t>
            </a:r>
          </a:p>
        </p:txBody>
      </p:sp>
      <p:sp>
        <p:nvSpPr>
          <p:cNvPr id="15" name="Marca color"/>
          <p:cNvSpPr/>
          <p:nvPr/>
        </p:nvSpPr>
        <p:spPr>
          <a:xfrm>
            <a:off x="6375527" y="3949700"/>
            <a:ext cx="127000" cy="127000"/>
          </a:xfrm>
          <a:prstGeom prst="ellipse">
            <a:avLst/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4127" y="3873500"/>
            <a:ext cx="4876927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1" i="0" lang="es-ES">
                <a:solidFill>
                  <a:srgbClr val="2B7D3D"/>
                </a:solidFill>
              </a:rPr>
              <a:t>Gana el bayesiano: </a:t>
            </a:r>
            <a:r>
              <a:rPr sz="2200" b="0" i="0" lang="es-ES">
                <a:solidFill>
                  <a:srgbClr val="2B7D3D"/>
                </a:solidFill>
              </a:rPr>
              <a:t>13 % de error frente a 34 %</a:t>
            </a:r>
          </a:p>
        </p:txBody>
      </p:sp>
      <p:sp>
        <p:nvSpPr>
          <p:cNvPr id="17" name="Marca color"/>
          <p:cNvSpPr/>
          <p:nvPr/>
        </p:nvSpPr>
        <p:spPr>
          <a:xfrm>
            <a:off x="6375527" y="4648200"/>
            <a:ext cx="127000" cy="127000"/>
          </a:xfrm>
          <a:prstGeom prst="ellipse">
            <a:avLst/>
          </a:prstGeom>
          <a:solidFill>
            <a:srgbClr val="AD3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4127" y="4572000"/>
            <a:ext cx="4876927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1" i="0" lang="es-ES">
                <a:solidFill>
                  <a:srgbClr val="8E2F79"/>
                </a:solidFill>
              </a:rPr>
              <a:t>Gana el aprendizaje automático: </a:t>
            </a:r>
            <a:r>
              <a:rPr sz="2200" b="0" i="0" lang="es-ES">
                <a:solidFill>
                  <a:srgbClr val="8E2F79"/>
                </a:solidFill>
              </a:rPr>
              <a:t>ABC de tacrolimus en 6 series externas</a:t>
            </a:r>
          </a:p>
        </p:txBody>
      </p:sp>
      <p:sp>
        <p:nvSpPr>
          <p:cNvPr id="19" name="Advertencia"/>
          <p:cNvSpPr/>
          <p:nvPr/>
        </p:nvSpPr>
        <p:spPr>
          <a:xfrm>
            <a:off x="508000" y="5410200"/>
            <a:ext cx="11176000" cy="444500"/>
          </a:xfrm>
          <a:prstGeom prst="roundRect">
            <a:avLst>
              <a:gd name="adj" fmla="val 22857"/>
            </a:avLst>
          </a:prstGeom>
          <a:solidFill>
            <a:srgbClr val="263445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200" b="1" i="0" lang="es-ES">
                <a:solidFill>
                  <a:srgbClr val="FFFFFF"/>
                </a:solidFill>
              </a:rPr>
              <a:t>Casi todo retrospectivo · La IA y los híbridos siguen en investigación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223000"/>
            <a:ext cx="11176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Brier et al., Pharm Res, 1995 · Methaneethorn et al., Clin Pharmacokinet, 2025 · Chen et al., Microbiol Spectr, 2025 · Woillard et al., Clin Pharmacol Ther, 2021 · Altynova et al., Pharmaceuticals,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Predecir bien no es lo mismo que mejorar al paciente.</a:t>
            </a:r>
          </a:p>
        </p:txBody>
      </p:sp>
      <p:sp>
        <p:nvSpPr>
          <p:cNvPr id="3" name="Peldaño 1"/>
          <p:cNvSpPr/>
          <p:nvPr/>
        </p:nvSpPr>
        <p:spPr>
          <a:xfrm>
            <a:off x="508000" y="5314950"/>
            <a:ext cx="7400036" cy="812800"/>
          </a:xfrm>
          <a:prstGeom prst="rect">
            <a:avLst/>
          </a:prstGeom>
          <a:solidFill>
            <a:srgbClr val="EEF2F6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ótulo peldaño 1"/>
          <p:cNvSpPr txBox="1"/>
          <p:nvPr/>
        </p:nvSpPr>
        <p:spPr>
          <a:xfrm>
            <a:off x="647700" y="5353050"/>
            <a:ext cx="7120636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retrospectivo</a:t>
            </a:r>
          </a:p>
        </p:txBody>
      </p:sp>
      <p:sp>
        <p:nvSpPr>
          <p:cNvPr id="5" name="Peldaño 2"/>
          <p:cNvSpPr/>
          <p:nvPr/>
        </p:nvSpPr>
        <p:spPr>
          <a:xfrm>
            <a:off x="1460500" y="4502150"/>
            <a:ext cx="6447536" cy="812800"/>
          </a:xfrm>
          <a:prstGeom prst="rect">
            <a:avLst/>
          </a:prstGeom>
          <a:solidFill>
            <a:srgbClr val="E4EAF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ótulo peldaño 2"/>
          <p:cNvSpPr txBox="1"/>
          <p:nvPr/>
        </p:nvSpPr>
        <p:spPr>
          <a:xfrm>
            <a:off x="1600200" y="4540250"/>
            <a:ext cx="6168136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Validación externa</a:t>
            </a:r>
            <a:r>
              <a:rPr sz="2000" b="0" i="0" lang="es-ES">
                <a:solidFill>
                  <a:srgbClr val="263445"/>
                </a:solidFill>
              </a:rPr>
              <a:t>: 10 de 115 estudios de tacrolimus</a:t>
            </a:r>
          </a:p>
        </p:txBody>
      </p:sp>
      <p:sp>
        <p:nvSpPr>
          <p:cNvPr id="7" name="Peldaño 3"/>
          <p:cNvSpPr/>
          <p:nvPr/>
        </p:nvSpPr>
        <p:spPr>
          <a:xfrm>
            <a:off x="2413000" y="3689350"/>
            <a:ext cx="5495036" cy="812800"/>
          </a:xfrm>
          <a:prstGeom prst="rect">
            <a:avLst/>
          </a:prstGeom>
          <a:solidFill>
            <a:srgbClr val="DAE2E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ótulo peldaño 3"/>
          <p:cNvSpPr txBox="1"/>
          <p:nvPr/>
        </p:nvSpPr>
        <p:spPr>
          <a:xfrm>
            <a:off x="2552700" y="3727450"/>
            <a:ext cx="5215636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prospectivo</a:t>
            </a:r>
            <a:r>
              <a:rPr sz="2000" b="0" i="0" lang="es-ES">
                <a:solidFill>
                  <a:srgbClr val="263445"/>
                </a:solidFill>
              </a:rPr>
              <a:t>: pocos, pequeños, sin comparador (CURATE.AI: 10 pacientes)</a:t>
            </a:r>
          </a:p>
        </p:txBody>
      </p:sp>
      <p:sp>
        <p:nvSpPr>
          <p:cNvPr id="9" name="Peldaño 4"/>
          <p:cNvSpPr/>
          <p:nvPr/>
        </p:nvSpPr>
        <p:spPr>
          <a:xfrm>
            <a:off x="3365500" y="2876550"/>
            <a:ext cx="4542536" cy="812800"/>
          </a:xfrm>
          <a:prstGeom prst="rect">
            <a:avLst/>
          </a:prstGeom>
          <a:solidFill>
            <a:srgbClr val="D0DAE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ótulo peldaño 4"/>
          <p:cNvSpPr txBox="1"/>
          <p:nvPr/>
        </p:nvSpPr>
        <p:spPr>
          <a:xfrm>
            <a:off x="3505200" y="2914650"/>
            <a:ext cx="4263136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de proceso</a:t>
            </a:r>
          </a:p>
        </p:txBody>
      </p:sp>
      <p:sp>
        <p:nvSpPr>
          <p:cNvPr id="11" name="Peldaño 5"/>
          <p:cNvSpPr/>
          <p:nvPr/>
        </p:nvSpPr>
        <p:spPr>
          <a:xfrm>
            <a:off x="4318000" y="2063750"/>
            <a:ext cx="3590036" cy="812800"/>
          </a:xfrm>
          <a:prstGeom prst="rect">
            <a:avLst/>
          </a:prstGeom>
          <a:solidFill>
            <a:srgbClr val="C6D2DE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ótulo peldaño 5"/>
          <p:cNvSpPr txBox="1"/>
          <p:nvPr/>
        </p:nvSpPr>
        <p:spPr>
          <a:xfrm>
            <a:off x="4457700" y="2101850"/>
            <a:ext cx="3310636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clínico</a:t>
            </a:r>
          </a:p>
        </p:txBody>
      </p:sp>
      <p:sp>
        <p:nvSpPr>
          <p:cNvPr id="13" name="Perfil escalera"/>
          <p:cNvSpPr/>
          <p:nvPr/>
        </p:nvSpPr>
        <p:spPr>
          <a:xfrm>
            <a:off x="508000" y="2063750"/>
            <a:ext cx="7400036" cy="4064000"/>
          </a:xfrm>
          <a:custGeom>
            <a:avLst/>
            <a:gdLst/>
            <a:ahLst/>
            <a:cxnLst/>
            <a:rect l="l" t="t" r="r" b="b"/>
            <a:pathLst>
              <a:path w="7400036" h="4064000">
                <a:moveTo>
                  <a:pt x="0" y="4064000"/>
                </a:moveTo>
                <a:lnTo>
                  <a:pt x="0" y="3251200"/>
                </a:lnTo>
                <a:lnTo>
                  <a:pt x="952500" y="3251200"/>
                </a:lnTo>
                <a:lnTo>
                  <a:pt x="952500" y="2438400"/>
                </a:lnTo>
                <a:lnTo>
                  <a:pt x="1905000" y="2438400"/>
                </a:lnTo>
                <a:lnTo>
                  <a:pt x="1905000" y="1625600"/>
                </a:lnTo>
                <a:lnTo>
                  <a:pt x="2857500" y="1625600"/>
                </a:lnTo>
                <a:lnTo>
                  <a:pt x="2857500" y="812800"/>
                </a:lnTo>
                <a:lnTo>
                  <a:pt x="3810000" y="812800"/>
                </a:lnTo>
                <a:lnTo>
                  <a:pt x="3810000" y="0"/>
                </a:lnTo>
                <a:lnTo>
                  <a:pt x="7400036" y="0"/>
                </a:lnTo>
              </a:path>
            </a:pathLst>
          </a:custGeom>
          <a:noFill/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Mancha"/>
          <p:cNvSpPr/>
          <p:nvPr/>
        </p:nvSpPr>
        <p:spPr>
          <a:xfrm>
            <a:off x="539750" y="4686935"/>
            <a:ext cx="889000" cy="61531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studio"/>
          <p:cNvSpPr/>
          <p:nvPr/>
        </p:nvSpPr>
        <p:spPr>
          <a:xfrm>
            <a:off x="909493" y="4847050"/>
            <a:ext cx="84198" cy="841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studio"/>
          <p:cNvSpPr/>
          <p:nvPr/>
        </p:nvSpPr>
        <p:spPr>
          <a:xfrm>
            <a:off x="944823" y="5063799"/>
            <a:ext cx="89609" cy="896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studio"/>
          <p:cNvSpPr/>
          <p:nvPr/>
        </p:nvSpPr>
        <p:spPr>
          <a:xfrm>
            <a:off x="718616" y="4961022"/>
            <a:ext cx="98748" cy="9874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Estudio"/>
          <p:cNvSpPr/>
          <p:nvPr/>
        </p:nvSpPr>
        <p:spPr>
          <a:xfrm>
            <a:off x="667407" y="5194886"/>
            <a:ext cx="76986" cy="7698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Estudio"/>
          <p:cNvSpPr/>
          <p:nvPr/>
        </p:nvSpPr>
        <p:spPr>
          <a:xfrm>
            <a:off x="670851" y="5122262"/>
            <a:ext cx="65362" cy="653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Estudio"/>
          <p:cNvSpPr/>
          <p:nvPr/>
        </p:nvSpPr>
        <p:spPr>
          <a:xfrm>
            <a:off x="1261747" y="4952909"/>
            <a:ext cx="106383" cy="1063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Estudio"/>
          <p:cNvSpPr/>
          <p:nvPr/>
        </p:nvSpPr>
        <p:spPr>
          <a:xfrm>
            <a:off x="1057727" y="5144309"/>
            <a:ext cx="64167" cy="641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Estudio"/>
          <p:cNvSpPr/>
          <p:nvPr/>
        </p:nvSpPr>
        <p:spPr>
          <a:xfrm>
            <a:off x="970640" y="5151731"/>
            <a:ext cx="66147" cy="661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studio"/>
          <p:cNvSpPr/>
          <p:nvPr/>
        </p:nvSpPr>
        <p:spPr>
          <a:xfrm>
            <a:off x="729734" y="5207245"/>
            <a:ext cx="84122" cy="84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Estudio"/>
          <p:cNvSpPr/>
          <p:nvPr/>
        </p:nvSpPr>
        <p:spPr>
          <a:xfrm>
            <a:off x="892993" y="5158656"/>
            <a:ext cx="100946" cy="100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Estudio"/>
          <p:cNvSpPr/>
          <p:nvPr/>
        </p:nvSpPr>
        <p:spPr>
          <a:xfrm>
            <a:off x="950892" y="5076630"/>
            <a:ext cx="92946" cy="92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Estudio"/>
          <p:cNvSpPr/>
          <p:nvPr/>
        </p:nvSpPr>
        <p:spPr>
          <a:xfrm>
            <a:off x="917055" y="5057792"/>
            <a:ext cx="75864" cy="758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Estudio"/>
          <p:cNvSpPr/>
          <p:nvPr/>
        </p:nvSpPr>
        <p:spPr>
          <a:xfrm>
            <a:off x="1278062" y="4875734"/>
            <a:ext cx="94962" cy="949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Estudio"/>
          <p:cNvSpPr/>
          <p:nvPr/>
        </p:nvSpPr>
        <p:spPr>
          <a:xfrm>
            <a:off x="820713" y="5205708"/>
            <a:ext cx="73709" cy="737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Estudio"/>
          <p:cNvSpPr/>
          <p:nvPr/>
        </p:nvSpPr>
        <p:spPr>
          <a:xfrm>
            <a:off x="798925" y="4946461"/>
            <a:ext cx="81298" cy="812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studio"/>
          <p:cNvSpPr/>
          <p:nvPr/>
        </p:nvSpPr>
        <p:spPr>
          <a:xfrm>
            <a:off x="1181597" y="5086267"/>
            <a:ext cx="80681" cy="8068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Estudio"/>
          <p:cNvSpPr/>
          <p:nvPr/>
        </p:nvSpPr>
        <p:spPr>
          <a:xfrm>
            <a:off x="1261964" y="5211790"/>
            <a:ext cx="72822" cy="728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Estudio"/>
          <p:cNvSpPr/>
          <p:nvPr/>
        </p:nvSpPr>
        <p:spPr>
          <a:xfrm>
            <a:off x="1223419" y="5204619"/>
            <a:ext cx="84391" cy="8439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Estudio"/>
          <p:cNvSpPr/>
          <p:nvPr/>
        </p:nvSpPr>
        <p:spPr>
          <a:xfrm>
            <a:off x="1267941" y="5152331"/>
            <a:ext cx="91479" cy="9147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Estudio"/>
          <p:cNvSpPr/>
          <p:nvPr/>
        </p:nvSpPr>
        <p:spPr>
          <a:xfrm>
            <a:off x="1137507" y="5173586"/>
            <a:ext cx="75492" cy="7549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Estudio"/>
          <p:cNvSpPr/>
          <p:nvPr/>
        </p:nvSpPr>
        <p:spPr>
          <a:xfrm>
            <a:off x="652516" y="4983545"/>
            <a:ext cx="97195" cy="9719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Estudio"/>
          <p:cNvSpPr/>
          <p:nvPr/>
        </p:nvSpPr>
        <p:spPr>
          <a:xfrm>
            <a:off x="685043" y="4830217"/>
            <a:ext cx="74452" cy="744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Estudio"/>
          <p:cNvSpPr/>
          <p:nvPr/>
        </p:nvSpPr>
        <p:spPr>
          <a:xfrm>
            <a:off x="674949" y="4930991"/>
            <a:ext cx="71398" cy="713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Estudio"/>
          <p:cNvSpPr/>
          <p:nvPr/>
        </p:nvSpPr>
        <p:spPr>
          <a:xfrm>
            <a:off x="983221" y="5097232"/>
            <a:ext cx="83388" cy="8338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Estudio"/>
          <p:cNvSpPr/>
          <p:nvPr/>
        </p:nvSpPr>
        <p:spPr>
          <a:xfrm>
            <a:off x="726065" y="5195081"/>
            <a:ext cx="92113" cy="9211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Estudio"/>
          <p:cNvSpPr/>
          <p:nvPr/>
        </p:nvSpPr>
        <p:spPr>
          <a:xfrm>
            <a:off x="680150" y="5120092"/>
            <a:ext cx="82203" cy="822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Estudio"/>
          <p:cNvSpPr/>
          <p:nvPr/>
        </p:nvSpPr>
        <p:spPr>
          <a:xfrm>
            <a:off x="737727" y="5145266"/>
            <a:ext cx="99212" cy="9921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Estudio"/>
          <p:cNvSpPr/>
          <p:nvPr/>
        </p:nvSpPr>
        <p:spPr>
          <a:xfrm>
            <a:off x="798517" y="4747486"/>
            <a:ext cx="102832" cy="10283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Estudio"/>
          <p:cNvSpPr/>
          <p:nvPr/>
        </p:nvSpPr>
        <p:spPr>
          <a:xfrm>
            <a:off x="739840" y="4940443"/>
            <a:ext cx="92030" cy="9203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Estudio"/>
          <p:cNvSpPr/>
          <p:nvPr/>
        </p:nvSpPr>
        <p:spPr>
          <a:xfrm>
            <a:off x="656421" y="4990223"/>
            <a:ext cx="107474" cy="1074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Estudio"/>
          <p:cNvSpPr/>
          <p:nvPr/>
        </p:nvSpPr>
        <p:spPr>
          <a:xfrm>
            <a:off x="748531" y="5197047"/>
            <a:ext cx="78122" cy="78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Estudio"/>
          <p:cNvSpPr/>
          <p:nvPr/>
        </p:nvSpPr>
        <p:spPr>
          <a:xfrm>
            <a:off x="811188" y="4923351"/>
            <a:ext cx="66763" cy="6676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Estudio"/>
          <p:cNvSpPr/>
          <p:nvPr/>
        </p:nvSpPr>
        <p:spPr>
          <a:xfrm>
            <a:off x="658039" y="5095300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Estudio"/>
          <p:cNvSpPr/>
          <p:nvPr/>
        </p:nvSpPr>
        <p:spPr>
          <a:xfrm>
            <a:off x="854442" y="5146076"/>
            <a:ext cx="83645" cy="8364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Estudio"/>
          <p:cNvSpPr/>
          <p:nvPr/>
        </p:nvSpPr>
        <p:spPr>
          <a:xfrm>
            <a:off x="1248116" y="4977457"/>
            <a:ext cx="102017" cy="10201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Estudio"/>
          <p:cNvSpPr/>
          <p:nvPr/>
        </p:nvSpPr>
        <p:spPr>
          <a:xfrm>
            <a:off x="731558" y="5193392"/>
            <a:ext cx="70351" cy="7035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Estudio"/>
          <p:cNvSpPr/>
          <p:nvPr/>
        </p:nvSpPr>
        <p:spPr>
          <a:xfrm>
            <a:off x="1228379" y="5161802"/>
            <a:ext cx="71937" cy="719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Estudio"/>
          <p:cNvSpPr/>
          <p:nvPr/>
        </p:nvSpPr>
        <p:spPr>
          <a:xfrm>
            <a:off x="1095797" y="5080511"/>
            <a:ext cx="105301" cy="1053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Estudio"/>
          <p:cNvSpPr/>
          <p:nvPr/>
        </p:nvSpPr>
        <p:spPr>
          <a:xfrm>
            <a:off x="731008" y="4868959"/>
            <a:ext cx="90327" cy="903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Estudio"/>
          <p:cNvSpPr/>
          <p:nvPr/>
        </p:nvSpPr>
        <p:spPr>
          <a:xfrm>
            <a:off x="896328" y="5108106"/>
            <a:ext cx="68116" cy="6811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studio"/>
          <p:cNvSpPr/>
          <p:nvPr/>
        </p:nvSpPr>
        <p:spPr>
          <a:xfrm>
            <a:off x="620479" y="5080968"/>
            <a:ext cx="94819" cy="9481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Estudio"/>
          <p:cNvSpPr/>
          <p:nvPr/>
        </p:nvSpPr>
        <p:spPr>
          <a:xfrm>
            <a:off x="767531" y="5171994"/>
            <a:ext cx="100114" cy="1001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Estudio"/>
          <p:cNvSpPr/>
          <p:nvPr/>
        </p:nvSpPr>
        <p:spPr>
          <a:xfrm>
            <a:off x="1002647" y="5174987"/>
            <a:ext cx="95520" cy="9552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Estudio"/>
          <p:cNvSpPr/>
          <p:nvPr/>
        </p:nvSpPr>
        <p:spPr>
          <a:xfrm>
            <a:off x="651691" y="5112073"/>
            <a:ext cx="73652" cy="736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Estudio"/>
          <p:cNvSpPr/>
          <p:nvPr/>
        </p:nvSpPr>
        <p:spPr>
          <a:xfrm>
            <a:off x="986986" y="5071494"/>
            <a:ext cx="75956" cy="7595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studio"/>
          <p:cNvSpPr/>
          <p:nvPr/>
        </p:nvSpPr>
        <p:spPr>
          <a:xfrm>
            <a:off x="1234192" y="5025821"/>
            <a:ext cx="72567" cy="725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Estudio"/>
          <p:cNvSpPr/>
          <p:nvPr/>
        </p:nvSpPr>
        <p:spPr>
          <a:xfrm>
            <a:off x="619623" y="5195949"/>
            <a:ext cx="66187" cy="661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Estudio"/>
          <p:cNvSpPr/>
          <p:nvPr/>
        </p:nvSpPr>
        <p:spPr>
          <a:xfrm>
            <a:off x="722279" y="5026605"/>
            <a:ext cx="79893" cy="7989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Estudio"/>
          <p:cNvSpPr/>
          <p:nvPr/>
        </p:nvSpPr>
        <p:spPr>
          <a:xfrm>
            <a:off x="982193" y="5089781"/>
            <a:ext cx="103102" cy="10310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Estudio"/>
          <p:cNvSpPr/>
          <p:nvPr/>
        </p:nvSpPr>
        <p:spPr>
          <a:xfrm>
            <a:off x="1267422" y="5085480"/>
            <a:ext cx="92701" cy="927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Estudio"/>
          <p:cNvSpPr/>
          <p:nvPr/>
        </p:nvSpPr>
        <p:spPr>
          <a:xfrm>
            <a:off x="1082860" y="5137592"/>
            <a:ext cx="65059" cy="650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Estudio"/>
          <p:cNvSpPr/>
          <p:nvPr/>
        </p:nvSpPr>
        <p:spPr>
          <a:xfrm>
            <a:off x="601642" y="5151759"/>
            <a:ext cx="103959" cy="1039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Estudio"/>
          <p:cNvSpPr/>
          <p:nvPr/>
        </p:nvSpPr>
        <p:spPr>
          <a:xfrm>
            <a:off x="1076186" y="5170986"/>
            <a:ext cx="91778" cy="9177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Estudio"/>
          <p:cNvSpPr/>
          <p:nvPr/>
        </p:nvSpPr>
        <p:spPr>
          <a:xfrm>
            <a:off x="924082" y="5195226"/>
            <a:ext cx="95971" cy="9597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Estudio"/>
          <p:cNvSpPr/>
          <p:nvPr/>
        </p:nvSpPr>
        <p:spPr>
          <a:xfrm>
            <a:off x="816168" y="5139740"/>
            <a:ext cx="87774" cy="877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Estudio"/>
          <p:cNvSpPr/>
          <p:nvPr/>
        </p:nvSpPr>
        <p:spPr>
          <a:xfrm>
            <a:off x="1095032" y="5199419"/>
            <a:ext cx="103514" cy="1035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Estudio"/>
          <p:cNvSpPr/>
          <p:nvPr/>
        </p:nvSpPr>
        <p:spPr>
          <a:xfrm>
            <a:off x="1094759" y="5112031"/>
            <a:ext cx="104172" cy="10417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Estudio"/>
          <p:cNvSpPr/>
          <p:nvPr/>
        </p:nvSpPr>
        <p:spPr>
          <a:xfrm>
            <a:off x="835660" y="4912847"/>
            <a:ext cx="93955" cy="9395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Estudio"/>
          <p:cNvSpPr/>
          <p:nvPr/>
        </p:nvSpPr>
        <p:spPr>
          <a:xfrm>
            <a:off x="1209824" y="5079284"/>
            <a:ext cx="98639" cy="986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Estudio"/>
          <p:cNvSpPr/>
          <p:nvPr/>
        </p:nvSpPr>
        <p:spPr>
          <a:xfrm>
            <a:off x="1189039" y="5077952"/>
            <a:ext cx="88961" cy="8896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Estudio"/>
          <p:cNvSpPr/>
          <p:nvPr/>
        </p:nvSpPr>
        <p:spPr>
          <a:xfrm>
            <a:off x="1024666" y="5038680"/>
            <a:ext cx="90564" cy="905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Estudio"/>
          <p:cNvSpPr/>
          <p:nvPr/>
        </p:nvSpPr>
        <p:spPr>
          <a:xfrm>
            <a:off x="650392" y="5052766"/>
            <a:ext cx="91922" cy="919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Estudio"/>
          <p:cNvSpPr/>
          <p:nvPr/>
        </p:nvSpPr>
        <p:spPr>
          <a:xfrm>
            <a:off x="1282187" y="5009578"/>
            <a:ext cx="80766" cy="8076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Estudio"/>
          <p:cNvSpPr/>
          <p:nvPr/>
        </p:nvSpPr>
        <p:spPr>
          <a:xfrm>
            <a:off x="1100777" y="5017081"/>
            <a:ext cx="89323" cy="8932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Estudio"/>
          <p:cNvSpPr/>
          <p:nvPr/>
        </p:nvSpPr>
        <p:spPr>
          <a:xfrm>
            <a:off x="895037" y="5165218"/>
            <a:ext cx="96847" cy="968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Estudio"/>
          <p:cNvSpPr/>
          <p:nvPr/>
        </p:nvSpPr>
        <p:spPr>
          <a:xfrm>
            <a:off x="616666" y="5145388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Estudio"/>
          <p:cNvSpPr/>
          <p:nvPr/>
        </p:nvSpPr>
        <p:spPr>
          <a:xfrm>
            <a:off x="928389" y="5175747"/>
            <a:ext cx="85603" cy="856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Estudio"/>
          <p:cNvSpPr/>
          <p:nvPr/>
        </p:nvSpPr>
        <p:spPr>
          <a:xfrm>
            <a:off x="1010569" y="4935853"/>
            <a:ext cx="104415" cy="10441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Estudio"/>
          <p:cNvSpPr/>
          <p:nvPr/>
        </p:nvSpPr>
        <p:spPr>
          <a:xfrm>
            <a:off x="769977" y="5059888"/>
            <a:ext cx="93643" cy="9364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Estudio"/>
          <p:cNvSpPr/>
          <p:nvPr/>
        </p:nvSpPr>
        <p:spPr>
          <a:xfrm>
            <a:off x="744756" y="5205630"/>
            <a:ext cx="71039" cy="710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Mancha"/>
          <p:cNvSpPr/>
          <p:nvPr/>
        </p:nvSpPr>
        <p:spPr>
          <a:xfrm>
            <a:off x="1644650" y="4079875"/>
            <a:ext cx="584200" cy="40957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Estudio"/>
          <p:cNvSpPr/>
          <p:nvPr/>
        </p:nvSpPr>
        <p:spPr>
          <a:xfrm>
            <a:off x="2039761" y="4331952"/>
            <a:ext cx="103137" cy="103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Estudio"/>
          <p:cNvSpPr/>
          <p:nvPr/>
        </p:nvSpPr>
        <p:spPr>
          <a:xfrm>
            <a:off x="1824272" y="4305242"/>
            <a:ext cx="93099" cy="930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Estudio"/>
          <p:cNvSpPr/>
          <p:nvPr/>
        </p:nvSpPr>
        <p:spPr>
          <a:xfrm>
            <a:off x="1769812" y="4230091"/>
            <a:ext cx="104137" cy="104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Estudio"/>
          <p:cNvSpPr/>
          <p:nvPr/>
        </p:nvSpPr>
        <p:spPr>
          <a:xfrm>
            <a:off x="2041339" y="4325790"/>
            <a:ext cx="80587" cy="805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Estudio"/>
          <p:cNvSpPr/>
          <p:nvPr/>
        </p:nvSpPr>
        <p:spPr>
          <a:xfrm>
            <a:off x="1925630" y="4374957"/>
            <a:ext cx="85568" cy="8556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Estudio"/>
          <p:cNvSpPr/>
          <p:nvPr/>
        </p:nvSpPr>
        <p:spPr>
          <a:xfrm>
            <a:off x="2014571" y="4340931"/>
            <a:ext cx="101226" cy="10122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Estudio"/>
          <p:cNvSpPr/>
          <p:nvPr/>
        </p:nvSpPr>
        <p:spPr>
          <a:xfrm>
            <a:off x="1981715" y="4330212"/>
            <a:ext cx="71018" cy="7101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Estudio"/>
          <p:cNvSpPr/>
          <p:nvPr/>
        </p:nvSpPr>
        <p:spPr>
          <a:xfrm>
            <a:off x="1880082" y="4377088"/>
            <a:ext cx="75731" cy="7573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Estudio"/>
          <p:cNvSpPr/>
          <p:nvPr/>
        </p:nvSpPr>
        <p:spPr>
          <a:xfrm>
            <a:off x="1785088" y="4281416"/>
            <a:ext cx="85453" cy="8545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Estudio"/>
          <p:cNvSpPr/>
          <p:nvPr/>
        </p:nvSpPr>
        <p:spPr>
          <a:xfrm>
            <a:off x="1816007" y="4319542"/>
            <a:ext cx="100799" cy="1007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Estudio"/>
          <p:cNvSpPr/>
          <p:nvPr/>
        </p:nvSpPr>
        <p:spPr>
          <a:xfrm>
            <a:off x="2087956" y="4370333"/>
            <a:ext cx="64900" cy="6490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Estudio"/>
          <p:cNvSpPr/>
          <p:nvPr/>
        </p:nvSpPr>
        <p:spPr>
          <a:xfrm>
            <a:off x="2046126" y="4394938"/>
            <a:ext cx="65344" cy="6534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Estudio"/>
          <p:cNvSpPr/>
          <p:nvPr/>
        </p:nvSpPr>
        <p:spPr>
          <a:xfrm>
            <a:off x="1966897" y="4315332"/>
            <a:ext cx="98683" cy="986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Estudio"/>
          <p:cNvSpPr/>
          <p:nvPr/>
        </p:nvSpPr>
        <p:spPr>
          <a:xfrm>
            <a:off x="1718762" y="4368738"/>
            <a:ext cx="69540" cy="6954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Estudio"/>
          <p:cNvSpPr/>
          <p:nvPr/>
        </p:nvSpPr>
        <p:spPr>
          <a:xfrm>
            <a:off x="2800350" y="3536950"/>
            <a:ext cx="177800" cy="177800"/>
          </a:xfrm>
          <a:prstGeom prst="ellipse">
            <a:avLst/>
          </a:prstGeom>
          <a:solidFill>
            <a:srgbClr val="AD3B9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Rótulo marcador"/>
          <p:cNvSpPr txBox="1"/>
          <p:nvPr/>
        </p:nvSpPr>
        <p:spPr>
          <a:xfrm>
            <a:off x="508000" y="2984500"/>
            <a:ext cx="1841500" cy="635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200" b="1" i="0" lang="es-ES">
                <a:solidFill>
                  <a:srgbClr val="AD3B94"/>
                </a:solidFill>
              </a:rPr>
              <a:t>Aprendizaje automático</a:t>
            </a:r>
          </a:p>
        </p:txBody>
      </p:sp>
      <p:cxnSp>
        <p:nvCxnSpPr>
          <p:cNvPr id="102" name="Guía marcador"/>
          <p:cNvCxnSpPr/>
          <p:nvPr/>
        </p:nvCxnSpPr>
        <p:spPr>
          <a:xfrm>
            <a:off x="825500" y="3657600"/>
            <a:ext cx="0" cy="977900"/>
          </a:xfrm>
          <a:prstGeom prst="line">
            <a:avLst/>
          </a:prstGeom>
          <a:ln w="19050">
            <a:solidFill>
              <a:srgbClr val="AD3B94"/>
            </a:solidFill>
            <a:prstDash val="sysDot"/>
          </a:ln>
        </p:spPr>
      </p:cxnSp>
      <p:sp>
        <p:nvSpPr>
          <p:cNvPr id="103" name="Tarjeta TDM"/>
          <p:cNvSpPr/>
          <p:nvPr/>
        </p:nvSpPr>
        <p:spPr>
          <a:xfrm>
            <a:off x="8060436" y="1879600"/>
            <a:ext cx="3623818" cy="4127500"/>
          </a:xfrm>
          <a:prstGeom prst="roundRect">
            <a:avLst>
              <a:gd name="adj" fmla="val 2803"/>
            </a:avLst>
          </a:prstGeom>
          <a:solidFill>
            <a:srgbClr val="E7F4E9"/>
          </a:solidFill>
          <a:ln w="31750">
            <a:solidFill>
              <a:srgbClr val="5BB46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Cabecera tarjeta"/>
          <p:cNvSpPr/>
          <p:nvPr/>
        </p:nvSpPr>
        <p:spPr>
          <a:xfrm>
            <a:off x="8060436" y="1879600"/>
            <a:ext cx="3623818" cy="1244600"/>
          </a:xfrm>
          <a:prstGeom prst="roundRect">
            <a:avLst>
              <a:gd name="adj" fmla="val 8163"/>
            </a:avLst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Cabecera (base)"/>
          <p:cNvSpPr/>
          <p:nvPr/>
        </p:nvSpPr>
        <p:spPr>
          <a:xfrm>
            <a:off x="8060436" y="2870200"/>
            <a:ext cx="3623818" cy="254000"/>
          </a:xfrm>
          <a:prstGeom prst="rect">
            <a:avLst/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263636" y="1981200"/>
            <a:ext cx="3217418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FFFFFF"/>
                </a:solidFill>
              </a:rPr>
              <a:t>Dosificación individualizada</a:t>
            </a:r>
            <a:br/>
            <a:r>
              <a:rPr sz="2200" b="1" i="0" lang="es-ES">
                <a:solidFill>
                  <a:srgbClr val="FFFFFF"/>
                </a:solidFill>
              </a:rPr>
              <a:t>de antimicrobianos</a:t>
            </a:r>
            <a:br/>
            <a:r>
              <a:rPr sz="2200" b="1" i="0" lang="es-ES">
                <a:solidFill>
                  <a:srgbClr val="FFFFFF"/>
                </a:solidFill>
              </a:rPr>
              <a:t>(TDM o MIPD)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63636" y="3225800"/>
            <a:ext cx="3217418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2B7D3D"/>
                </a:solidFill>
              </a:rPr>
              <a:t>10 ensayos · 1241 pacientes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63636" y="36068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Fracaso terapéutico </a:t>
            </a:r>
            <a:r>
              <a:rPr sz="2200" b="1" i="0" lang="es-ES">
                <a:solidFill>
                  <a:srgbClr val="263445"/>
                </a:solidFill>
              </a:rPr>
              <a:t>−30 %</a:t>
            </a:r>
            <a:r>
              <a:rPr sz="2200" b="0" i="0" lang="es-ES">
                <a:solidFill>
                  <a:srgbClr val="263445"/>
                </a:solidFill>
              </a:rPr>
              <a:t> (RR 0,70)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8263636" y="43180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0" name="TextBox 109"/>
          <p:cNvSpPr txBox="1"/>
          <p:nvPr/>
        </p:nvSpPr>
        <p:spPr>
          <a:xfrm>
            <a:off x="8263636" y="43815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Nefrotoxicidad </a:t>
            </a:r>
            <a:r>
              <a:rPr sz="2200" b="1" i="0" lang="es-ES">
                <a:solidFill>
                  <a:srgbClr val="263445"/>
                </a:solidFill>
              </a:rPr>
              <a:t>−45 %</a:t>
            </a:r>
            <a:r>
              <a:rPr sz="2200" b="0" i="0" lang="es-ES">
                <a:solidFill>
                  <a:srgbClr val="263445"/>
                </a:solidFill>
              </a:rPr>
              <a:t> (RR 0,55)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63636" y="50927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63636" y="51562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Mortalidad: sin cambio significativo</a:t>
            </a:r>
          </a:p>
        </p:txBody>
      </p:sp>
      <p:cxnSp>
        <p:nvCxnSpPr>
          <p:cNvPr id="113" name="Unión peldaño 5"/>
          <p:cNvCxnSpPr/>
          <p:nvPr/>
        </p:nvCxnSpPr>
        <p:spPr>
          <a:xfrm>
            <a:off x="7527036" y="1949450"/>
            <a:ext cx="533400" cy="0"/>
          </a:xfrm>
          <a:prstGeom prst="line">
            <a:avLst/>
          </a:prstGeom>
          <a:ln w="50800">
            <a:solidFill>
              <a:srgbClr val="5BB46C"/>
            </a:solidFill>
          </a:ln>
        </p:spPr>
      </p:cxnSp>
      <p:sp>
        <p:nvSpPr>
          <p:cNvPr id="114" name="Marcador TDM en peldaño 5"/>
          <p:cNvSpPr/>
          <p:nvPr/>
        </p:nvSpPr>
        <p:spPr>
          <a:xfrm>
            <a:off x="7438136" y="1860550"/>
            <a:ext cx="177800" cy="177800"/>
          </a:xfrm>
          <a:prstGeom prst="ellipse">
            <a:avLst/>
          </a:prstGeom>
          <a:solidFill>
            <a:srgbClr val="5BB46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Amooei et al., Pharmaceutics, 2026 · Blasiak et al., NPJ Precis Oncol, 2025 · Sanz-Codina et al., Clin Microbiol Infect, 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El fallo no es de la IA: es de usar una sola pieza.</a:t>
            </a:r>
          </a:p>
        </p:txBody>
      </p:sp>
      <p:sp>
        <p:nvSpPr>
          <p:cNvPr id="3" name="Rótulo arnés"/>
          <p:cNvSpPr txBox="1"/>
          <p:nvPr/>
        </p:nvSpPr>
        <p:spPr>
          <a:xfrm>
            <a:off x="1452054" y="1879600"/>
            <a:ext cx="4064000" cy="635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Arnés (el protocolo)</a:t>
            </a:r>
          </a:p>
          <a:p>
            <a:pPr algn="l"/>
            <a:r>
              <a:rPr sz="2000" b="0" i="0" lang="es-ES">
                <a:solidFill>
                  <a:srgbClr val="5E6B78"/>
                </a:solidFill>
              </a:rPr>
              <a:t>procedimiento normalizado de trabajo</a:t>
            </a:r>
          </a:p>
        </p:txBody>
      </p:sp>
      <p:sp>
        <p:nvSpPr>
          <p:cNvPr id="4" name="Arnés"/>
          <p:cNvSpPr/>
          <p:nvPr/>
        </p:nvSpPr>
        <p:spPr>
          <a:xfrm>
            <a:off x="1452054" y="2667000"/>
            <a:ext cx="9288145" cy="2921000"/>
          </a:xfrm>
          <a:prstGeom prst="roundRect">
            <a:avLst>
              <a:gd name="adj" fmla="val 3478"/>
            </a:avLst>
          </a:prstGeom>
          <a:noFill/>
          <a:ln w="31750">
            <a:solidFill>
              <a:srgbClr val="2634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orde arnés"/>
          <p:cNvSpPr/>
          <p:nvPr/>
        </p:nvSpPr>
        <p:spPr>
          <a:xfrm>
            <a:off x="4699000" y="5448300"/>
            <a:ext cx="2794000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000" b="0" i="1" lang="es-ES">
                <a:solidFill>
                  <a:srgbClr val="263445"/>
                </a:solidFill>
              </a:rPr>
              <a:t>reglas · límites · registro</a:t>
            </a:r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230" y="2819400"/>
            <a:ext cx="745541" cy="1498600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540" y="3092450"/>
            <a:ext cx="727220" cy="952500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458" y="2870200"/>
            <a:ext cx="430784" cy="406400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6850" y="3365500"/>
            <a:ext cx="508000" cy="406400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7650" y="3860800"/>
            <a:ext cx="406400" cy="406400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3359150" y="3568700"/>
            <a:ext cx="22415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591300" y="3568700"/>
            <a:ext cx="2343150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pic>
        <p:nvPicPr>
          <p:cNvPr id="13" name="Farmacéutico con pluma" descr="Farmacéutico con plu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7713" y="1841500"/>
            <a:ext cx="756575" cy="660400"/>
          </a:xfrm>
          <a:prstGeom prst="rect">
            <a:avLst/>
          </a:prstGeom>
        </p:spPr>
      </p:pic>
      <p:cxnSp>
        <p:nvCxnSpPr>
          <p:cNvPr id="14" name="Supervisión"/>
          <p:cNvCxnSpPr/>
          <p:nvPr/>
        </p:nvCxnSpPr>
        <p:spPr>
          <a:xfrm>
            <a:off x="6096000" y="2527300"/>
            <a:ext cx="0" cy="2540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6588709" y="1841500"/>
            <a:ext cx="48260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F5480"/>
                </a:solidFill>
              </a:rPr>
              <a:t>Farmacéutico</a:t>
            </a:r>
            <a:r>
              <a:rPr sz="2000" b="0" i="0" lang="es-ES">
                <a:solidFill>
                  <a:srgbClr val="263445"/>
                </a:solidFill>
              </a:rPr>
              <a:t> · supervisa y aporta criterio</a:t>
            </a:r>
          </a:p>
          <a:p>
            <a:pPr algn="l"/>
            <a:r>
              <a:rPr sz="2000" b="0" i="0" lang="es-ES">
                <a:solidFill>
                  <a:srgbClr val="5E6B78"/>
                </a:solidFill>
              </a:rPr>
              <a:t>firma del informe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9400" y="4406900"/>
            <a:ext cx="26035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Contexto</a:t>
            </a:r>
            <a:r>
              <a:rPr sz="2000" b="0" i="0" lang="es-ES">
                <a:solidFill>
                  <a:srgbClr val="263445"/>
                </a:solidFill>
              </a:rPr>
              <a:t> · lo que le das del caso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historia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4406900"/>
            <a:ext cx="3810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8E2F79"/>
                </a:solidFill>
              </a:rPr>
              <a:t>Modelo de lenguaje</a:t>
            </a:r>
            <a:r>
              <a:rPr sz="2000" b="0" i="0" lang="es-ES">
                <a:solidFill>
                  <a:srgbClr val="263445"/>
                </a:solidFill>
              </a:rPr>
              <a:t> · predice texto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lee, llama a la herramienta y redacta el borrador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9100" y="4406900"/>
            <a:ext cx="26035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2B7D3D"/>
                </a:solidFill>
              </a:rPr>
              <a:t>Herramientas</a:t>
            </a:r>
            <a:r>
              <a:rPr sz="2000" b="0" i="0" lang="es-ES">
                <a:solidFill>
                  <a:srgbClr val="263445"/>
                </a:solidFill>
              </a:rPr>
              <a:t> · código y programas validados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programa bayesiano</a:t>
            </a:r>
          </a:p>
        </p:txBody>
      </p:sp>
      <p:sp>
        <p:nvSpPr>
          <p:cNvPr id="19" name="Frase de pie"/>
          <p:cNvSpPr txBox="1"/>
          <p:nvPr/>
        </p:nvSpPr>
        <p:spPr>
          <a:xfrm>
            <a:off x="508000" y="5803900"/>
            <a:ext cx="11176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0" i="0" lang="es-ES">
                <a:solidFill>
                  <a:srgbClr val="263445"/>
                </a:solidFill>
              </a:rPr>
              <a:t>El modelo de lenguaje no da siempre la misma respuesta; </a:t>
            </a:r>
            <a:r>
              <a:rPr sz="2400" b="1" i="0" lang="es-ES">
                <a:solidFill>
                  <a:srgbClr val="2B7D3D"/>
                </a:solidFill>
              </a:rPr>
              <a:t>la herramienta validada, sí.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Pritchard-Bell et al., CPT Pharmacometrics Syst Pharmacol,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La lección de TDM-AID: cada tarea, a la pieza que mejor la hace.</a:t>
            </a:r>
          </a:p>
        </p:txBody>
      </p:sp>
      <p:sp>
        <p:nvSpPr>
          <p:cNvPr id="3" name="Fondo radiografía"/>
          <p:cNvSpPr/>
          <p:nvPr/>
        </p:nvSpPr>
        <p:spPr>
          <a:xfrm>
            <a:off x="508000" y="1790700"/>
            <a:ext cx="11176000" cy="4445000"/>
          </a:xfrm>
          <a:prstGeom prst="roundRect">
            <a:avLst>
              <a:gd name="adj" fmla="val 2285"/>
            </a:avLst>
          </a:prstGeom>
          <a:solidFill>
            <a:srgbClr val="0E1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anja"/>
          <p:cNvSpPr txBox="1"/>
          <p:nvPr/>
        </p:nvSpPr>
        <p:spPr>
          <a:xfrm>
            <a:off x="711200" y="1905000"/>
            <a:ext cx="4826000" cy="584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1" lang="es-ES">
                <a:solidFill>
                  <a:srgbClr val="DDE7F0"/>
                </a:solidFill>
              </a:rPr>
              <a:t>Prepublicación · 30 casos retrospectivos ·</a:t>
            </a:r>
            <a:br/>
            <a:r>
              <a:rPr sz="2000" b="0" i="1" lang="es-ES">
                <a:solidFill>
                  <a:srgbClr val="DDE7F0"/>
                </a:solidFill>
              </a:rPr>
              <a:t>función renal estable</a:t>
            </a:r>
          </a:p>
        </p:txBody>
      </p:sp>
      <p:sp>
        <p:nvSpPr>
          <p:cNvPr id="5" name="Arnés"/>
          <p:cNvSpPr/>
          <p:nvPr/>
        </p:nvSpPr>
        <p:spPr>
          <a:xfrm>
            <a:off x="1452054" y="2667000"/>
            <a:ext cx="9288145" cy="3048000"/>
          </a:xfrm>
          <a:prstGeom prst="roundRect">
            <a:avLst>
              <a:gd name="adj" fmla="val 3333"/>
            </a:avLst>
          </a:prstGeom>
          <a:noFill/>
          <a:ln w="31750">
            <a:solidFill>
              <a:srgbClr val="D42A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ótulo arnés"/>
          <p:cNvSpPr txBox="1"/>
          <p:nvPr/>
        </p:nvSpPr>
        <p:spPr>
          <a:xfrm>
            <a:off x="1579054" y="2755900"/>
            <a:ext cx="101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FFFFFF"/>
                </a:solidFill>
              </a:rPr>
              <a:t>Arnés</a:t>
            </a:r>
          </a:p>
        </p:txBody>
      </p:sp>
      <p:pic>
        <p:nvPicPr>
          <p:cNvPr id="7" name="Loro robótico (modelo de lenguaje)" descr="Loro robótico (modelo de lenguaj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27" y="2819400"/>
            <a:ext cx="767546" cy="1498600"/>
          </a:xfrm>
          <a:prstGeom prst="rect">
            <a:avLst/>
          </a:prstGeom>
        </p:spPr>
      </p:pic>
      <p:pic>
        <p:nvPicPr>
          <p:cNvPr id="8" name="Ficha del caso" descr="Ficha del cas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2197" y="3092450"/>
            <a:ext cx="737905" cy="952500"/>
          </a:xfrm>
          <a:prstGeom prst="rect">
            <a:avLst/>
          </a:prstGeom>
        </p:spPr>
      </p:pic>
      <p:pic>
        <p:nvPicPr>
          <p:cNvPr id="9" name="Icono curva" descr="Icono cur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6361" y="2870200"/>
            <a:ext cx="428978" cy="406400"/>
          </a:xfrm>
          <a:prstGeom prst="rect">
            <a:avLst/>
          </a:prstGeom>
        </p:spPr>
      </p:pic>
      <p:pic>
        <p:nvPicPr>
          <p:cNvPr id="10" name="Icono campana" descr="Icono campa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1083" y="3365500"/>
            <a:ext cx="499533" cy="406400"/>
          </a:xfrm>
          <a:prstGeom prst="rect">
            <a:avLst/>
          </a:prstGeom>
        </p:spPr>
      </p:pic>
      <p:pic>
        <p:nvPicPr>
          <p:cNvPr id="11" name="Icono red" descr="Icono re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7650" y="3860800"/>
            <a:ext cx="406400" cy="406400"/>
          </a:xfrm>
          <a:prstGeom prst="rect">
            <a:avLst/>
          </a:prstGeom>
        </p:spPr>
      </p:pic>
      <p:cxnSp>
        <p:nvCxnSpPr>
          <p:cNvPr id="12" name="Contexto → modelo"/>
          <p:cNvCxnSpPr/>
          <p:nvPr/>
        </p:nvCxnSpPr>
        <p:spPr>
          <a:xfrm>
            <a:off x="3359150" y="3568700"/>
            <a:ext cx="2241550" cy="0"/>
          </a:xfrm>
          <a:prstGeom prst="line">
            <a:avLst/>
          </a:prstGeom>
          <a:ln w="31750">
            <a:solidFill>
              <a:srgbClr val="A9DBFF"/>
            </a:solidFill>
            <a:tailEnd type="triangle" w="med" len="med"/>
          </a:ln>
        </p:spPr>
      </p:cxnSp>
      <p:cxnSp>
        <p:nvCxnSpPr>
          <p:cNvPr id="13" name="Modelo ↔ herramientas"/>
          <p:cNvCxnSpPr/>
          <p:nvPr/>
        </p:nvCxnSpPr>
        <p:spPr>
          <a:xfrm>
            <a:off x="6591300" y="3568700"/>
            <a:ext cx="2343150" cy="0"/>
          </a:xfrm>
          <a:prstGeom prst="line">
            <a:avLst/>
          </a:prstGeom>
          <a:ln w="31750">
            <a:solidFill>
              <a:srgbClr val="A9DBFF"/>
            </a:solidFill>
            <a:headEnd type="triangle" w="med" len="med"/>
            <a:tailEnd type="triangle" w="med" len="med"/>
          </a:ln>
        </p:spPr>
      </p:cxnSp>
      <p:pic>
        <p:nvPicPr>
          <p:cNvPr id="14" name="Farmacéutico con pluma" descr="Farmacéutico con plu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0854" y="1841500"/>
            <a:ext cx="750291" cy="660400"/>
          </a:xfrm>
          <a:prstGeom prst="rect">
            <a:avLst/>
          </a:prstGeom>
        </p:spPr>
      </p:pic>
      <p:cxnSp>
        <p:nvCxnSpPr>
          <p:cNvPr id="15" name="Supervisión"/>
          <p:cNvCxnSpPr/>
          <p:nvPr/>
        </p:nvCxnSpPr>
        <p:spPr>
          <a:xfrm>
            <a:off x="6096000" y="2527300"/>
            <a:ext cx="0" cy="2540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6588709" y="1854200"/>
            <a:ext cx="190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FFFFFF"/>
                </a:solidFill>
              </a:rPr>
              <a:t>Farmacéutico</a:t>
            </a:r>
          </a:p>
        </p:txBody>
      </p:sp>
      <p:sp>
        <p:nvSpPr>
          <p:cNvPr id="17" name="Estado farmacéutico"/>
          <p:cNvSpPr/>
          <p:nvPr/>
        </p:nvSpPr>
        <p:spPr>
          <a:xfrm>
            <a:off x="6588709" y="2171700"/>
            <a:ext cx="3586401" cy="2921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borrador + revisión obligatoria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9400" y="4406900"/>
            <a:ext cx="26035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Contexto</a:t>
            </a:r>
          </a:p>
        </p:txBody>
      </p:sp>
      <p:sp>
        <p:nvSpPr>
          <p:cNvPr id="19" name="Estado contexto"/>
          <p:cNvSpPr/>
          <p:nvPr/>
        </p:nvSpPr>
        <p:spPr>
          <a:xfrm>
            <a:off x="1898650" y="4724400"/>
            <a:ext cx="1905000" cy="5842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guías locales</a:t>
            </a:r>
            <a:br/>
            <a:r>
              <a:rPr sz="2000" b="1" i="0" lang="es-ES">
                <a:solidFill>
                  <a:srgbClr val="0E1B2C"/>
                </a:solidFill>
              </a:rPr>
              <a:t>recuperadas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44069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Modelo (GPT-4o)</a:t>
            </a:r>
          </a:p>
        </p:txBody>
      </p:sp>
      <p:sp>
        <p:nvSpPr>
          <p:cNvPr id="21" name="Estado modelo"/>
          <p:cNvSpPr/>
          <p:nvPr/>
        </p:nvSpPr>
        <p:spPr>
          <a:xfrm>
            <a:off x="5061550" y="4724400"/>
            <a:ext cx="2068899" cy="292100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interpreta: 83 %</a:t>
            </a:r>
          </a:p>
        </p:txBody>
      </p:sp>
      <p:sp>
        <p:nvSpPr>
          <p:cNvPr id="22" name="Fallo 1"/>
          <p:cNvSpPr/>
          <p:nvPr/>
        </p:nvSpPr>
        <p:spPr>
          <a:xfrm>
            <a:off x="4313282" y="5041900"/>
            <a:ext cx="3565436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predice concentraciones: 58 %</a:t>
            </a:r>
          </a:p>
        </p:txBody>
      </p:sp>
      <p:sp>
        <p:nvSpPr>
          <p:cNvPr id="23" name="Fallo 2"/>
          <p:cNvSpPr/>
          <p:nvPr/>
        </p:nvSpPr>
        <p:spPr>
          <a:xfrm>
            <a:off x="4663361" y="5359400"/>
            <a:ext cx="286527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cuándo extraer: 0 de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4406900"/>
            <a:ext cx="24511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Herramienta</a:t>
            </a:r>
          </a:p>
          <a:p>
            <a:pPr algn="ctr"/>
            <a:r>
              <a:rPr sz="2000" b="0" i="0" lang="es-ES">
                <a:solidFill>
                  <a:srgbClr val="DDE7F0"/>
                </a:solidFill>
              </a:rPr>
              <a:t>(motor de ecuaciones de primer orden)</a:t>
            </a:r>
          </a:p>
        </p:txBody>
      </p:sp>
      <p:sp>
        <p:nvSpPr>
          <p:cNvPr id="25" name="Estado herramienta"/>
          <p:cNvSpPr/>
          <p:nvPr/>
        </p:nvSpPr>
        <p:spPr>
          <a:xfrm>
            <a:off x="8222099" y="5359400"/>
            <a:ext cx="2389902" cy="292100"/>
          </a:xfrm>
          <a:prstGeom prst="roundRect">
            <a:avLst>
              <a:gd name="adj" fmla="val 50000"/>
            </a:avLst>
          </a:prstGeom>
          <a:solidFill>
            <a:srgbClr val="5BB46C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cálculos sin errores</a:t>
            </a:r>
          </a:p>
        </p:txBody>
      </p:sp>
      <p:sp>
        <p:nvSpPr>
          <p:cNvPr id="26" name="Flecha curva"/>
          <p:cNvSpPr/>
          <p:nvPr/>
        </p:nvSpPr>
        <p:spPr>
          <a:xfrm>
            <a:off x="7916817" y="3949700"/>
            <a:ext cx="979532" cy="1238250"/>
          </a:xfrm>
          <a:custGeom>
            <a:avLst/>
            <a:gdLst/>
            <a:ahLst/>
            <a:cxnLst/>
            <a:rect l="0" t="0" r="r" b="b"/>
            <a:pathLst>
              <a:path w="979532" h="1238250" fill="none">
                <a:moveTo>
                  <a:pt x="0" y="1238250"/>
                </a:moveTo>
                <a:cubicBezTo>
                  <a:pt x="114300" y="711200"/>
                  <a:pt x="25400" y="63500"/>
                  <a:pt x="979532" y="0"/>
                </a:cubicBezTo>
              </a:path>
            </a:pathLst>
          </a:custGeom>
          <a:noFill/>
          <a:ln w="31750" cap="rnd">
            <a:solidFill>
              <a:srgbClr val="FFFFFF"/>
            </a:solidFill>
            <a:round/>
            <a:tailEnd type="triangle" w="med" len="med"/>
          </a:ln>
        </p:spPr>
      </p:sp>
      <p:sp>
        <p:nvSpPr>
          <p:cNvPr id="27" name="Rótulo cálculo"/>
          <p:cNvSpPr txBox="1"/>
          <p:nvPr/>
        </p:nvSpPr>
        <p:spPr>
          <a:xfrm>
            <a:off x="6515100" y="3746500"/>
            <a:ext cx="17145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1" lang="es-ES">
                <a:solidFill>
                  <a:srgbClr val="FFFFFF"/>
                </a:solidFill>
              </a:rPr>
              <a:t>esto es cálculo</a:t>
            </a:r>
          </a:p>
        </p:txBody>
      </p:sp>
      <p:sp>
        <p:nvSpPr>
          <p:cNvPr id="28" name="Estado arnés"/>
          <p:cNvSpPr/>
          <p:nvPr/>
        </p:nvSpPr>
        <p:spPr>
          <a:xfrm>
            <a:off x="1452054" y="5829300"/>
            <a:ext cx="512583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sin tope de dosis · 1 de cada 6 casos &gt; 4 g/día</a:t>
            </a:r>
          </a:p>
        </p:txBody>
      </p:sp>
      <p:sp>
        <p:nvSpPr>
          <p:cNvPr id="29" name="Flecha curva"/>
          <p:cNvSpPr/>
          <p:nvPr/>
        </p:nvSpPr>
        <p:spPr>
          <a:xfrm>
            <a:off x="6615993" y="5740400"/>
            <a:ext cx="406400" cy="234950"/>
          </a:xfrm>
          <a:custGeom>
            <a:avLst/>
            <a:gdLst/>
            <a:ahLst/>
            <a:cxnLst/>
            <a:rect l="0" t="0" r="r" b="b"/>
            <a:pathLst>
              <a:path w="406400" h="234950" fill="none">
                <a:moveTo>
                  <a:pt x="0" y="234950"/>
                </a:moveTo>
                <a:cubicBezTo>
                  <a:pt x="215900" y="234950"/>
                  <a:pt x="406400" y="127000"/>
                  <a:pt x="406400" y="0"/>
                </a:cubicBezTo>
              </a:path>
            </a:pathLst>
          </a:custGeom>
          <a:noFill/>
          <a:ln w="31750" cap="rnd">
            <a:solidFill>
              <a:srgbClr val="FFFFFF"/>
            </a:solidFill>
            <a:round/>
            <a:tailEnd type="triangle" w="med" len="med"/>
          </a:ln>
        </p:spPr>
      </p:sp>
      <p:sp>
        <p:nvSpPr>
          <p:cNvPr id="30" name="Rótulo límite"/>
          <p:cNvSpPr txBox="1"/>
          <p:nvPr/>
        </p:nvSpPr>
        <p:spPr>
          <a:xfrm>
            <a:off x="7149394" y="5829300"/>
            <a:ext cx="19050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1" lang="es-ES">
                <a:solidFill>
                  <a:srgbClr val="FFFFFF"/>
                </a:solidFill>
              </a:rPr>
              <a:t>esto es un límite</a:t>
            </a:r>
          </a:p>
        </p:txBody>
      </p:sp>
      <p:sp>
        <p:nvSpPr>
          <p:cNvPr id="31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Hassan et al., medRxiv, 2026 (prepublicación)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Leemos la ficha técnica de lo que dispensamos;</a:t>
            </a:r>
            <a:br/>
            <a:r>
              <a:rPr sz="3200" b="0" i="0" lang="es-ES">
                <a:solidFill>
                  <a:srgbClr val="263445"/>
                </a:solidFill>
              </a:rPr>
              <a:t>leamos también la de la IA que usamos.</a:t>
            </a:r>
          </a:p>
        </p:txBody>
      </p:sp>
      <p:sp>
        <p:nvSpPr>
          <p:cNvPr id="3" name="Caja: tapa"/>
          <p:cNvSpPr/>
          <p:nvPr/>
        </p:nvSpPr>
        <p:spPr>
          <a:xfrm>
            <a:off x="609600" y="1892300"/>
            <a:ext cx="3746500" cy="444500"/>
          </a:xfrm>
          <a:custGeom>
            <a:avLst/>
            <a:gdLst/>
            <a:ahLst/>
            <a:cxnLst/>
            <a:rect l="l" t="t" r="r" b="b"/>
            <a:pathLst>
              <a:path w="3746500" h="444500">
                <a:moveTo>
                  <a:pt x="0" y="444500"/>
                </a:moveTo>
                <a:lnTo>
                  <a:pt x="762000" y="0"/>
                </a:lnTo>
                <a:lnTo>
                  <a:pt x="3746500" y="0"/>
                </a:lnTo>
                <a:lnTo>
                  <a:pt x="2984500" y="444500"/>
                </a:lnTo>
                <a:close/>
              </a:path>
            </a:pathLst>
          </a:custGeom>
          <a:solidFill>
            <a:srgbClr val="E4E9EE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ja: lateral"/>
          <p:cNvSpPr/>
          <p:nvPr/>
        </p:nvSpPr>
        <p:spPr>
          <a:xfrm>
            <a:off x="3594100" y="1892300"/>
            <a:ext cx="762000" cy="4254500"/>
          </a:xfrm>
          <a:custGeom>
            <a:avLst/>
            <a:gdLst/>
            <a:ahLst/>
            <a:cxnLst/>
            <a:rect l="l" t="t" r="r" b="b"/>
            <a:pathLst>
              <a:path w="762000" h="4254500">
                <a:moveTo>
                  <a:pt x="0" y="444500"/>
                </a:moveTo>
                <a:lnTo>
                  <a:pt x="762000" y="0"/>
                </a:lnTo>
                <a:lnTo>
                  <a:pt x="762000" y="3810000"/>
                </a:lnTo>
                <a:lnTo>
                  <a:pt x="0" y="4254500"/>
                </a:lnTo>
                <a:close/>
              </a:path>
            </a:pathLst>
          </a:custGeom>
          <a:solidFill>
            <a:srgbClr val="B9C3CD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ja: texto lateral"/>
          <p:cNvSpPr txBox="1"/>
          <p:nvPr/>
        </p:nvSpPr>
        <p:spPr>
          <a:xfrm rot="16200000">
            <a:off x="2324100" y="370205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Lea la ficha técnica</a:t>
            </a:r>
            <a:br/>
            <a:r>
              <a:rPr sz="2000" b="1" i="0" lang="es-ES">
                <a:solidFill>
                  <a:srgbClr val="263445"/>
                </a:solidFill>
              </a:rPr>
              <a:t>antes de usar</a:t>
            </a:r>
          </a:p>
        </p:txBody>
      </p:sp>
      <p:sp>
        <p:nvSpPr>
          <p:cNvPr id="6" name="Caja: frontal"/>
          <p:cNvSpPr/>
          <p:nvPr/>
        </p:nvSpPr>
        <p:spPr>
          <a:xfrm>
            <a:off x="609600" y="2336800"/>
            <a:ext cx="2984500" cy="381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ja: banda"/>
          <p:cNvSpPr/>
          <p:nvPr/>
        </p:nvSpPr>
        <p:spPr>
          <a:xfrm>
            <a:off x="619125" y="2552700"/>
            <a:ext cx="2965450" cy="114300"/>
          </a:xfrm>
          <a:prstGeom prst="rect">
            <a:avLst/>
          </a:prstGeom>
          <a:solidFill>
            <a:srgbClr val="00B3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ja: banda fina"/>
          <p:cNvSpPr/>
          <p:nvPr/>
        </p:nvSpPr>
        <p:spPr>
          <a:xfrm>
            <a:off x="619125" y="2705100"/>
            <a:ext cx="2965450" cy="38100"/>
          </a:xfrm>
          <a:prstGeom prst="rect">
            <a:avLst/>
          </a:prstGeom>
          <a:solidFill>
            <a:srgbClr val="C3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ja: nombre"/>
          <p:cNvSpPr txBox="1"/>
          <p:nvPr/>
        </p:nvSpPr>
        <p:spPr>
          <a:xfrm>
            <a:off x="812800" y="2946400"/>
            <a:ext cx="25781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000" b="1" i="0" lang="es-ES">
                <a:solidFill>
                  <a:srgbClr val="263445"/>
                </a:solidFill>
              </a:rPr>
              <a:t>Dosifica-IA</a:t>
            </a:r>
          </a:p>
        </p:txBody>
      </p:sp>
      <p:sp>
        <p:nvSpPr>
          <p:cNvPr id="10" name="Caja: contenido"/>
          <p:cNvSpPr txBox="1"/>
          <p:nvPr/>
        </p:nvSpPr>
        <p:spPr>
          <a:xfrm>
            <a:off x="812800" y="3581400"/>
            <a:ext cx="25781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Contiene:</a:t>
            </a:r>
            <a:br/>
            <a:r>
              <a:rPr sz="2200" b="0" i="0" lang="es-ES">
                <a:solidFill>
                  <a:srgbClr val="263445"/>
                </a:solidFill>
              </a:rPr>
              <a:t>1 modelo de lenguaje</a:t>
            </a:r>
          </a:p>
        </p:txBody>
      </p:sp>
      <p:sp>
        <p:nvSpPr>
          <p:cNvPr id="11" name="Caja: fondo pictograma"/>
          <p:cNvSpPr/>
          <p:nvPr/>
        </p:nvSpPr>
        <p:spPr>
          <a:xfrm>
            <a:off x="1568450" y="4826000"/>
            <a:ext cx="1066800" cy="1066800"/>
          </a:xfrm>
          <a:prstGeom prst="ellipse">
            <a:avLst/>
          </a:prstGeom>
          <a:solidFill>
            <a:srgbClr val="E0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ograma: loro" descr="Pictograma: lo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052" y="4889500"/>
            <a:ext cx="467597" cy="939800"/>
          </a:xfrm>
          <a:prstGeom prst="rect">
            <a:avLst/>
          </a:prstGeom>
        </p:spPr>
      </p:pic>
      <p:sp>
        <p:nvSpPr>
          <p:cNvPr id="13" name="Ficha: panel 1"/>
          <p:cNvSpPr/>
          <p:nvPr/>
        </p:nvSpPr>
        <p:spPr>
          <a:xfrm>
            <a:off x="5228273" y="1892300"/>
            <a:ext cx="6455982" cy="1206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o Composición" descr="Icono Composi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473" y="2100290"/>
            <a:ext cx="609600" cy="5085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44273" y="20320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Composición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hay dentro?</a:t>
            </a:r>
            <a:r>
              <a:rPr sz="2000" b="0" i="0" lang="es-ES">
                <a:solidFill>
                  <a:srgbClr val="263445"/>
                </a:solidFill>
              </a:rPr>
              <a:t> Estadística con modelo, aprendizaje automático o modelo de lenguaje.</a:t>
            </a:r>
          </a:p>
        </p:txBody>
      </p:sp>
      <p:sp>
        <p:nvSpPr>
          <p:cNvPr id="16" name="Ficha: panel 2"/>
          <p:cNvSpPr/>
          <p:nvPr/>
        </p:nvSpPr>
        <p:spPr>
          <a:xfrm>
            <a:off x="5228273" y="3098800"/>
            <a:ext cx="6455982" cy="1206500"/>
          </a:xfrm>
          <a:prstGeom prst="rect">
            <a:avLst/>
          </a:prstGeom>
          <a:solidFill>
            <a:srgbClr val="F3F6F9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 Mecanismo de acción" descr="Icono Mecanismo de ac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105" y="3302000"/>
            <a:ext cx="532335" cy="518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44273" y="32385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Mecanismo de acción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¿Quién hace el cálculo?</a:t>
            </a:r>
            <a:r>
              <a:rPr sz="2000" b="0" i="0" lang="es-ES">
                <a:solidFill>
                  <a:srgbClr val="263445"/>
                </a:solidFill>
              </a:rPr>
              <a:t> Una herramienta validada o el modelo de lenguaje.</a:t>
            </a:r>
          </a:p>
        </p:txBody>
      </p:sp>
      <p:sp>
        <p:nvSpPr>
          <p:cNvPr id="19" name="Ficha: panel 3"/>
          <p:cNvSpPr/>
          <p:nvPr/>
        </p:nvSpPr>
        <p:spPr>
          <a:xfrm>
            <a:off x="5228273" y="4305300"/>
            <a:ext cx="6455982" cy="1841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Icono Eficacia clínica y seguridad" descr="Icono Eficacia clínica y segurid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473" y="4508788"/>
            <a:ext cx="609600" cy="5175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273" y="4445000"/>
            <a:ext cx="5236782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Eficacia clínica y seguridad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 demostrado, y frente a qué?</a:t>
            </a:r>
            <a:r>
              <a:rPr sz="2000" b="0" i="0" lang="es-ES">
                <a:solidFill>
                  <a:srgbClr val="263445"/>
                </a:solidFill>
              </a:rPr>
              <a:t> Aciertos en una base de datos o resultados en pacientes; frente a un bayesiano con concentraciones o frente a un rival débil.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2000"/>
              </a:lnSpc>
            </a:pPr>
            <a:r>
              <a:rPr sz="3600" b="0" i="0" lang="es-ES">
                <a:solidFill>
                  <a:srgbClr val="263445"/>
                </a:solidFill>
              </a:rPr>
              <a:t>La </a:t>
            </a:r>
            <a:r>
              <a:rPr sz="3600" b="1" i="0" lang="es-ES">
                <a:solidFill>
                  <a:srgbClr val="2B7D3D"/>
                </a:solidFill>
              </a:rPr>
              <a:t>herramienta</a:t>
            </a:r>
            <a:r>
              <a:rPr sz="3600" b="0" i="0" lang="es-ES">
                <a:solidFill>
                  <a:srgbClr val="263445"/>
                </a:solidFill>
              </a:rPr>
              <a:t> calcula, el </a:t>
            </a:r>
            <a:r>
              <a:rPr sz="3600" b="1" i="0" lang="es-ES">
                <a:solidFill>
                  <a:srgbClr val="AD3B94"/>
                </a:solidFill>
              </a:rPr>
              <a:t>modelo</a:t>
            </a:r>
            <a:r>
              <a:rPr sz="3600" b="0" i="0" lang="es-ES">
                <a:solidFill>
                  <a:srgbClr val="263445"/>
                </a:solidFill>
              </a:rPr>
              <a:t> explica</a:t>
            </a:r>
            <a:br/>
            <a:r>
              <a:rPr sz="3600" b="0" i="0" lang="es-ES">
                <a:solidFill>
                  <a:srgbClr val="263445"/>
                </a:solidFill>
              </a:rPr>
              <a:t>y el </a:t>
            </a:r>
            <a:r>
              <a:rPr sz="3600" b="1" i="0" lang="es-ES">
                <a:solidFill>
                  <a:srgbClr val="2F5480"/>
                </a:solidFill>
              </a:rPr>
              <a:t>farmacéutico</a:t>
            </a:r>
            <a:r>
              <a:rPr sz="3600" b="0" i="0" lang="es-ES">
                <a:solidFill>
                  <a:srgbClr val="263445"/>
                </a:solidFill>
              </a:rPr>
              <a:t> decide.</a:t>
            </a:r>
          </a:p>
        </p:txBody>
      </p:sp>
      <p:pic>
        <p:nvPicPr>
          <p:cNvPr id="3" name="Farmacéutico con pluma" descr="Farmacéutico con plu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767" y="1905000"/>
            <a:ext cx="1018466" cy="889000"/>
          </a:xfrm>
          <a:prstGeom prst="rect">
            <a:avLst/>
          </a:prstGeom>
        </p:spPr>
      </p:pic>
      <p:cxnSp>
        <p:nvCxnSpPr>
          <p:cNvPr id="4" name="Supervisión"/>
          <p:cNvCxnSpPr/>
          <p:nvPr/>
        </p:nvCxnSpPr>
        <p:spPr>
          <a:xfrm>
            <a:off x="6096000" y="2819400"/>
            <a:ext cx="0" cy="24842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5" name="Arnés (gris)"/>
          <p:cNvSpPr/>
          <p:nvPr/>
        </p:nvSpPr>
        <p:spPr>
          <a:xfrm>
            <a:off x="2396109" y="2984500"/>
            <a:ext cx="7400036" cy="1589202"/>
          </a:xfrm>
          <a:prstGeom prst="roundRect">
            <a:avLst>
              <a:gd name="adj" fmla="val 6393"/>
            </a:avLst>
          </a:prstGeom>
          <a:noFill/>
          <a:ln w="31750">
            <a:solidFill>
              <a:srgbClr val="C3CB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007" y="3105920"/>
            <a:ext cx="593986" cy="1193962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74" y="3323464"/>
            <a:ext cx="579389" cy="758874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625" y="3146393"/>
            <a:ext cx="343214" cy="323786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8865" y="3541008"/>
            <a:ext cx="404733" cy="323786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9339" y="3935622"/>
            <a:ext cx="323786" cy="323786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3915501" y="3702901"/>
            <a:ext cx="1785884" cy="0"/>
          </a:xfrm>
          <a:prstGeom prst="line">
            <a:avLst/>
          </a:prstGeom>
          <a:ln w="31750">
            <a:solidFill>
              <a:srgbClr val="C3CBD3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490615" y="3702901"/>
            <a:ext cx="1866830" cy="0"/>
          </a:xfrm>
          <a:prstGeom prst="line">
            <a:avLst/>
          </a:prstGeom>
          <a:ln w="31750">
            <a:solidFill>
              <a:srgbClr val="C3CBD3"/>
            </a:solidFill>
            <a:headEnd type="triangle" w="med" len="med"/>
            <a:tailEnd type="triangle" w="med" len="med"/>
          </a:ln>
        </p:spPr>
      </p:cxnSp>
      <p:sp>
        <p:nvSpPr>
          <p:cNvPr id="13" name="Relevo"/>
          <p:cNvSpPr/>
          <p:nvPr/>
        </p:nvSpPr>
        <p:spPr>
          <a:xfrm>
            <a:off x="508000" y="5511800"/>
            <a:ext cx="11176000" cy="6350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203200" tIns="25400" rIns="203200" bIns="25400">
            <a:noAutofit/>
          </a:bodyPr>
          <a:lstStyle/>
          <a:p>
            <a:pPr algn="l"/>
            <a:r>
              <a:rPr sz="2000" b="1" i="0" lang="es-ES">
                <a:solidFill>
                  <a:srgbClr val="007A79"/>
                </a:solidFill>
              </a:rPr>
              <a:t>A continuación: </a:t>
            </a:r>
            <a:r>
              <a:rPr sz="2000" b="1" i="0" lang="es-ES">
                <a:solidFill>
                  <a:srgbClr val="263445"/>
                </a:solidFill>
              </a:rPr>
              <a:t>Emilio Monte Boquet</a:t>
            </a:r>
            <a:r>
              <a:rPr sz="2000" b="0" i="0" lang="es-ES">
                <a:solidFill>
                  <a:srgbClr val="263445"/>
                </a:solidFill>
              </a:rPr>
              <a:t> · Competencias y habilidades en IA para el farmacéutico hospitalario: de usuario a supervisor experto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E64AEEDD9B7A4D93545ACBE97D4615" ma:contentTypeVersion="2" ma:contentTypeDescription="Create a new document." ma:contentTypeScope="" ma:versionID="f49002b78e3a4a71b814eef46a983816">
  <xsd:schema xmlns:xsd="http://www.w3.org/2001/XMLSchema" xmlns:xs="http://www.w3.org/2001/XMLSchema" xmlns:p="http://schemas.microsoft.com/office/2006/metadata/properties" xmlns:ns2="http://schemas.microsoft.com/sharepoint/v3/fields" targetNamespace="http://schemas.microsoft.com/office/2006/metadata/properties" ma:root="true" ma:fieldsID="38f6db2dd0d9a0cf6a8dc37be32b365b" ns2:_=""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_Status" minOccurs="0"/>
                <xsd:element ref="ns2:_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8" nillable="true" ma:displayName="Status" ma:default="Not Started" ma:internalName="_Status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  <xsd:element name="_Version" ma:index="9" nillable="true" ma:displayName="Version" ma:internalName="_Version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Version xmlns="http://schemas.microsoft.com/sharepoint/v3/fields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E4214858-785C-42F7-BE66-6D0E79395F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/field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6F2769-7194-4217-93D3-3AF3A4742282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sharepoint/v3/field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FNEMasterTemplateForThemePreview.pptx</Template>
  <TotalTime>540</TotalTime>
  <Words>35</Words>
  <Application>Microsoft Office PowerPoint</Application>
  <PresentationFormat>Presentación en pantalla (16:9)</PresentationFormat>
  <Paragraphs>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FileNewTemplate</dc:title>
  <dc:creator>Diana</dc:creator>
  <cp:lastModifiedBy>ernes</cp:lastModifiedBy>
  <cp:revision>72</cp:revision>
  <dcterms:created xsi:type="dcterms:W3CDTF">2010-04-12T23:12:02Z</dcterms:created>
  <dcterms:modified xsi:type="dcterms:W3CDTF">2026-03-18T16:05:13Z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0x0101000DE64AEEDD9B7A4D93545ACBE97D4615</vt:lpwstr>
  </property>
</Properties>
</file>